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75" r:id="rId3"/>
    <p:sldId id="256" r:id="rId4"/>
    <p:sldId id="257" r:id="rId6"/>
    <p:sldId id="272" r:id="rId7"/>
    <p:sldId id="259" r:id="rId8"/>
    <p:sldId id="260" r:id="rId9"/>
    <p:sldId id="261" r:id="rId10"/>
    <p:sldId id="264" r:id="rId11"/>
    <p:sldId id="273" r:id="rId12"/>
    <p:sldId id="274" r:id="rId13"/>
    <p:sldId id="265" r:id="rId14"/>
    <p:sldId id="266" r:id="rId15"/>
    <p:sldId id="267" r:id="rId16"/>
    <p:sldId id="268" r:id="rId17"/>
    <p:sldId id="269" r:id="rId18"/>
    <p:sldId id="270" r:id="rId19"/>
    <p:sldId id="271" r:id="rId20"/>
    <p:sldId id="276" r:id="rId21"/>
    <p:sldId id="277" r:id="rId22"/>
    <p:sldId id="278" r:id="rId23"/>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E1DD"/>
    <a:srgbClr val="1623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0" y="502920"/>
            <a:ext cx="12161520" cy="274320"/>
          </a:xfrm>
          <a:prstGeom prst="rect">
            <a:avLst/>
          </a:prstGeom>
          <a:noFill/>
        </p:spPr>
        <p:txBody>
          <a:bodyPr wrap="square" lIns="0" tIns="0" rIns="0" bIns="0" rtlCol="0" anchor="ctr"/>
          <a:lstStyle/>
          <a:p>
            <a:pPr marL="0" indent="0" algn="ctr">
              <a:buNone/>
            </a:pPr>
            <a:endParaRPr lang="en-US" sz="1300" dirty="0"/>
          </a:p>
        </p:txBody>
      </p:sp>
      <p:sp>
        <p:nvSpPr>
          <p:cNvPr id="3" name="Text 1"/>
          <p:cNvSpPr/>
          <p:nvPr/>
        </p:nvSpPr>
        <p:spPr>
          <a:xfrm>
            <a:off x="670561" y="745236"/>
            <a:ext cx="10698480" cy="594360"/>
          </a:xfrm>
          <a:prstGeom prst="rect">
            <a:avLst/>
          </a:prstGeom>
          <a:noFill/>
        </p:spPr>
        <p:txBody>
          <a:bodyPr wrap="square" lIns="0" tIns="0" rIns="0" bIns="0" rtlCol="0" anchor="ctr"/>
          <a:lstStyle/>
          <a:p>
            <a:pPr marL="0" indent="0" algn="ctr">
              <a:buNone/>
            </a:pPr>
            <a:r>
              <a:rPr lang="en-US" sz="4000" b="1" dirty="0">
                <a:solidFill>
                  <a:srgbClr val="17365D"/>
                </a:solidFill>
                <a:latin typeface="Cambria" panose="02040503050406030204" pitchFamily="34" charset="0"/>
                <a:ea typeface="Cambria" panose="02040503050406030204" pitchFamily="34" charset="-122"/>
                <a:cs typeface="Cambria" panose="02040503050406030204" pitchFamily="34" charset="-120"/>
              </a:rPr>
              <a:t>Measuring Financial Inclusion Across Indian States:</a:t>
            </a:r>
            <a:endParaRPr lang="en-US" sz="4000" dirty="0"/>
          </a:p>
        </p:txBody>
      </p:sp>
      <p:sp>
        <p:nvSpPr>
          <p:cNvPr id="4" name="Text 2"/>
          <p:cNvSpPr/>
          <p:nvPr/>
        </p:nvSpPr>
        <p:spPr>
          <a:xfrm>
            <a:off x="670560" y="1587810"/>
            <a:ext cx="10698480" cy="502920"/>
          </a:xfrm>
          <a:prstGeom prst="rect">
            <a:avLst/>
          </a:prstGeom>
          <a:noFill/>
        </p:spPr>
        <p:txBody>
          <a:bodyPr wrap="square" lIns="0" tIns="0" rIns="0" bIns="0" rtlCol="0" anchor="ctr"/>
          <a:lstStyle/>
          <a:p>
            <a:pPr marL="0" indent="0" algn="ctr">
              <a:buNone/>
            </a:pPr>
            <a:r>
              <a:rPr lang="en-US" sz="3000" b="1" dirty="0">
                <a:solidFill>
                  <a:srgbClr val="17365D"/>
                </a:solidFill>
                <a:latin typeface="Cambria" panose="02040503050406030204" pitchFamily="34" charset="0"/>
                <a:ea typeface="Cambria" panose="02040503050406030204" pitchFamily="34" charset="-122"/>
                <a:cs typeface="Cambria" panose="02040503050406030204" pitchFamily="34" charset="-120"/>
              </a:rPr>
              <a:t>A </a:t>
            </a:r>
            <a:r>
              <a:rPr lang="en-US" altLang="en-US" sz="3000" b="1" dirty="0">
                <a:solidFill>
                  <a:srgbClr val="17365D"/>
                </a:solidFill>
                <a:latin typeface="Cambria" panose="02040503050406030204" pitchFamily="34" charset="0"/>
                <a:ea typeface="Cambria" panose="02040503050406030204" pitchFamily="34" charset="-122"/>
                <a:cs typeface="Cambria" panose="02040503050406030204" pitchFamily="34" charset="-120"/>
              </a:rPr>
              <a:t>Two-Stage PCA Approach</a:t>
            </a:r>
            <a:endParaRPr lang="en-US" altLang="en-US" sz="3000" b="1" dirty="0">
              <a:solidFill>
                <a:srgbClr val="17365D"/>
              </a:solidFill>
              <a:latin typeface="Cambria" panose="02040503050406030204" pitchFamily="34" charset="0"/>
              <a:ea typeface="Cambria" panose="02040503050406030204" pitchFamily="34" charset="-122"/>
              <a:cs typeface="Cambria" panose="02040503050406030204" pitchFamily="34" charset="-120"/>
            </a:endParaRPr>
          </a:p>
        </p:txBody>
      </p:sp>
      <p:sp>
        <p:nvSpPr>
          <p:cNvPr id="8" name="Text 6"/>
          <p:cNvSpPr/>
          <p:nvPr/>
        </p:nvSpPr>
        <p:spPr>
          <a:xfrm>
            <a:off x="5554980" y="3941064"/>
            <a:ext cx="1051560" cy="365760"/>
          </a:xfrm>
          <a:prstGeom prst="rect">
            <a:avLst/>
          </a:prstGeom>
          <a:noFill/>
        </p:spPr>
        <p:txBody>
          <a:bodyPr wrap="square" lIns="0" tIns="0" rIns="0" bIns="0" rtlCol="0" anchor="ctr"/>
          <a:lstStyle/>
          <a:p>
            <a:pPr marL="0" indent="0" algn="ctr">
              <a:buNone/>
            </a:pPr>
            <a:endParaRPr lang="en-US" sz="2000" dirty="0"/>
          </a:p>
        </p:txBody>
      </p:sp>
      <p:sp>
        <p:nvSpPr>
          <p:cNvPr id="9" name="Text 7"/>
          <p:cNvSpPr/>
          <p:nvPr/>
        </p:nvSpPr>
        <p:spPr>
          <a:xfrm>
            <a:off x="4434840" y="4777740"/>
            <a:ext cx="3291840" cy="219456"/>
          </a:xfrm>
          <a:prstGeom prst="rect">
            <a:avLst/>
          </a:prstGeom>
          <a:noFill/>
        </p:spPr>
        <p:txBody>
          <a:bodyPr wrap="square" lIns="0" tIns="0" rIns="0" bIns="0" rtlCol="0" anchor="ctr"/>
          <a:lstStyle/>
          <a:p>
            <a:pPr marL="0" indent="0" algn="ctr">
              <a:buNone/>
            </a:pPr>
            <a:endParaRPr lang="en-US" sz="950" dirty="0"/>
          </a:p>
        </p:txBody>
      </p:sp>
      <p:grpSp>
        <p:nvGrpSpPr>
          <p:cNvPr id="5" name="Group 4"/>
          <p:cNvGrpSpPr/>
          <p:nvPr/>
        </p:nvGrpSpPr>
        <p:grpSpPr>
          <a:xfrm>
            <a:off x="640080" y="5806440"/>
            <a:ext cx="10881360" cy="895985"/>
            <a:chOff x="1008" y="9144"/>
            <a:chExt cx="17136" cy="1411"/>
          </a:xfrm>
        </p:grpSpPr>
        <p:sp>
          <p:nvSpPr>
            <p:cNvPr id="10" name="Text 8"/>
            <p:cNvSpPr/>
            <p:nvPr/>
          </p:nvSpPr>
          <p:spPr>
            <a:xfrm>
              <a:off x="1065" y="9203"/>
              <a:ext cx="5647" cy="317"/>
            </a:xfrm>
            <a:prstGeom prst="rect">
              <a:avLst/>
            </a:prstGeom>
            <a:noFill/>
          </p:spPr>
          <p:txBody>
            <a:bodyPr wrap="square" lIns="0" tIns="0" rIns="0" bIns="0" rtlCol="0" anchor="ctr"/>
            <a:lstStyle/>
            <a:p>
              <a:pPr marL="0" indent="0">
                <a:buNone/>
              </a:pPr>
              <a:r>
                <a:rPr lang="en-US" sz="1200" b="1" kern="0" spc="100" dirty="0">
                  <a:latin typeface="Calibri" panose="020F0502020204030204" pitchFamily="34" charset="0"/>
                  <a:ea typeface="Calibri" panose="020F0502020204030204" pitchFamily="34" charset="-122"/>
                  <a:cs typeface="Calibri" panose="020F0502020204030204" pitchFamily="34" charset="-120"/>
                </a:rPr>
                <a:t>PRESENTED  BY</a:t>
              </a:r>
              <a:endParaRPr lang="en-US" sz="1200" b="1" kern="0" spc="100" dirty="0">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p:nvPr/>
          </p:nvSpPr>
          <p:spPr>
            <a:xfrm>
              <a:off x="1008" y="9518"/>
              <a:ext cx="5760" cy="461"/>
            </a:xfrm>
            <a:prstGeom prst="rect">
              <a:avLst/>
            </a:prstGeom>
            <a:noFill/>
          </p:spPr>
          <p:txBody>
            <a:bodyPr wrap="square" lIns="0" tIns="0" rIns="0" bIns="0" rtlCol="0" anchor="ctr"/>
            <a:lstStyle/>
            <a:p>
              <a:pPr marL="0" indent="0">
                <a:buNone/>
              </a:pPr>
              <a:r>
                <a:rPr lang="en-US" sz="1600" b="1" dirty="0">
                  <a:solidFill>
                    <a:srgbClr val="17365D"/>
                  </a:solidFill>
                  <a:latin typeface="Cambria" panose="02040503050406030204" pitchFamily="34" charset="0"/>
                  <a:ea typeface="Cambria" panose="02040503050406030204" pitchFamily="34" charset="-122"/>
                  <a:cs typeface="Cambria" panose="02040503050406030204" pitchFamily="34" charset="-120"/>
                </a:rPr>
                <a:t>Anwesha Das</a:t>
              </a:r>
              <a:endParaRPr lang="en-US" sz="1600" b="1" dirty="0">
                <a:solidFill>
                  <a:srgbClr val="17365D"/>
                </a:solidFill>
                <a:latin typeface="Cambria" panose="02040503050406030204" pitchFamily="34" charset="0"/>
                <a:ea typeface="Cambria" panose="02040503050406030204" pitchFamily="34" charset="-122"/>
                <a:cs typeface="Cambria" panose="02040503050406030204" pitchFamily="34" charset="-120"/>
              </a:endParaRPr>
            </a:p>
          </p:txBody>
        </p:sp>
        <p:sp>
          <p:nvSpPr>
            <p:cNvPr id="12" name="Text 10"/>
            <p:cNvSpPr/>
            <p:nvPr/>
          </p:nvSpPr>
          <p:spPr>
            <a:xfrm>
              <a:off x="1008" y="9925"/>
              <a:ext cx="7739" cy="346"/>
            </a:xfrm>
            <a:prstGeom prst="rect">
              <a:avLst/>
            </a:prstGeom>
            <a:noFill/>
          </p:spPr>
          <p:txBody>
            <a:bodyPr wrap="square" lIns="0" tIns="0" rIns="0" bIns="0" rtlCol="0" anchor="ctr"/>
            <a:lstStyle/>
            <a:p>
              <a:pPr marL="0" indent="0">
                <a:buNone/>
              </a:pPr>
              <a:r>
                <a:rPr lang="en-US" sz="1200" dirty="0">
                  <a:latin typeface="Calibri" panose="020F0502020204030204" pitchFamily="34" charset="0"/>
                  <a:ea typeface="Calibri" panose="020F0502020204030204" pitchFamily="34" charset="-122"/>
                  <a:cs typeface="Calibri" panose="020F0502020204030204" pitchFamily="34" charset="-120"/>
                </a:rPr>
                <a:t>Master of Arts in Economics (Specialization in Trade and Finance)</a:t>
              </a:r>
              <a:endParaRPr lang="en-US" sz="1200" dirty="0">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p:nvPr/>
          </p:nvSpPr>
          <p:spPr>
            <a:xfrm>
              <a:off x="1008" y="10166"/>
              <a:ext cx="8090" cy="346"/>
            </a:xfrm>
            <a:prstGeom prst="rect">
              <a:avLst/>
            </a:prstGeom>
            <a:noFill/>
          </p:spPr>
          <p:txBody>
            <a:bodyPr wrap="square" lIns="0" tIns="0" rIns="0" bIns="0" rtlCol="0" anchor="ctr"/>
            <a:lstStyle/>
            <a:p>
              <a:pPr marL="0" indent="0">
                <a:buNone/>
              </a:pPr>
              <a:r>
                <a:rPr lang="en-US" sz="1200" dirty="0">
                  <a:latin typeface="Calibri" panose="020F0502020204030204" pitchFamily="34" charset="0"/>
                  <a:ea typeface="Calibri" panose="020F0502020204030204" pitchFamily="34" charset="-122"/>
                  <a:cs typeface="Calibri" panose="020F0502020204030204" pitchFamily="34" charset="-120"/>
                </a:rPr>
                <a:t>Indian Institute of Foreign Trade (IIFT), Kolkata</a:t>
              </a:r>
              <a:endParaRPr lang="en-US" sz="1200" dirty="0">
                <a:latin typeface="Calibri" panose="020F0502020204030204" pitchFamily="34" charset="0"/>
                <a:ea typeface="Calibri" panose="020F0502020204030204" pitchFamily="34" charset="-122"/>
                <a:cs typeface="Calibri" panose="020F0502020204030204" pitchFamily="34" charset="-120"/>
              </a:endParaRPr>
            </a:p>
          </p:txBody>
        </p:sp>
        <p:sp>
          <p:nvSpPr>
            <p:cNvPr id="14" name="Text 12"/>
            <p:cNvSpPr/>
            <p:nvPr/>
          </p:nvSpPr>
          <p:spPr>
            <a:xfrm>
              <a:off x="12384" y="9144"/>
              <a:ext cx="5760" cy="317"/>
            </a:xfrm>
            <a:prstGeom prst="rect">
              <a:avLst/>
            </a:prstGeom>
            <a:noFill/>
          </p:spPr>
          <p:txBody>
            <a:bodyPr wrap="square" lIns="0" tIns="0" rIns="0" bIns="0" rtlCol="0" anchor="ctr"/>
            <a:lstStyle/>
            <a:p>
              <a:pPr marL="0" indent="0" algn="r">
                <a:buNone/>
              </a:pPr>
              <a:r>
                <a:rPr lang="en-US" sz="1200" b="1" kern="0" spc="100" dirty="0">
                  <a:latin typeface="Calibri" panose="020F0502020204030204" pitchFamily="34" charset="0"/>
                  <a:ea typeface="Calibri" panose="020F0502020204030204" pitchFamily="34" charset="-122"/>
                  <a:cs typeface="Calibri" panose="020F0502020204030204" pitchFamily="34" charset="-120"/>
                </a:rPr>
                <a:t>SUPERVISOR</a:t>
              </a:r>
              <a:endParaRPr lang="en-US" sz="1200" b="1" kern="0" spc="100" dirty="0">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12384" y="9518"/>
              <a:ext cx="5760" cy="461"/>
            </a:xfrm>
            <a:prstGeom prst="rect">
              <a:avLst/>
            </a:prstGeom>
            <a:noFill/>
          </p:spPr>
          <p:txBody>
            <a:bodyPr wrap="square" lIns="0" tIns="0" rIns="0" bIns="0" rtlCol="0" anchor="ctr"/>
            <a:lstStyle/>
            <a:p>
              <a:pPr marL="0" indent="0" algn="r">
                <a:buNone/>
              </a:pPr>
              <a:r>
                <a:rPr lang="en-US" sz="1600" b="1" dirty="0">
                  <a:solidFill>
                    <a:srgbClr val="17365D"/>
                  </a:solidFill>
                  <a:latin typeface="Cambria" panose="02040503050406030204" pitchFamily="34" charset="0"/>
                  <a:ea typeface="Cambria" panose="02040503050406030204" pitchFamily="34" charset="-122"/>
                  <a:cs typeface="Cambria" panose="02040503050406030204" pitchFamily="34" charset="-120"/>
                </a:rPr>
                <a:t>Dr. </a:t>
              </a:r>
              <a:r>
                <a:rPr lang="en-US" altLang="en-US" sz="1600" b="1" dirty="0">
                  <a:solidFill>
                    <a:srgbClr val="17365D"/>
                  </a:solidFill>
                  <a:latin typeface="Cambria" panose="02040503050406030204" pitchFamily="34" charset="0"/>
                  <a:ea typeface="Cambria" panose="02040503050406030204" pitchFamily="34" charset="-122"/>
                  <a:cs typeface="Cambria" panose="02040503050406030204" pitchFamily="34" charset="-120"/>
                </a:rPr>
                <a:t>Avijit Joarder</a:t>
              </a:r>
              <a:endParaRPr lang="en-US" altLang="en-US" sz="1600" b="1" dirty="0">
                <a:solidFill>
                  <a:srgbClr val="17365D"/>
                </a:solidFill>
                <a:latin typeface="Cambria" panose="02040503050406030204" pitchFamily="34" charset="0"/>
                <a:ea typeface="Cambria" panose="02040503050406030204" pitchFamily="34" charset="-122"/>
                <a:cs typeface="Cambria" panose="02040503050406030204" pitchFamily="34" charset="-120"/>
              </a:endParaRPr>
            </a:p>
          </p:txBody>
        </p:sp>
        <p:sp>
          <p:nvSpPr>
            <p:cNvPr id="16" name="Text 14"/>
            <p:cNvSpPr/>
            <p:nvPr/>
          </p:nvSpPr>
          <p:spPr>
            <a:xfrm>
              <a:off x="9153" y="10008"/>
              <a:ext cx="8991" cy="547"/>
            </a:xfrm>
            <a:prstGeom prst="rect">
              <a:avLst/>
            </a:prstGeom>
            <a:noFill/>
          </p:spPr>
          <p:txBody>
            <a:bodyPr wrap="square" lIns="0" tIns="0" rIns="0" bIns="0" rtlCol="0" anchor="t"/>
            <a:lstStyle/>
            <a:p>
              <a:pPr marL="0" indent="0" algn="r">
                <a:lnSpc>
                  <a:spcPct val="105000"/>
                </a:lnSpc>
                <a:buNone/>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Director, </a:t>
              </a: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sym typeface="+mn-ea"/>
                </a:rPr>
                <a:t> Department of Statistics and Information Management</a:t>
              </a: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 (DSIM)</a:t>
              </a:r>
              <a:endPar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17" name="Text 15"/>
          <p:cNvSpPr/>
          <p:nvPr/>
        </p:nvSpPr>
        <p:spPr>
          <a:xfrm>
            <a:off x="5702300" y="6483350"/>
            <a:ext cx="5819140" cy="219710"/>
          </a:xfrm>
          <a:prstGeom prst="rect">
            <a:avLst/>
          </a:prstGeom>
          <a:noFill/>
        </p:spPr>
        <p:txBody>
          <a:bodyPr wrap="square" lIns="0" tIns="0" rIns="0" bIns="0" rtlCol="0" anchor="ctr"/>
          <a:lstStyle/>
          <a:p>
            <a:pPr marL="0" indent="0" algn="r">
              <a:buNone/>
            </a:pPr>
            <a:r>
              <a:rPr lang="en-US" sz="1050" dirty="0">
                <a:solidFill>
                  <a:srgbClr val="666666"/>
                </a:solidFill>
                <a:latin typeface="Calibri" panose="020F0502020204030204" pitchFamily="34" charset="0"/>
                <a:ea typeface="Calibri" panose="020F0502020204030204" pitchFamily="34" charset="-122"/>
                <a:cs typeface="Calibri" panose="020F0502020204030204" pitchFamily="34" charset="-120"/>
              </a:rPr>
              <a:t>Reserve Bank of India</a:t>
            </a:r>
            <a:endParaRPr lang="en-US" sz="1050" dirty="0"/>
          </a:p>
        </p:txBody>
      </p:sp>
      <p:sp>
        <p:nvSpPr>
          <p:cNvPr id="18" name="Text 16"/>
          <p:cNvSpPr/>
          <p:nvPr/>
        </p:nvSpPr>
        <p:spPr>
          <a:xfrm>
            <a:off x="3794760" y="6373368"/>
            <a:ext cx="4572000" cy="457200"/>
          </a:xfrm>
          <a:prstGeom prst="rect">
            <a:avLst/>
          </a:prstGeom>
          <a:noFill/>
        </p:spPr>
        <p:txBody>
          <a:bodyPr wrap="square" lIns="0" tIns="0" rIns="0" bIns="0" rtlCol="0" anchor="ctr"/>
          <a:lstStyle/>
          <a:p>
            <a:pPr marL="0" indent="0" algn="ctr">
              <a:lnSpc>
                <a:spcPct val="125000"/>
              </a:lnSpc>
              <a:buNone/>
            </a:pPr>
            <a:endParaRPr lang="en-US" sz="950" dirty="0"/>
          </a:p>
        </p:txBody>
      </p:sp>
      <p:pic>
        <p:nvPicPr>
          <p:cNvPr id="20" name="Picture 19"/>
          <p:cNvPicPr>
            <a:picLocks noChangeAspect="1"/>
          </p:cNvPicPr>
          <p:nvPr/>
        </p:nvPicPr>
        <p:blipFill>
          <a:blip r:embed="rId1"/>
          <a:stretch>
            <a:fillRect/>
          </a:stretch>
        </p:blipFill>
        <p:spPr>
          <a:xfrm>
            <a:off x="4734560" y="2500630"/>
            <a:ext cx="2693035" cy="26930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4617720" cy="292608"/>
          </a:xfrm>
          <a:prstGeom prst="rect">
            <a:avLst/>
          </a:prstGeom>
          <a:noFill/>
        </p:spPr>
        <p:txBody>
          <a:bodyPr wrap="square" lIns="0" tIns="0" rIns="0" bIns="0" rtlCol="0" anchor="ctr"/>
          <a:lstStyle/>
          <a:p>
            <a:pPr marL="0" indent="0">
              <a:buNone/>
            </a:pPr>
            <a:r>
              <a:rPr lang="en-US" sz="115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02  ·  INTRODUCTION</a:t>
            </a:r>
            <a:endParaRPr lang="en-US" sz="1150" dirty="0"/>
          </a:p>
        </p:txBody>
      </p:sp>
      <p:sp>
        <p:nvSpPr>
          <p:cNvPr id="3" name="Shape 1"/>
          <p:cNvSpPr/>
          <p:nvPr/>
        </p:nvSpPr>
        <p:spPr>
          <a:xfrm>
            <a:off x="548640" y="914400"/>
            <a:ext cx="502920" cy="0"/>
          </a:xfrm>
          <a:prstGeom prst="line">
            <a:avLst/>
          </a:prstGeom>
          <a:noFill/>
          <a:ln w="28575">
            <a:solidFill>
              <a:srgbClr val="16233F"/>
            </a:solidFill>
            <a:prstDash val="solid"/>
          </a:ln>
        </p:spPr>
      </p:sp>
      <p:sp>
        <p:nvSpPr>
          <p:cNvPr id="4" name="Text 2"/>
          <p:cNvSpPr/>
          <p:nvPr/>
        </p:nvSpPr>
        <p:spPr>
          <a:xfrm>
            <a:off x="548640" y="1234440"/>
            <a:ext cx="4617720" cy="2606040"/>
          </a:xfrm>
          <a:prstGeom prst="rect">
            <a:avLst/>
          </a:prstGeom>
          <a:noFill/>
        </p:spPr>
        <p:txBody>
          <a:bodyPr wrap="square" lIns="0" tIns="0" rIns="0" bIns="0" rtlCol="0" anchor="ctr"/>
          <a:lstStyle/>
          <a:p>
            <a:pPr marL="0" indent="0">
              <a:lnSpc>
                <a:spcPct val="106000"/>
              </a:lnSpc>
              <a:buNone/>
            </a:pPr>
            <a:r>
              <a:rPr lang="en-US" sz="3800" b="1" dirty="0">
                <a:solidFill>
                  <a:srgbClr val="16233F"/>
                </a:solidFill>
                <a:latin typeface="Cambria" panose="02040503050406030204" pitchFamily="34" charset="0"/>
                <a:ea typeface="Cambria" panose="02040503050406030204" pitchFamily="34" charset="-122"/>
                <a:cs typeface="Cambria" panose="02040503050406030204" pitchFamily="34" charset="-120"/>
              </a:rPr>
              <a:t>The National Average Conceals the State-Level Reality</a:t>
            </a:r>
            <a:endParaRPr lang="en-US" sz="3800" dirty="0"/>
          </a:p>
        </p:txBody>
      </p:sp>
      <p:sp>
        <p:nvSpPr>
          <p:cNvPr id="5" name="Text 3"/>
          <p:cNvSpPr/>
          <p:nvPr/>
        </p:nvSpPr>
        <p:spPr>
          <a:xfrm>
            <a:off x="548640" y="3977640"/>
            <a:ext cx="4480560" cy="1417320"/>
          </a:xfrm>
          <a:prstGeom prst="rect">
            <a:avLst/>
          </a:prstGeom>
          <a:noFill/>
        </p:spPr>
        <p:txBody>
          <a:bodyPr wrap="square" lIns="0" tIns="0" rIns="0" bIns="0" rtlCol="0" anchor="ctr"/>
          <a:lstStyle/>
          <a:p>
            <a:pPr marL="0" indent="0">
              <a:lnSpc>
                <a:spcPct val="135000"/>
              </a:lnSpc>
              <a:buNone/>
            </a:pPr>
            <a:r>
              <a:rPr lang="en-US" sz="1500" dirty="0">
                <a:solidFill>
                  <a:srgbClr val="5B6472"/>
                </a:solidFill>
                <a:latin typeface="Calibri" panose="020F0502020204030204" pitchFamily="34" charset="0"/>
                <a:ea typeface="Calibri" panose="020F0502020204030204" pitchFamily="34" charset="-122"/>
                <a:cs typeface="Calibri" panose="020F0502020204030204" pitchFamily="34" charset="-120"/>
              </a:rPr>
              <a:t>India's national progress in financial inclusion masks sharp and persistent disparities across states , </a:t>
            </a:r>
            <a:endParaRPr lang="en-US" sz="15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35000"/>
              </a:lnSpc>
              <a:buNone/>
            </a:pPr>
            <a:r>
              <a:rPr lang="en-US" sz="1500" dirty="0">
                <a:solidFill>
                  <a:srgbClr val="5B6472"/>
                </a:solidFill>
                <a:latin typeface="Calibri" panose="020F0502020204030204" pitchFamily="34" charset="0"/>
                <a:ea typeface="Calibri" panose="020F0502020204030204" pitchFamily="34" charset="-122"/>
                <a:cs typeface="Calibri" panose="020F0502020204030204" pitchFamily="34" charset="-120"/>
              </a:rPr>
              <a:t>differences that a single national index cannot reveal.</a:t>
            </a:r>
            <a:endParaRPr lang="en-US" sz="1500" dirty="0"/>
          </a:p>
        </p:txBody>
      </p:sp>
      <p:sp>
        <p:nvSpPr>
          <p:cNvPr id="6" name="Text 4"/>
          <p:cNvSpPr/>
          <p:nvPr/>
        </p:nvSpPr>
        <p:spPr>
          <a:xfrm>
            <a:off x="548640" y="6291072"/>
            <a:ext cx="4617720" cy="274320"/>
          </a:xfrm>
          <a:prstGeom prst="rect">
            <a:avLst/>
          </a:prstGeom>
          <a:noFill/>
        </p:spPr>
        <p:txBody>
          <a:bodyPr wrap="square" lIns="0" tIns="0" rIns="0" bIns="0" rtlCol="0" anchor="ctr"/>
          <a:lstStyle/>
          <a:p>
            <a:pPr marL="0" indent="0">
              <a:buNone/>
            </a:pPr>
            <a:r>
              <a:rPr lang="en-US" sz="95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950" dirty="0"/>
          </a:p>
        </p:txBody>
      </p:sp>
      <p:sp>
        <p:nvSpPr>
          <p:cNvPr id="7" name="Shape 5"/>
          <p:cNvSpPr/>
          <p:nvPr/>
        </p:nvSpPr>
        <p:spPr>
          <a:xfrm>
            <a:off x="5532120" y="502920"/>
            <a:ext cx="6110935" cy="1207008"/>
          </a:xfrm>
          <a:prstGeom prst="roundRect">
            <a:avLst>
              <a:gd name="adj" fmla="val 6818"/>
            </a:avLst>
          </a:prstGeom>
          <a:solidFill>
            <a:srgbClr val="F4F4F2"/>
          </a:solidFill>
          <a:ln w="12700">
            <a:solidFill>
              <a:srgbClr val="E1E1DD"/>
            </a:solidFill>
            <a:prstDash val="solid"/>
          </a:ln>
        </p:spPr>
      </p:sp>
      <p:sp>
        <p:nvSpPr>
          <p:cNvPr id="8" name="Text 6"/>
          <p:cNvSpPr/>
          <p:nvPr/>
        </p:nvSpPr>
        <p:spPr>
          <a:xfrm>
            <a:off x="5824093" y="562102"/>
            <a:ext cx="5562295" cy="274320"/>
          </a:xfrm>
          <a:prstGeom prst="rect">
            <a:avLst/>
          </a:prstGeom>
          <a:noFill/>
        </p:spPr>
        <p:txBody>
          <a:bodyPr wrap="square" lIns="0" tIns="0" rIns="0" bIns="0" rtlCol="0" anchor="ctr"/>
          <a:lstStyle/>
          <a:p>
            <a:pPr marL="0" indent="0">
              <a:buNone/>
            </a:pPr>
            <a:r>
              <a:rPr lang="en-US" sz="1400" b="1" kern="0" spc="150" dirty="0">
                <a:solidFill>
                  <a:srgbClr val="16233F"/>
                </a:solidFill>
                <a:latin typeface="Calibri" panose="020F0502020204030204" pitchFamily="34" charset="0"/>
                <a:ea typeface="Calibri" panose="020F0502020204030204" pitchFamily="34" charset="-122"/>
                <a:cs typeface="Calibri" panose="020F0502020204030204" pitchFamily="34" charset="-120"/>
              </a:rPr>
              <a:t>BACKGROUND</a:t>
            </a:r>
            <a:endParaRPr lang="en-US" sz="1400" b="1" kern="0" spc="150"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Text 7"/>
          <p:cNvSpPr/>
          <p:nvPr/>
        </p:nvSpPr>
        <p:spPr>
          <a:xfrm>
            <a:off x="5824728" y="941832"/>
            <a:ext cx="5562295" cy="694944"/>
          </a:xfrm>
          <a:prstGeom prst="rect">
            <a:avLst/>
          </a:prstGeom>
          <a:noFill/>
        </p:spPr>
        <p:txBody>
          <a:bodyPr wrap="square" lIns="0" tIns="0" rIns="0" bIns="0" rtlCol="0" anchor="ctr"/>
          <a:lstStyle/>
          <a:p>
            <a:pPr marL="177800" indent="-177800">
              <a:lnSpc>
                <a:spcPct val="80000"/>
              </a:lnSpc>
              <a:buSzPct val="100000"/>
              <a:buChar char="•"/>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Financial inclusion underpins inclusive growth  enabling savings, credit access and risk management.
</a:t>
            </a:r>
            <a:endParaRPr lang="en-US" sz="1400" dirty="0"/>
          </a:p>
          <a:p>
            <a:pPr marL="177800" indent="-177800">
              <a:lnSpc>
                <a:spcPct val="80000"/>
              </a:lnSpc>
              <a:buSzPct val="100000"/>
              <a:buChar char="•"/>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RBI publishes its official Financial Inclusion Index only at the national level.</a:t>
            </a:r>
            <a:endPar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5532120" y="1892808"/>
            <a:ext cx="6110935" cy="2331720"/>
          </a:xfrm>
          <a:prstGeom prst="roundRect">
            <a:avLst>
              <a:gd name="adj" fmla="val 3529"/>
            </a:avLst>
          </a:prstGeom>
          <a:solidFill>
            <a:srgbClr val="16233F"/>
          </a:solidFill>
          <a:effectLst>
            <a:outerShdw blurRad="177800" dist="38100" dir="5400000" algn="bl" rotWithShape="0">
              <a:srgbClr val="0A1220">
                <a:alpha val="28000"/>
              </a:srgbClr>
            </a:outerShdw>
          </a:effectLst>
        </p:spPr>
      </p:sp>
      <p:sp>
        <p:nvSpPr>
          <p:cNvPr id="11" name="Text 9"/>
          <p:cNvSpPr/>
          <p:nvPr/>
        </p:nvSpPr>
        <p:spPr>
          <a:xfrm>
            <a:off x="5843016" y="2075688"/>
            <a:ext cx="5516575" cy="292608"/>
          </a:xfrm>
          <a:prstGeom prst="rect">
            <a:avLst/>
          </a:prstGeom>
          <a:noFill/>
        </p:spPr>
        <p:txBody>
          <a:bodyPr wrap="square" lIns="0" tIns="0" rIns="0" bIns="0" rtlCol="0" anchor="ctr"/>
          <a:lstStyle/>
          <a:p>
            <a:pPr marL="0" indent="0">
              <a:buNone/>
            </a:pPr>
            <a:r>
              <a:rPr lang="en-US" sz="1400" b="1" kern="0" spc="150" dirty="0">
                <a:solidFill>
                  <a:srgbClr val="FFFFFF"/>
                </a:solidFill>
                <a:latin typeface="Calibri" panose="020F0502020204030204" pitchFamily="34" charset="0"/>
                <a:ea typeface="Calibri" panose="020F0502020204030204" pitchFamily="34" charset="-122"/>
                <a:cs typeface="Calibri" panose="020F0502020204030204" pitchFamily="34" charset="-120"/>
              </a:rPr>
              <a:t>MOTIVATION  &amp;  RESEARCH GAP</a:t>
            </a:r>
            <a:endParaRPr lang="en-US" sz="1400" b="1" kern="0" spc="15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5843016" y="2404872"/>
            <a:ext cx="457200" cy="0"/>
          </a:xfrm>
          <a:prstGeom prst="line">
            <a:avLst/>
          </a:prstGeom>
          <a:noFill/>
          <a:ln w="15875">
            <a:solidFill>
              <a:srgbClr val="AEB9CE"/>
            </a:solidFill>
            <a:prstDash val="solid"/>
          </a:ln>
        </p:spPr>
      </p:sp>
      <p:sp>
        <p:nvSpPr>
          <p:cNvPr id="13" name="Text 11"/>
          <p:cNvSpPr/>
          <p:nvPr/>
        </p:nvSpPr>
        <p:spPr>
          <a:xfrm>
            <a:off x="5843270" y="2413635"/>
            <a:ext cx="5810250" cy="1749425"/>
          </a:xfrm>
          <a:prstGeom prst="rect">
            <a:avLst/>
          </a:prstGeom>
          <a:noFill/>
        </p:spPr>
        <p:txBody>
          <a:bodyPr wrap="square" lIns="0" tIns="0" rIns="0" bIns="0" rtlCol="0" anchor="ctr"/>
          <a:lstStyle/>
          <a:p>
            <a:pPr marL="177800" indent="-177800">
              <a:lnSpc>
                <a:spcPct val="118000"/>
              </a:lnSpc>
              <a:buSzPct val="100000"/>
              <a:buChar char="•"/>
            </a:pPr>
            <a:r>
              <a:rPr lang="en-US" altLang="en-US" sz="1200" dirty="0">
                <a:solidFill>
                  <a:schemeClr val="bg1"/>
                </a:solidFill>
              </a:rPr>
              <a:t>Financial exclusion deepens income inequality and pushes households toward costly informal finance (Honohan, 2008; Sarma &amp; Pais, 2011). No single indicator captures financial inclusion, and national averages hide sharp interstate gaps.</a:t>
            </a:r>
            <a:endParaRPr lang="en-US" altLang="en-US" sz="1200" dirty="0">
              <a:solidFill>
                <a:schemeClr val="bg1"/>
              </a:solidFill>
            </a:endParaRPr>
          </a:p>
          <a:p>
            <a:pPr marL="177800" indent="-177800">
              <a:lnSpc>
                <a:spcPct val="118000"/>
              </a:lnSpc>
              <a:buSzPct val="100000"/>
              <a:buChar char="•"/>
            </a:pPr>
            <a:endParaRPr lang="en-US" altLang="en-US" sz="1200" dirty="0">
              <a:solidFill>
                <a:schemeClr val="bg1"/>
              </a:solidFill>
            </a:endParaRPr>
          </a:p>
          <a:p>
            <a:pPr marL="177800" indent="-177800">
              <a:lnSpc>
                <a:spcPct val="118000"/>
              </a:lnSpc>
              <a:buSzPct val="100000"/>
              <a:buChar char="•"/>
            </a:pPr>
            <a:r>
              <a:rPr lang="en-US" altLang="en-US" sz="1200" dirty="0">
                <a:solidFill>
                  <a:schemeClr val="bg1"/>
                </a:solidFill>
              </a:rPr>
              <a:t>Existing studies rarely test more than one methodology on the same data. </a:t>
            </a:r>
            <a:endParaRPr lang="en-US" altLang="en-US" sz="1200" dirty="0">
              <a:solidFill>
                <a:schemeClr val="bg1"/>
              </a:solidFill>
            </a:endParaRPr>
          </a:p>
          <a:p>
            <a:pPr indent="0">
              <a:lnSpc>
                <a:spcPct val="118000"/>
              </a:lnSpc>
              <a:buSzPct val="100000"/>
              <a:buNone/>
            </a:pPr>
            <a:endParaRPr lang="en-US" altLang="en-US" sz="1200" dirty="0">
              <a:solidFill>
                <a:schemeClr val="bg1"/>
              </a:solidFill>
            </a:endParaRPr>
          </a:p>
          <a:p>
            <a:pPr marL="177800" indent="-177800">
              <a:lnSpc>
                <a:spcPct val="118000"/>
              </a:lnSpc>
              <a:buSzPct val="100000"/>
              <a:buChar char="•"/>
            </a:pPr>
            <a:r>
              <a:rPr lang="en-US" altLang="en-US" sz="1200" dirty="0">
                <a:solidFill>
                  <a:schemeClr val="bg1"/>
                </a:solidFill>
              </a:rPr>
              <a:t>Two-stage PCA remains largely untested at the state level in India. Few Indian indices are validated against the RBI's own Financial Inclusion Index.</a:t>
            </a:r>
            <a:endParaRPr lang="en-US" altLang="en-US" sz="1200" dirty="0">
              <a:solidFill>
                <a:schemeClr val="bg1"/>
              </a:solidFill>
            </a:endParaRPr>
          </a:p>
        </p:txBody>
      </p:sp>
      <p:sp>
        <p:nvSpPr>
          <p:cNvPr id="14" name="Shape 12"/>
          <p:cNvSpPr/>
          <p:nvPr/>
        </p:nvSpPr>
        <p:spPr>
          <a:xfrm>
            <a:off x="5532120" y="4407408"/>
            <a:ext cx="6110935" cy="1874520"/>
          </a:xfrm>
          <a:prstGeom prst="roundRect">
            <a:avLst>
              <a:gd name="adj" fmla="val 4390"/>
            </a:avLst>
          </a:prstGeom>
          <a:solidFill>
            <a:srgbClr val="F4F4F2"/>
          </a:solidFill>
          <a:ln w="12700">
            <a:solidFill>
              <a:srgbClr val="E1E1DD"/>
            </a:solidFill>
            <a:prstDash val="solid"/>
          </a:ln>
        </p:spPr>
      </p:sp>
      <p:sp>
        <p:nvSpPr>
          <p:cNvPr id="15" name="Text 13"/>
          <p:cNvSpPr/>
          <p:nvPr/>
        </p:nvSpPr>
        <p:spPr>
          <a:xfrm>
            <a:off x="5824728" y="4553712"/>
            <a:ext cx="5562295" cy="274320"/>
          </a:xfrm>
          <a:prstGeom prst="rect">
            <a:avLst/>
          </a:prstGeom>
          <a:noFill/>
        </p:spPr>
        <p:txBody>
          <a:bodyPr wrap="square" lIns="0" tIns="0" rIns="0" bIns="0" rtlCol="0" anchor="ctr"/>
          <a:lstStyle/>
          <a:p>
            <a:pPr marL="0" indent="0">
              <a:buNone/>
            </a:pPr>
            <a:r>
              <a:rPr lang="en-US" sz="1400" b="1" kern="0" spc="150" dirty="0">
                <a:solidFill>
                  <a:srgbClr val="16233F"/>
                </a:solidFill>
                <a:latin typeface="Calibri" panose="020F0502020204030204" pitchFamily="34" charset="0"/>
                <a:ea typeface="Calibri" panose="020F0502020204030204" pitchFamily="34" charset="-122"/>
                <a:cs typeface="Calibri" panose="020F0502020204030204" pitchFamily="34" charset="-120"/>
              </a:rPr>
              <a:t>OBJECTIVES</a:t>
            </a:r>
            <a:endParaRPr lang="en-US" sz="1400" b="1" kern="0" spc="150"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24" name="Group 23"/>
          <p:cNvGrpSpPr/>
          <p:nvPr/>
        </p:nvGrpSpPr>
        <p:grpSpPr>
          <a:xfrm>
            <a:off x="5824855" y="4864735"/>
            <a:ext cx="5535295" cy="1371600"/>
            <a:chOff x="9173" y="7661"/>
            <a:chExt cx="8717" cy="2160"/>
          </a:xfrm>
        </p:grpSpPr>
        <p:sp>
          <p:nvSpPr>
            <p:cNvPr id="16" name="Text 14"/>
            <p:cNvSpPr/>
            <p:nvPr/>
          </p:nvSpPr>
          <p:spPr>
            <a:xfrm>
              <a:off x="9173" y="7661"/>
              <a:ext cx="576" cy="540"/>
            </a:xfrm>
            <a:prstGeom prst="rect">
              <a:avLst/>
            </a:prstGeom>
            <a:noFill/>
          </p:spPr>
          <p:txBody>
            <a:bodyPr wrap="square" lIns="0" tIns="0" rIns="0" bIns="0" rtlCol="0" anchor="t"/>
            <a:lstStyle/>
            <a:p>
              <a:pPr marL="0" indent="0">
                <a:buNone/>
              </a:pPr>
              <a:r>
                <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rPr>
                <a:t>①</a:t>
              </a:r>
              <a:endPar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p:nvPr/>
          </p:nvSpPr>
          <p:spPr>
            <a:xfrm>
              <a:off x="9778" y="7661"/>
              <a:ext cx="8112" cy="540"/>
            </a:xfrm>
            <a:prstGeom prst="rect">
              <a:avLst/>
            </a:prstGeom>
            <a:noFill/>
          </p:spPr>
          <p:txBody>
            <a:bodyPr wrap="square" lIns="0" tIns="0" rIns="0" bIns="0" rtlCol="0" anchor="t"/>
            <a:lstStyle/>
            <a:p>
              <a:pPr marL="0" indent="0">
                <a:lnSpc>
                  <a:spcPct val="108000"/>
                </a:lnSpc>
                <a:buNone/>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Construct &amp; validate a two-stage PCA-based FII; extend to 28 states</a:t>
              </a:r>
              <a:endPar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p:nvPr/>
          </p:nvSpPr>
          <p:spPr>
            <a:xfrm>
              <a:off x="9173" y="8201"/>
              <a:ext cx="576" cy="540"/>
            </a:xfrm>
            <a:prstGeom prst="rect">
              <a:avLst/>
            </a:prstGeom>
            <a:noFill/>
          </p:spPr>
          <p:txBody>
            <a:bodyPr wrap="square" lIns="0" tIns="0" rIns="0" bIns="0" rtlCol="0" anchor="t"/>
            <a:lstStyle/>
            <a:p>
              <a:pPr marL="0" indent="0">
                <a:buNone/>
              </a:pPr>
              <a:r>
                <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rPr>
                <a:t>②</a:t>
              </a:r>
              <a:endPar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p:nvPr/>
          </p:nvSpPr>
          <p:spPr>
            <a:xfrm>
              <a:off x="9778" y="8201"/>
              <a:ext cx="8112" cy="540"/>
            </a:xfrm>
            <a:prstGeom prst="rect">
              <a:avLst/>
            </a:prstGeom>
            <a:noFill/>
          </p:spPr>
          <p:txBody>
            <a:bodyPr wrap="square" lIns="0" tIns="0" rIns="0" bIns="0" rtlCol="0" anchor="t"/>
            <a:lstStyle/>
            <a:p>
              <a:pPr marL="0" indent="0">
                <a:lnSpc>
                  <a:spcPct val="108000"/>
                </a:lnSpc>
                <a:buNone/>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Construct state-level FIIs using Sarma's distance-based methodology</a:t>
              </a:r>
              <a:endPar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Text 18"/>
            <p:cNvSpPr/>
            <p:nvPr/>
          </p:nvSpPr>
          <p:spPr>
            <a:xfrm>
              <a:off x="9173" y="8741"/>
              <a:ext cx="576" cy="540"/>
            </a:xfrm>
            <a:prstGeom prst="rect">
              <a:avLst/>
            </a:prstGeom>
            <a:noFill/>
          </p:spPr>
          <p:txBody>
            <a:bodyPr wrap="square" lIns="0" tIns="0" rIns="0" bIns="0" rtlCol="0" anchor="t"/>
            <a:lstStyle/>
            <a:p>
              <a:pPr marL="0" indent="0">
                <a:buNone/>
              </a:pPr>
              <a:r>
                <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rPr>
                <a:t>③</a:t>
              </a:r>
              <a:endPar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Text 19"/>
            <p:cNvSpPr/>
            <p:nvPr/>
          </p:nvSpPr>
          <p:spPr>
            <a:xfrm>
              <a:off x="9778" y="8741"/>
              <a:ext cx="8112" cy="540"/>
            </a:xfrm>
            <a:prstGeom prst="rect">
              <a:avLst/>
            </a:prstGeom>
            <a:noFill/>
          </p:spPr>
          <p:txBody>
            <a:bodyPr wrap="square" lIns="0" tIns="0" rIns="0" bIns="0" rtlCol="0" anchor="t"/>
            <a:lstStyle/>
            <a:p>
              <a:pPr marL="0" indent="0">
                <a:lnSpc>
                  <a:spcPct val="108000"/>
                </a:lnSpc>
                <a:buNone/>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Compare both methodologies for consistency and robustness</a:t>
              </a:r>
              <a:endPar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20"/>
            <p:cNvSpPr/>
            <p:nvPr/>
          </p:nvSpPr>
          <p:spPr>
            <a:xfrm>
              <a:off x="9173" y="9281"/>
              <a:ext cx="576" cy="540"/>
            </a:xfrm>
            <a:prstGeom prst="rect">
              <a:avLst/>
            </a:prstGeom>
            <a:noFill/>
          </p:spPr>
          <p:txBody>
            <a:bodyPr wrap="square" lIns="0" tIns="0" rIns="0" bIns="0" rtlCol="0" anchor="t"/>
            <a:lstStyle/>
            <a:p>
              <a:pPr marL="0" indent="0">
                <a:buNone/>
              </a:pPr>
              <a:r>
                <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rPr>
                <a:t>④</a:t>
              </a:r>
              <a:endPar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p:nvPr/>
          </p:nvSpPr>
          <p:spPr>
            <a:xfrm>
              <a:off x="9778" y="9281"/>
              <a:ext cx="8112" cy="540"/>
            </a:xfrm>
            <a:prstGeom prst="rect">
              <a:avLst/>
            </a:prstGeom>
            <a:noFill/>
          </p:spPr>
          <p:txBody>
            <a:bodyPr wrap="square" lIns="0" tIns="0" rIns="0" bIns="0" rtlCol="0" anchor="t"/>
            <a:lstStyle/>
            <a:p>
              <a:pPr marL="0" indent="0">
                <a:lnSpc>
                  <a:spcPct val="108000"/>
                </a:lnSpc>
                <a:buNone/>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Analyse spatial and temporal patterns of interstate disparity</a:t>
              </a:r>
              <a:endPar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8" name="Group 37"/>
          <p:cNvGrpSpPr/>
          <p:nvPr/>
        </p:nvGrpSpPr>
        <p:grpSpPr>
          <a:xfrm>
            <a:off x="548640" y="384175"/>
            <a:ext cx="7315200" cy="401955"/>
            <a:chOff x="864" y="605"/>
            <a:chExt cx="11520" cy="633"/>
          </a:xfrm>
        </p:grpSpPr>
        <p:sp>
          <p:nvSpPr>
            <p:cNvPr id="2" name="Text 0"/>
            <p:cNvSpPr/>
            <p:nvPr/>
          </p:nvSpPr>
          <p:spPr>
            <a:xfrm>
              <a:off x="864" y="605"/>
              <a:ext cx="11520" cy="461"/>
            </a:xfrm>
            <a:prstGeom prst="rect">
              <a:avLst/>
            </a:prstGeom>
            <a:noFill/>
          </p:spPr>
          <p:txBody>
            <a:bodyPr wrap="square" lIns="0" tIns="0" rIns="0" bIns="0" rtlCol="0" anchor="ctr"/>
            <a:lstStyle/>
            <a:p>
              <a:pPr marL="0" indent="0">
                <a:buNone/>
              </a:pPr>
              <a:r>
                <a:rPr lang="en-US" sz="115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03  ·  DATA &amp; METHODOLOGY</a:t>
              </a:r>
              <a:endParaRPr lang="en-US" sz="1150" dirty="0"/>
            </a:p>
          </p:txBody>
        </p:sp>
        <p:sp>
          <p:nvSpPr>
            <p:cNvPr id="3" name="Shape 1"/>
            <p:cNvSpPr/>
            <p:nvPr/>
          </p:nvSpPr>
          <p:spPr>
            <a:xfrm>
              <a:off x="864" y="1238"/>
              <a:ext cx="792" cy="0"/>
            </a:xfrm>
            <a:prstGeom prst="line">
              <a:avLst/>
            </a:prstGeom>
            <a:noFill/>
            <a:ln w="28575">
              <a:solidFill>
                <a:srgbClr val="16233F"/>
              </a:solidFill>
              <a:prstDash val="solid"/>
            </a:ln>
          </p:spPr>
        </p:sp>
      </p:grpSp>
      <p:sp>
        <p:nvSpPr>
          <p:cNvPr id="4" name="Text 2"/>
          <p:cNvSpPr/>
          <p:nvPr/>
        </p:nvSpPr>
        <p:spPr>
          <a:xfrm>
            <a:off x="548640" y="914400"/>
            <a:ext cx="11094415" cy="548640"/>
          </a:xfrm>
          <a:prstGeom prst="rect">
            <a:avLst/>
          </a:prstGeom>
          <a:noFill/>
        </p:spPr>
        <p:txBody>
          <a:bodyPr wrap="square" lIns="0" tIns="0" rIns="0" bIns="0" rtlCol="0" anchor="ctr"/>
          <a:lstStyle/>
          <a:p>
            <a:pPr marL="0" indent="0">
              <a:lnSpc>
                <a:spcPct val="105000"/>
              </a:lnSpc>
              <a:buNone/>
            </a:pPr>
            <a:r>
              <a:rPr lang="en-US" sz="2700" b="1" dirty="0">
                <a:solidFill>
                  <a:srgbClr val="16233F"/>
                </a:solidFill>
                <a:latin typeface="Cambria" panose="02040503050406030204" pitchFamily="34" charset="0"/>
                <a:ea typeface="Cambria" panose="02040503050406030204" pitchFamily="34" charset="-122"/>
                <a:cs typeface="Cambria" panose="02040503050406030204" pitchFamily="34" charset="-120"/>
              </a:rPr>
              <a:t>One Indicator Framework, Two Complementary Datasets</a:t>
            </a:r>
            <a:endParaRPr lang="en-US" sz="2700" dirty="0"/>
          </a:p>
        </p:txBody>
      </p:sp>
      <p:sp>
        <p:nvSpPr>
          <p:cNvPr id="5" name="Shape 3"/>
          <p:cNvSpPr/>
          <p:nvPr/>
        </p:nvSpPr>
        <p:spPr>
          <a:xfrm>
            <a:off x="548640" y="1645920"/>
            <a:ext cx="5257800" cy="1444752"/>
          </a:xfrm>
          <a:prstGeom prst="roundRect">
            <a:avLst>
              <a:gd name="adj" fmla="val 5696"/>
            </a:avLst>
          </a:prstGeom>
          <a:solidFill>
            <a:srgbClr val="F4F4F2"/>
          </a:solidFill>
          <a:ln w="12700">
            <a:solidFill>
              <a:srgbClr val="E1E1DD"/>
            </a:solidFill>
            <a:prstDash val="solid"/>
          </a:ln>
        </p:spPr>
      </p:sp>
      <p:sp>
        <p:nvSpPr>
          <p:cNvPr id="6" name="Text 4"/>
          <p:cNvSpPr/>
          <p:nvPr/>
        </p:nvSpPr>
        <p:spPr>
          <a:xfrm>
            <a:off x="822960" y="1792224"/>
            <a:ext cx="4709160" cy="256032"/>
          </a:xfrm>
          <a:prstGeom prst="rect">
            <a:avLst/>
          </a:prstGeom>
          <a:noFill/>
        </p:spPr>
        <p:txBody>
          <a:bodyPr wrap="square" lIns="0" tIns="0" rIns="0" bIns="0" rtlCol="0" anchor="ctr"/>
          <a:lstStyle/>
          <a:p>
            <a:pPr marL="0" indent="0">
              <a:buNone/>
            </a:pPr>
            <a:r>
              <a:rPr lang="en-US" sz="1200" b="1" kern="0" spc="130" dirty="0">
                <a:solidFill>
                  <a:srgbClr val="16233F"/>
                </a:solidFill>
                <a:latin typeface="Calibri" panose="020F0502020204030204" pitchFamily="34" charset="0"/>
                <a:ea typeface="Calibri" panose="020F0502020204030204" pitchFamily="34" charset="-122"/>
                <a:cs typeface="Calibri" panose="020F0502020204030204" pitchFamily="34" charset="-120"/>
              </a:rPr>
              <a:t>NATIONAL DATASET</a:t>
            </a:r>
            <a:endParaRPr lang="en-US" sz="1200" dirty="0"/>
          </a:p>
        </p:txBody>
      </p:sp>
      <p:sp>
        <p:nvSpPr>
          <p:cNvPr id="7" name="Text 5"/>
          <p:cNvSpPr/>
          <p:nvPr/>
        </p:nvSpPr>
        <p:spPr>
          <a:xfrm>
            <a:off x="822960" y="2048256"/>
            <a:ext cx="4709160" cy="237744"/>
          </a:xfrm>
          <a:prstGeom prst="rect">
            <a:avLst/>
          </a:prstGeom>
          <a:noFill/>
        </p:spPr>
        <p:txBody>
          <a:bodyPr wrap="square" lIns="0" tIns="0" rIns="0" bIns="0" rtlCol="0" anchor="ctr"/>
          <a:lstStyle/>
          <a:p>
            <a:pPr marL="0" indent="0">
              <a:buNone/>
            </a:pPr>
            <a:r>
              <a:rPr lang="en-US" sz="1100" b="1" dirty="0">
                <a:solidFill>
                  <a:srgbClr val="5B6472"/>
                </a:solidFill>
                <a:latin typeface="Calibri" panose="020F0502020204030204" pitchFamily="34" charset="0"/>
                <a:ea typeface="Calibri" panose="020F0502020204030204" pitchFamily="34" charset="-122"/>
                <a:cs typeface="Calibri" panose="020F0502020204030204" pitchFamily="34" charset="-120"/>
              </a:rPr>
              <a:t>2004–05 to 2024–25  ·  Annual, all-India</a:t>
            </a:r>
            <a:endParaRPr lang="en-US" sz="1100" dirty="0"/>
          </a:p>
        </p:txBody>
      </p:sp>
      <p:sp>
        <p:nvSpPr>
          <p:cNvPr id="8" name="Text 6"/>
          <p:cNvSpPr/>
          <p:nvPr/>
        </p:nvSpPr>
        <p:spPr>
          <a:xfrm>
            <a:off x="822960" y="2322576"/>
            <a:ext cx="4709160" cy="694944"/>
          </a:xfrm>
          <a:prstGeom prst="rect">
            <a:avLst/>
          </a:prstGeom>
          <a:noFill/>
        </p:spPr>
        <p:txBody>
          <a:bodyPr wrap="square" lIns="0" tIns="0" rIns="0" bIns="0" rtlCol="0" anchor="ctr"/>
          <a:lstStyle/>
          <a:p>
            <a:pPr marL="152400" indent="-152400">
              <a:lnSpc>
                <a:spcPct val="100000"/>
              </a:lnSpc>
              <a:buSzPct val="100000"/>
              <a:buChar char="•"/>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Used to estimate the two-stage PCA framework and derive dimension &amp; composite weights
</a:t>
            </a:r>
            <a:endParaRPr lang="en-US" sz="1100" dirty="0"/>
          </a:p>
          <a:p>
            <a:pPr marL="152400" indent="-152400">
              <a:lnSpc>
                <a:spcPct val="100000"/>
              </a:lnSpc>
              <a:buSzPct val="100000"/>
              <a:buChar char="•"/>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Validates the resulting national index against the RBI FI-Index</a:t>
            </a:r>
            <a:endParaRPr lang="en-US" sz="1100" dirty="0"/>
          </a:p>
        </p:txBody>
      </p:sp>
      <p:sp>
        <p:nvSpPr>
          <p:cNvPr id="9" name="Shape 7"/>
          <p:cNvSpPr/>
          <p:nvPr/>
        </p:nvSpPr>
        <p:spPr>
          <a:xfrm>
            <a:off x="6385255" y="1645920"/>
            <a:ext cx="5257800" cy="1444752"/>
          </a:xfrm>
          <a:prstGeom prst="roundRect">
            <a:avLst>
              <a:gd name="adj" fmla="val 5696"/>
            </a:avLst>
          </a:prstGeom>
          <a:solidFill>
            <a:srgbClr val="F4F4F2"/>
          </a:solidFill>
          <a:ln w="12700">
            <a:solidFill>
              <a:srgbClr val="E1E1DD"/>
            </a:solidFill>
            <a:prstDash val="solid"/>
          </a:ln>
        </p:spPr>
      </p:sp>
      <p:sp>
        <p:nvSpPr>
          <p:cNvPr id="10" name="Text 8"/>
          <p:cNvSpPr/>
          <p:nvPr/>
        </p:nvSpPr>
        <p:spPr>
          <a:xfrm>
            <a:off x="6659575" y="1792224"/>
            <a:ext cx="4709160" cy="256032"/>
          </a:xfrm>
          <a:prstGeom prst="rect">
            <a:avLst/>
          </a:prstGeom>
          <a:noFill/>
        </p:spPr>
        <p:txBody>
          <a:bodyPr wrap="square" lIns="0" tIns="0" rIns="0" bIns="0" rtlCol="0" anchor="ctr"/>
          <a:lstStyle/>
          <a:p>
            <a:pPr marL="0" indent="0">
              <a:buNone/>
            </a:pPr>
            <a:r>
              <a:rPr lang="en-US" sz="1200" b="1" kern="0" spc="130" dirty="0">
                <a:solidFill>
                  <a:srgbClr val="16233F"/>
                </a:solidFill>
                <a:latin typeface="Calibri" panose="020F0502020204030204" pitchFamily="34" charset="0"/>
                <a:ea typeface="Calibri" panose="020F0502020204030204" pitchFamily="34" charset="-122"/>
                <a:cs typeface="Calibri" panose="020F0502020204030204" pitchFamily="34" charset="-120"/>
              </a:rPr>
              <a:t>STATE PANEL DATASET</a:t>
            </a:r>
            <a:endParaRPr lang="en-US" sz="1200" dirty="0"/>
          </a:p>
        </p:txBody>
      </p:sp>
      <p:sp>
        <p:nvSpPr>
          <p:cNvPr id="11" name="Text 9"/>
          <p:cNvSpPr/>
          <p:nvPr/>
        </p:nvSpPr>
        <p:spPr>
          <a:xfrm>
            <a:off x="6659575" y="2048256"/>
            <a:ext cx="4709160" cy="237744"/>
          </a:xfrm>
          <a:prstGeom prst="rect">
            <a:avLst/>
          </a:prstGeom>
          <a:noFill/>
        </p:spPr>
        <p:txBody>
          <a:bodyPr wrap="square" lIns="0" tIns="0" rIns="0" bIns="0" rtlCol="0" anchor="ctr"/>
          <a:lstStyle/>
          <a:p>
            <a:pPr marL="0" indent="0">
              <a:buNone/>
            </a:pPr>
            <a:r>
              <a:rPr lang="en-US" sz="1100" b="1" dirty="0">
                <a:solidFill>
                  <a:srgbClr val="5B6472"/>
                </a:solidFill>
                <a:latin typeface="Calibri" panose="020F0502020204030204" pitchFamily="34" charset="0"/>
                <a:ea typeface="Calibri" panose="020F0502020204030204" pitchFamily="34" charset="-122"/>
                <a:cs typeface="Calibri" panose="020F0502020204030204" pitchFamily="34" charset="-120"/>
              </a:rPr>
              <a:t>28 Indian States  ·  2016–17 to 2024–25</a:t>
            </a:r>
            <a:endParaRPr lang="en-US" sz="1100" dirty="0"/>
          </a:p>
        </p:txBody>
      </p:sp>
      <p:sp>
        <p:nvSpPr>
          <p:cNvPr id="12" name="Text 10"/>
          <p:cNvSpPr/>
          <p:nvPr/>
        </p:nvSpPr>
        <p:spPr>
          <a:xfrm>
            <a:off x="6659575" y="2322576"/>
            <a:ext cx="4709160" cy="694944"/>
          </a:xfrm>
          <a:prstGeom prst="rect">
            <a:avLst/>
          </a:prstGeom>
          <a:noFill/>
        </p:spPr>
        <p:txBody>
          <a:bodyPr wrap="square" lIns="0" tIns="0" rIns="0" bIns="0" rtlCol="0" anchor="ctr"/>
          <a:lstStyle/>
          <a:p>
            <a:pPr marL="152400" indent="-152400">
              <a:lnSpc>
                <a:spcPct val="116000"/>
              </a:lnSpc>
              <a:buSzPct val="100000"/>
              <a:buChar char="•"/>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Same ten indicators compiled consistently across states and years
</a:t>
            </a:r>
            <a:endParaRPr lang="en-US" sz="1100" dirty="0"/>
          </a:p>
          <a:p>
            <a:pPr marL="152400" indent="-152400">
              <a:lnSpc>
                <a:spcPct val="116000"/>
              </a:lnSpc>
              <a:buSzPct val="100000"/>
              <a:buChar char="•"/>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Used for comparative, state-level analysis of financial inclusion</a:t>
            </a:r>
            <a:endParaRPr lang="en-US" sz="1100" dirty="0"/>
          </a:p>
        </p:txBody>
      </p:sp>
      <p:sp>
        <p:nvSpPr>
          <p:cNvPr id="13" name="Shape 11"/>
          <p:cNvSpPr/>
          <p:nvPr/>
        </p:nvSpPr>
        <p:spPr>
          <a:xfrm>
            <a:off x="5968508" y="2267712"/>
            <a:ext cx="254679" cy="201168"/>
          </a:xfrm>
          <a:prstGeom prst="rightArrow">
            <a:avLst/>
          </a:prstGeom>
          <a:solidFill>
            <a:srgbClr val="C7CCD6"/>
          </a:solidFill>
        </p:spPr>
      </p:sp>
      <p:sp>
        <p:nvSpPr>
          <p:cNvPr id="14" name="Text 12"/>
          <p:cNvSpPr/>
          <p:nvPr/>
        </p:nvSpPr>
        <p:spPr>
          <a:xfrm>
            <a:off x="548640" y="3182112"/>
            <a:ext cx="11094415" cy="274320"/>
          </a:xfrm>
          <a:prstGeom prst="rect">
            <a:avLst/>
          </a:prstGeom>
          <a:noFill/>
        </p:spPr>
        <p:txBody>
          <a:bodyPr wrap="square" lIns="0" tIns="0" rIns="0" bIns="0" rtlCol="0" anchor="ctr"/>
          <a:lstStyle/>
          <a:p>
            <a:pPr marL="0" indent="0" algn="ctr">
              <a:buNone/>
            </a:pPr>
            <a:r>
              <a:rPr lang="en-US" sz="1080" i="1" dirty="0">
                <a:solidFill>
                  <a:srgbClr val="5B6472"/>
                </a:solidFill>
                <a:latin typeface="Calibri" panose="020F0502020204030204" pitchFamily="34" charset="0"/>
                <a:ea typeface="Calibri" panose="020F0502020204030204" pitchFamily="34" charset="-122"/>
                <a:cs typeface="Calibri" panose="020F0502020204030204" pitchFamily="34" charset="-120"/>
              </a:rPr>
              <a:t>Dimension and composite weights estimated from the national dataset are applied in constructing the state-level index  the two datasets remain independent inputs.</a:t>
            </a:r>
            <a:endParaRPr lang="en-US" sz="1080" dirty="0"/>
          </a:p>
        </p:txBody>
      </p:sp>
      <p:sp>
        <p:nvSpPr>
          <p:cNvPr id="15" name="Text 13"/>
          <p:cNvSpPr/>
          <p:nvPr/>
        </p:nvSpPr>
        <p:spPr>
          <a:xfrm>
            <a:off x="548640" y="3474720"/>
            <a:ext cx="11094415" cy="274320"/>
          </a:xfrm>
          <a:prstGeom prst="rect">
            <a:avLst/>
          </a:prstGeom>
          <a:noFill/>
        </p:spPr>
        <p:txBody>
          <a:bodyPr wrap="square" lIns="0" tIns="0" rIns="0" bIns="0" rtlCol="0" anchor="ctr"/>
          <a:lstStyle/>
          <a:p>
            <a:pPr marL="0" indent="0">
              <a:buNone/>
            </a:pPr>
            <a:r>
              <a:rPr lang="en-US" sz="1200" b="1" kern="0" spc="150" dirty="0">
                <a:solidFill>
                  <a:srgbClr val="16233F"/>
                </a:solidFill>
                <a:latin typeface="Calibri" panose="020F0502020204030204" pitchFamily="34" charset="0"/>
                <a:ea typeface="Calibri" panose="020F0502020204030204" pitchFamily="34" charset="-122"/>
                <a:cs typeface="Calibri" panose="020F0502020204030204" pitchFamily="34" charset="-120"/>
              </a:rPr>
              <a:t>THREE DIMENSIONS OF FINANCIAL INCLUSION</a:t>
            </a:r>
            <a:endParaRPr lang="en-US" sz="1200" dirty="0"/>
          </a:p>
        </p:txBody>
      </p:sp>
      <p:sp>
        <p:nvSpPr>
          <p:cNvPr id="16" name="Shape 14"/>
          <p:cNvSpPr/>
          <p:nvPr/>
        </p:nvSpPr>
        <p:spPr>
          <a:xfrm>
            <a:off x="548640" y="3803904"/>
            <a:ext cx="457200" cy="0"/>
          </a:xfrm>
          <a:prstGeom prst="line">
            <a:avLst/>
          </a:prstGeom>
          <a:noFill/>
          <a:ln w="15875">
            <a:solidFill>
              <a:srgbClr val="16233F"/>
            </a:solidFill>
            <a:prstDash val="solid"/>
          </a:ln>
        </p:spPr>
      </p:sp>
      <p:sp>
        <p:nvSpPr>
          <p:cNvPr id="17" name="Shape 15"/>
          <p:cNvSpPr/>
          <p:nvPr/>
        </p:nvSpPr>
        <p:spPr>
          <a:xfrm>
            <a:off x="548640" y="3931920"/>
            <a:ext cx="3576218" cy="1188720"/>
          </a:xfrm>
          <a:prstGeom prst="roundRect">
            <a:avLst>
              <a:gd name="adj" fmla="val 6154"/>
            </a:avLst>
          </a:prstGeom>
          <a:solidFill>
            <a:srgbClr val="F4F4F2"/>
          </a:solidFill>
          <a:ln w="12700">
            <a:solidFill>
              <a:srgbClr val="E1E1DD"/>
            </a:solidFill>
            <a:prstDash val="solid"/>
          </a:ln>
        </p:spPr>
      </p:sp>
      <p:sp>
        <p:nvSpPr>
          <p:cNvPr id="18" name="Text 16"/>
          <p:cNvSpPr/>
          <p:nvPr/>
        </p:nvSpPr>
        <p:spPr>
          <a:xfrm>
            <a:off x="786384" y="4059936"/>
            <a:ext cx="3119018" cy="256032"/>
          </a:xfrm>
          <a:prstGeom prst="rect">
            <a:avLst/>
          </a:prstGeom>
          <a:noFill/>
        </p:spPr>
        <p:txBody>
          <a:bodyPr wrap="square" lIns="0" tIns="0" rIns="0" bIns="0" rtlCol="0" anchor="ctr"/>
          <a:lstStyle/>
          <a:p>
            <a:pPr marL="0" indent="0">
              <a:buNone/>
            </a:pPr>
            <a:r>
              <a:rPr lang="en-US" sz="1250" b="1" kern="0" spc="100" dirty="0">
                <a:solidFill>
                  <a:srgbClr val="16233F"/>
                </a:solidFill>
                <a:latin typeface="Calibri" panose="020F0502020204030204" pitchFamily="34" charset="0"/>
                <a:ea typeface="Calibri" panose="020F0502020204030204" pitchFamily="34" charset="-122"/>
                <a:cs typeface="Calibri" panose="020F0502020204030204" pitchFamily="34" charset="-120"/>
              </a:rPr>
              <a:t>PENETRATION</a:t>
            </a:r>
            <a:endParaRPr lang="en-US" sz="1250" dirty="0"/>
          </a:p>
        </p:txBody>
      </p:sp>
      <p:sp>
        <p:nvSpPr>
          <p:cNvPr id="19" name="Shape 17"/>
          <p:cNvSpPr/>
          <p:nvPr/>
        </p:nvSpPr>
        <p:spPr>
          <a:xfrm>
            <a:off x="786384" y="4352544"/>
            <a:ext cx="2798978" cy="0"/>
          </a:xfrm>
          <a:prstGeom prst="line">
            <a:avLst/>
          </a:prstGeom>
          <a:noFill/>
          <a:ln w="12700">
            <a:solidFill>
              <a:srgbClr val="E1E1DD"/>
            </a:solidFill>
            <a:prstDash val="solid"/>
          </a:ln>
        </p:spPr>
      </p:sp>
      <p:sp>
        <p:nvSpPr>
          <p:cNvPr id="20" name="Text 18"/>
          <p:cNvSpPr/>
          <p:nvPr/>
        </p:nvSpPr>
        <p:spPr>
          <a:xfrm>
            <a:off x="786384" y="4425696"/>
            <a:ext cx="3119018" cy="310896"/>
          </a:xfrm>
          <a:prstGeom prst="rect">
            <a:avLst/>
          </a:prstGeom>
          <a:noFill/>
        </p:spPr>
        <p:txBody>
          <a:bodyPr wrap="square" lIns="0" tIns="0" rIns="0" bIns="0" rtlCol="0" anchor="t"/>
          <a:lstStyle/>
          <a:p>
            <a:pPr marL="0" indent="0">
              <a:lnSpc>
                <a:spcPct val="103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Deposit Accounts  </a:t>
            </a:r>
            <a:r>
              <a:rPr lang="en-US" sz="900" dirty="0">
                <a:solidFill>
                  <a:srgbClr val="8C93A0"/>
                </a:solidFill>
                <a:latin typeface="Calibri" panose="020F0502020204030204" pitchFamily="34" charset="0"/>
                <a:ea typeface="Calibri" panose="020F0502020204030204" pitchFamily="34" charset="-122"/>
                <a:cs typeface="Calibri" panose="020F0502020204030204" pitchFamily="34" charset="-120"/>
              </a:rPr>
              <a:t>(DEP_ACC)</a:t>
            </a:r>
            <a:endParaRPr lang="en-US" sz="1100" dirty="0"/>
          </a:p>
        </p:txBody>
      </p:sp>
      <p:sp>
        <p:nvSpPr>
          <p:cNvPr id="21" name="Text 19"/>
          <p:cNvSpPr/>
          <p:nvPr/>
        </p:nvSpPr>
        <p:spPr>
          <a:xfrm>
            <a:off x="786384" y="4736592"/>
            <a:ext cx="3119018" cy="310896"/>
          </a:xfrm>
          <a:prstGeom prst="rect">
            <a:avLst/>
          </a:prstGeom>
          <a:noFill/>
        </p:spPr>
        <p:txBody>
          <a:bodyPr wrap="square" lIns="0" tIns="0" rIns="0" bIns="0" rtlCol="0" anchor="t"/>
          <a:lstStyle/>
          <a:p>
            <a:pPr marL="0" indent="0">
              <a:lnSpc>
                <a:spcPct val="103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Credit Accounts  </a:t>
            </a:r>
            <a:r>
              <a:rPr lang="en-US" sz="900" dirty="0">
                <a:solidFill>
                  <a:srgbClr val="8C93A0"/>
                </a:solidFill>
                <a:latin typeface="Calibri" panose="020F0502020204030204" pitchFamily="34" charset="0"/>
                <a:ea typeface="Calibri" panose="020F0502020204030204" pitchFamily="34" charset="-122"/>
                <a:cs typeface="Calibri" panose="020F0502020204030204" pitchFamily="34" charset="-120"/>
              </a:rPr>
              <a:t>(CR_ACC)</a:t>
            </a:r>
            <a:endParaRPr lang="en-US" sz="1100" dirty="0"/>
          </a:p>
        </p:txBody>
      </p:sp>
      <p:sp>
        <p:nvSpPr>
          <p:cNvPr id="22" name="Shape 20"/>
          <p:cNvSpPr/>
          <p:nvPr/>
        </p:nvSpPr>
        <p:spPr>
          <a:xfrm>
            <a:off x="4307738" y="3931920"/>
            <a:ext cx="3576218" cy="2121408"/>
          </a:xfrm>
          <a:prstGeom prst="roundRect">
            <a:avLst>
              <a:gd name="adj" fmla="val 3448"/>
            </a:avLst>
          </a:prstGeom>
          <a:solidFill>
            <a:srgbClr val="F4F4F2"/>
          </a:solidFill>
          <a:ln w="12700">
            <a:solidFill>
              <a:srgbClr val="E1E1DD"/>
            </a:solidFill>
            <a:prstDash val="solid"/>
          </a:ln>
        </p:spPr>
      </p:sp>
      <p:sp>
        <p:nvSpPr>
          <p:cNvPr id="23" name="Text 21"/>
          <p:cNvSpPr/>
          <p:nvPr/>
        </p:nvSpPr>
        <p:spPr>
          <a:xfrm>
            <a:off x="4545482" y="4059936"/>
            <a:ext cx="3119018" cy="256032"/>
          </a:xfrm>
          <a:prstGeom prst="rect">
            <a:avLst/>
          </a:prstGeom>
          <a:noFill/>
        </p:spPr>
        <p:txBody>
          <a:bodyPr wrap="square" lIns="0" tIns="0" rIns="0" bIns="0" rtlCol="0" anchor="ctr"/>
          <a:lstStyle/>
          <a:p>
            <a:pPr marL="0" indent="0">
              <a:buNone/>
            </a:pPr>
            <a:r>
              <a:rPr lang="en-US" sz="1250" b="1" kern="0" spc="100" dirty="0">
                <a:solidFill>
                  <a:srgbClr val="16233F"/>
                </a:solidFill>
                <a:latin typeface="Calibri" panose="020F0502020204030204" pitchFamily="34" charset="0"/>
                <a:ea typeface="Calibri" panose="020F0502020204030204" pitchFamily="34" charset="-122"/>
                <a:cs typeface="Calibri" panose="020F0502020204030204" pitchFamily="34" charset="-120"/>
              </a:rPr>
              <a:t>AVAILABILITY</a:t>
            </a:r>
            <a:endParaRPr lang="en-US" sz="1250" dirty="0"/>
          </a:p>
        </p:txBody>
      </p:sp>
      <p:sp>
        <p:nvSpPr>
          <p:cNvPr id="24" name="Shape 22"/>
          <p:cNvSpPr/>
          <p:nvPr/>
        </p:nvSpPr>
        <p:spPr>
          <a:xfrm>
            <a:off x="4545482" y="4352544"/>
            <a:ext cx="2798978" cy="0"/>
          </a:xfrm>
          <a:prstGeom prst="line">
            <a:avLst/>
          </a:prstGeom>
          <a:noFill/>
          <a:ln w="12700">
            <a:solidFill>
              <a:srgbClr val="E1E1DD"/>
            </a:solidFill>
            <a:prstDash val="solid"/>
          </a:ln>
        </p:spPr>
      </p:sp>
      <p:sp>
        <p:nvSpPr>
          <p:cNvPr id="25" name="Text 23"/>
          <p:cNvSpPr/>
          <p:nvPr/>
        </p:nvSpPr>
        <p:spPr>
          <a:xfrm>
            <a:off x="4545482" y="4425696"/>
            <a:ext cx="3119018" cy="310896"/>
          </a:xfrm>
          <a:prstGeom prst="rect">
            <a:avLst/>
          </a:prstGeom>
          <a:noFill/>
        </p:spPr>
        <p:txBody>
          <a:bodyPr wrap="square" lIns="0" tIns="0" rIns="0" bIns="0" rtlCol="0" anchor="t"/>
          <a:lstStyle/>
          <a:p>
            <a:pPr marL="0" indent="0">
              <a:lnSpc>
                <a:spcPct val="103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Bank Offices  </a:t>
            </a:r>
            <a:r>
              <a:rPr lang="en-US" sz="900" dirty="0">
                <a:solidFill>
                  <a:srgbClr val="8C93A0"/>
                </a:solidFill>
                <a:latin typeface="Calibri" panose="020F0502020204030204" pitchFamily="34" charset="0"/>
                <a:ea typeface="Calibri" panose="020F0502020204030204" pitchFamily="34" charset="-122"/>
                <a:cs typeface="Calibri" panose="020F0502020204030204" pitchFamily="34" charset="-120"/>
              </a:rPr>
              <a:t>(SCB_OFF)</a:t>
            </a:r>
            <a:endParaRPr lang="en-US" sz="1100" dirty="0"/>
          </a:p>
        </p:txBody>
      </p:sp>
      <p:sp>
        <p:nvSpPr>
          <p:cNvPr id="26" name="Text 24"/>
          <p:cNvSpPr/>
          <p:nvPr/>
        </p:nvSpPr>
        <p:spPr>
          <a:xfrm>
            <a:off x="4545482" y="4736592"/>
            <a:ext cx="3119018" cy="310896"/>
          </a:xfrm>
          <a:prstGeom prst="rect">
            <a:avLst/>
          </a:prstGeom>
          <a:noFill/>
        </p:spPr>
        <p:txBody>
          <a:bodyPr wrap="square" lIns="0" tIns="0" rIns="0" bIns="0" rtlCol="0" anchor="t"/>
          <a:lstStyle/>
          <a:p>
            <a:pPr marL="0" indent="0">
              <a:lnSpc>
                <a:spcPct val="103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Rural Bank Offices  </a:t>
            </a:r>
            <a:r>
              <a:rPr lang="en-US" sz="900" dirty="0">
                <a:solidFill>
                  <a:srgbClr val="8C93A0"/>
                </a:solidFill>
                <a:latin typeface="Calibri" panose="020F0502020204030204" pitchFamily="34" charset="0"/>
                <a:ea typeface="Calibri" panose="020F0502020204030204" pitchFamily="34" charset="-122"/>
                <a:cs typeface="Calibri" panose="020F0502020204030204" pitchFamily="34" charset="-120"/>
              </a:rPr>
              <a:t>(SCB_OFF_R)</a:t>
            </a:r>
            <a:endParaRPr lang="en-US" sz="1100" dirty="0"/>
          </a:p>
        </p:txBody>
      </p:sp>
      <p:sp>
        <p:nvSpPr>
          <p:cNvPr id="27" name="Text 25"/>
          <p:cNvSpPr/>
          <p:nvPr/>
        </p:nvSpPr>
        <p:spPr>
          <a:xfrm>
            <a:off x="4545482" y="5047488"/>
            <a:ext cx="3119018" cy="310896"/>
          </a:xfrm>
          <a:prstGeom prst="rect">
            <a:avLst/>
          </a:prstGeom>
          <a:noFill/>
        </p:spPr>
        <p:txBody>
          <a:bodyPr wrap="square" lIns="0" tIns="0" rIns="0" bIns="0" rtlCol="0" anchor="t"/>
          <a:lstStyle/>
          <a:p>
            <a:pPr marL="0" indent="0">
              <a:lnSpc>
                <a:spcPct val="103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Bank Employees / Deposit A/Cs  </a:t>
            </a:r>
            <a:r>
              <a:rPr lang="en-US" sz="900" dirty="0">
                <a:solidFill>
                  <a:srgbClr val="8C93A0"/>
                </a:solidFill>
                <a:latin typeface="Calibri" panose="020F0502020204030204" pitchFamily="34" charset="0"/>
                <a:ea typeface="Calibri" panose="020F0502020204030204" pitchFamily="34" charset="-122"/>
                <a:cs typeface="Calibri" panose="020F0502020204030204" pitchFamily="34" charset="-120"/>
              </a:rPr>
              <a:t>(EMP)</a:t>
            </a:r>
            <a:endParaRPr lang="en-US" sz="1100" dirty="0"/>
          </a:p>
        </p:txBody>
      </p:sp>
      <p:sp>
        <p:nvSpPr>
          <p:cNvPr id="28" name="Text 26"/>
          <p:cNvSpPr/>
          <p:nvPr/>
        </p:nvSpPr>
        <p:spPr>
          <a:xfrm>
            <a:off x="4545482" y="5358384"/>
            <a:ext cx="3119018" cy="310896"/>
          </a:xfrm>
          <a:prstGeom prst="rect">
            <a:avLst/>
          </a:prstGeom>
          <a:noFill/>
        </p:spPr>
        <p:txBody>
          <a:bodyPr wrap="square" lIns="0" tIns="0" rIns="0" bIns="0" rtlCol="0" anchor="t"/>
          <a:lstStyle/>
          <a:p>
            <a:pPr marL="0" indent="0">
              <a:lnSpc>
                <a:spcPct val="103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Insurance Offices  </a:t>
            </a:r>
            <a:r>
              <a:rPr lang="en-US" sz="900" dirty="0">
                <a:solidFill>
                  <a:srgbClr val="8C93A0"/>
                </a:solidFill>
                <a:latin typeface="Calibri" panose="020F0502020204030204" pitchFamily="34" charset="0"/>
                <a:ea typeface="Calibri" panose="020F0502020204030204" pitchFamily="34" charset="-122"/>
                <a:cs typeface="Calibri" panose="020F0502020204030204" pitchFamily="34" charset="-120"/>
              </a:rPr>
              <a:t>(INS_OFF)</a:t>
            </a:r>
            <a:endParaRPr lang="en-US" sz="1100" dirty="0"/>
          </a:p>
        </p:txBody>
      </p:sp>
      <p:sp>
        <p:nvSpPr>
          <p:cNvPr id="29" name="Text 27"/>
          <p:cNvSpPr/>
          <p:nvPr/>
        </p:nvSpPr>
        <p:spPr>
          <a:xfrm>
            <a:off x="4545482" y="5669280"/>
            <a:ext cx="3119018" cy="310896"/>
          </a:xfrm>
          <a:prstGeom prst="rect">
            <a:avLst/>
          </a:prstGeom>
          <a:noFill/>
        </p:spPr>
        <p:txBody>
          <a:bodyPr wrap="square" lIns="0" tIns="0" rIns="0" bIns="0" rtlCol="0" anchor="t"/>
          <a:lstStyle/>
          <a:p>
            <a:pPr marL="0" indent="0">
              <a:lnSpc>
                <a:spcPct val="103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Internet Subscribers  </a:t>
            </a:r>
            <a:r>
              <a:rPr lang="en-US" sz="900" dirty="0">
                <a:solidFill>
                  <a:srgbClr val="8C93A0"/>
                </a:solidFill>
                <a:latin typeface="Calibri" panose="020F0502020204030204" pitchFamily="34" charset="0"/>
                <a:ea typeface="Calibri" panose="020F0502020204030204" pitchFamily="34" charset="-122"/>
                <a:cs typeface="Calibri" panose="020F0502020204030204" pitchFamily="34" charset="-120"/>
              </a:rPr>
              <a:t>(INT_SUB)</a:t>
            </a:r>
            <a:endParaRPr lang="en-US" sz="1100" dirty="0"/>
          </a:p>
        </p:txBody>
      </p:sp>
      <p:sp>
        <p:nvSpPr>
          <p:cNvPr id="30" name="Shape 28"/>
          <p:cNvSpPr/>
          <p:nvPr/>
        </p:nvSpPr>
        <p:spPr>
          <a:xfrm>
            <a:off x="8066837" y="3931920"/>
            <a:ext cx="3576218" cy="1499616"/>
          </a:xfrm>
          <a:prstGeom prst="roundRect">
            <a:avLst>
              <a:gd name="adj" fmla="val 4878"/>
            </a:avLst>
          </a:prstGeom>
          <a:solidFill>
            <a:srgbClr val="F4F4F2"/>
          </a:solidFill>
          <a:ln w="12700">
            <a:solidFill>
              <a:srgbClr val="E1E1DD"/>
            </a:solidFill>
            <a:prstDash val="solid"/>
          </a:ln>
        </p:spPr>
      </p:sp>
      <p:sp>
        <p:nvSpPr>
          <p:cNvPr id="31" name="Text 29"/>
          <p:cNvSpPr/>
          <p:nvPr/>
        </p:nvSpPr>
        <p:spPr>
          <a:xfrm>
            <a:off x="8304581" y="4059936"/>
            <a:ext cx="3119018" cy="256032"/>
          </a:xfrm>
          <a:prstGeom prst="rect">
            <a:avLst/>
          </a:prstGeom>
          <a:noFill/>
        </p:spPr>
        <p:txBody>
          <a:bodyPr wrap="square" lIns="0" tIns="0" rIns="0" bIns="0" rtlCol="0" anchor="ctr"/>
          <a:lstStyle/>
          <a:p>
            <a:pPr marL="0" indent="0">
              <a:buNone/>
            </a:pPr>
            <a:r>
              <a:rPr lang="en-US" sz="1250" b="1" kern="0" spc="100" dirty="0">
                <a:solidFill>
                  <a:srgbClr val="16233F"/>
                </a:solidFill>
                <a:latin typeface="Calibri" panose="020F0502020204030204" pitchFamily="34" charset="0"/>
                <a:ea typeface="Calibri" panose="020F0502020204030204" pitchFamily="34" charset="-122"/>
                <a:cs typeface="Calibri" panose="020F0502020204030204" pitchFamily="34" charset="-120"/>
              </a:rPr>
              <a:t>USAGE</a:t>
            </a:r>
            <a:endParaRPr lang="en-US" sz="1250" dirty="0"/>
          </a:p>
        </p:txBody>
      </p:sp>
      <p:sp>
        <p:nvSpPr>
          <p:cNvPr id="32" name="Shape 30"/>
          <p:cNvSpPr/>
          <p:nvPr/>
        </p:nvSpPr>
        <p:spPr>
          <a:xfrm>
            <a:off x="8304581" y="4352544"/>
            <a:ext cx="2798978" cy="0"/>
          </a:xfrm>
          <a:prstGeom prst="line">
            <a:avLst/>
          </a:prstGeom>
          <a:noFill/>
          <a:ln w="12700">
            <a:solidFill>
              <a:srgbClr val="E1E1DD"/>
            </a:solidFill>
            <a:prstDash val="solid"/>
          </a:ln>
        </p:spPr>
      </p:sp>
      <p:sp>
        <p:nvSpPr>
          <p:cNvPr id="33" name="Text 31"/>
          <p:cNvSpPr/>
          <p:nvPr/>
        </p:nvSpPr>
        <p:spPr>
          <a:xfrm>
            <a:off x="8304581" y="4425696"/>
            <a:ext cx="3119018" cy="310896"/>
          </a:xfrm>
          <a:prstGeom prst="rect">
            <a:avLst/>
          </a:prstGeom>
          <a:noFill/>
        </p:spPr>
        <p:txBody>
          <a:bodyPr wrap="square" lIns="0" tIns="0" rIns="0" bIns="0" rtlCol="0" anchor="t"/>
          <a:lstStyle/>
          <a:p>
            <a:pPr marL="0" indent="0">
              <a:lnSpc>
                <a:spcPct val="103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Deposits per Capita  </a:t>
            </a:r>
            <a:r>
              <a:rPr lang="en-US" sz="900" dirty="0">
                <a:solidFill>
                  <a:srgbClr val="8C93A0"/>
                </a:solidFill>
                <a:latin typeface="Calibri" panose="020F0502020204030204" pitchFamily="34" charset="0"/>
                <a:ea typeface="Calibri" panose="020F0502020204030204" pitchFamily="34" charset="-122"/>
                <a:cs typeface="Calibri" panose="020F0502020204030204" pitchFamily="34" charset="-120"/>
              </a:rPr>
              <a:t>(DEP_PC)</a:t>
            </a:r>
            <a:endParaRPr lang="en-US" sz="1100" dirty="0"/>
          </a:p>
        </p:txBody>
      </p:sp>
      <p:sp>
        <p:nvSpPr>
          <p:cNvPr id="34" name="Text 32"/>
          <p:cNvSpPr/>
          <p:nvPr/>
        </p:nvSpPr>
        <p:spPr>
          <a:xfrm>
            <a:off x="8304581" y="4736592"/>
            <a:ext cx="3119018" cy="310896"/>
          </a:xfrm>
          <a:prstGeom prst="rect">
            <a:avLst/>
          </a:prstGeom>
          <a:noFill/>
        </p:spPr>
        <p:txBody>
          <a:bodyPr wrap="square" lIns="0" tIns="0" rIns="0" bIns="0" rtlCol="0" anchor="t"/>
          <a:lstStyle/>
          <a:p>
            <a:pPr marL="0" indent="0">
              <a:lnSpc>
                <a:spcPct val="103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Credit Outstanding per Capita  </a:t>
            </a:r>
            <a:r>
              <a:rPr lang="en-US" sz="900" dirty="0">
                <a:solidFill>
                  <a:srgbClr val="8C93A0"/>
                </a:solidFill>
                <a:latin typeface="Calibri" panose="020F0502020204030204" pitchFamily="34" charset="0"/>
                <a:ea typeface="Calibri" panose="020F0502020204030204" pitchFamily="34" charset="-122"/>
                <a:cs typeface="Calibri" panose="020F0502020204030204" pitchFamily="34" charset="-120"/>
              </a:rPr>
              <a:t>(CR_OUT_PC)</a:t>
            </a:r>
            <a:endParaRPr lang="en-US" sz="1100" dirty="0"/>
          </a:p>
        </p:txBody>
      </p:sp>
      <p:sp>
        <p:nvSpPr>
          <p:cNvPr id="35" name="Text 33"/>
          <p:cNvSpPr/>
          <p:nvPr/>
        </p:nvSpPr>
        <p:spPr>
          <a:xfrm>
            <a:off x="8304581" y="5047488"/>
            <a:ext cx="3119018" cy="310896"/>
          </a:xfrm>
          <a:prstGeom prst="rect">
            <a:avLst/>
          </a:prstGeom>
          <a:noFill/>
        </p:spPr>
        <p:txBody>
          <a:bodyPr wrap="square" lIns="0" tIns="0" rIns="0" bIns="0" rtlCol="0" anchor="t"/>
          <a:lstStyle/>
          <a:p>
            <a:pPr marL="0" indent="0">
              <a:lnSpc>
                <a:spcPct val="103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Insurance Density  </a:t>
            </a:r>
            <a:r>
              <a:rPr lang="en-US" sz="900" dirty="0">
                <a:solidFill>
                  <a:srgbClr val="8C93A0"/>
                </a:solidFill>
                <a:latin typeface="Calibri" panose="020F0502020204030204" pitchFamily="34" charset="0"/>
                <a:ea typeface="Calibri" panose="020F0502020204030204" pitchFamily="34" charset="-122"/>
                <a:cs typeface="Calibri" panose="020F0502020204030204" pitchFamily="34" charset="-120"/>
              </a:rPr>
              <a:t>(INS_DEN)</a:t>
            </a:r>
            <a:endParaRPr lang="en-US" sz="1100" dirty="0"/>
          </a:p>
        </p:txBody>
      </p:sp>
      <p:sp>
        <p:nvSpPr>
          <p:cNvPr id="36" name="Text 34"/>
          <p:cNvSpPr/>
          <p:nvPr/>
        </p:nvSpPr>
        <p:spPr>
          <a:xfrm>
            <a:off x="548640" y="6144768"/>
            <a:ext cx="11094415" cy="237744"/>
          </a:xfrm>
          <a:prstGeom prst="rect">
            <a:avLst/>
          </a:prstGeom>
          <a:noFill/>
        </p:spPr>
        <p:txBody>
          <a:bodyPr wrap="square" lIns="0" tIns="0" rIns="0" bIns="0" rtlCol="0" anchor="ctr"/>
          <a:lstStyle/>
          <a:p>
            <a:pPr marL="0" indent="0">
              <a:buNone/>
            </a:pPr>
            <a:r>
              <a:rPr lang="en-US" sz="1200" b="1" dirty="0">
                <a:solidFill>
                  <a:srgbClr val="5B6472"/>
                </a:solidFill>
                <a:latin typeface="Calibri" panose="020F0502020204030204" pitchFamily="34" charset="0"/>
                <a:ea typeface="Calibri" panose="020F0502020204030204" pitchFamily="34" charset="-122"/>
                <a:cs typeface="Calibri" panose="020F0502020204030204" pitchFamily="34" charset="-120"/>
              </a:rPr>
              <a:t>Sources:  RBI  ·  EPWRF  ·  IRDAI  ·  TRAI  ·  UIDAI</a:t>
            </a:r>
            <a:endParaRPr lang="en-US" sz="1200" b="1"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37" name="Text 35"/>
          <p:cNvSpPr/>
          <p:nvPr/>
        </p:nvSpPr>
        <p:spPr>
          <a:xfrm>
            <a:off x="548640" y="6510528"/>
            <a:ext cx="7315200" cy="256032"/>
          </a:xfrm>
          <a:prstGeom prst="rect">
            <a:avLst/>
          </a:prstGeom>
          <a:noFill/>
        </p:spPr>
        <p:txBody>
          <a:bodyPr wrap="square" lIns="0" tIns="0" rIns="0" bIns="0" rtlCol="0" anchor="ctr"/>
          <a:lstStyle/>
          <a:p>
            <a:pPr marL="0" indent="0">
              <a:buNone/>
            </a:pPr>
            <a:r>
              <a:rPr lang="en-US" sz="95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548640" y="347472"/>
            <a:ext cx="7315200" cy="256032"/>
          </a:xfrm>
          <a:prstGeom prst="rect">
            <a:avLst/>
          </a:prstGeom>
          <a:noFill/>
        </p:spPr>
        <p:txBody>
          <a:bodyPr wrap="square" lIns="0" tIns="0" rIns="0" bIns="0" rtlCol="0" anchor="ctr"/>
          <a:lstStyle/>
          <a:p>
            <a:pPr marL="0" indent="0">
              <a:buNone/>
            </a:pPr>
            <a:r>
              <a:rPr lang="en-US" sz="115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sym typeface="+mn-ea"/>
              </a:rPr>
              <a:t>SLIDE 04  ·  DATA &amp; METHODOLOGY</a:t>
            </a:r>
            <a:endParaRPr lang="en-US" sz="1150" dirty="0"/>
          </a:p>
        </p:txBody>
      </p:sp>
      <p:sp>
        <p:nvSpPr>
          <p:cNvPr id="3" name="Shape 1"/>
          <p:cNvSpPr/>
          <p:nvPr/>
        </p:nvSpPr>
        <p:spPr>
          <a:xfrm>
            <a:off x="548640" y="640080"/>
            <a:ext cx="502920" cy="0"/>
          </a:xfrm>
          <a:prstGeom prst="line">
            <a:avLst/>
          </a:prstGeom>
          <a:noFill/>
          <a:ln w="28575">
            <a:solidFill>
              <a:srgbClr val="16233F"/>
            </a:solidFill>
            <a:prstDash val="solid"/>
          </a:ln>
        </p:spPr>
      </p:sp>
      <p:sp>
        <p:nvSpPr>
          <p:cNvPr id="4" name="Text 2"/>
          <p:cNvSpPr/>
          <p:nvPr/>
        </p:nvSpPr>
        <p:spPr>
          <a:xfrm>
            <a:off x="548640" y="694944"/>
            <a:ext cx="11094415" cy="402336"/>
          </a:xfrm>
          <a:prstGeom prst="rect">
            <a:avLst/>
          </a:prstGeom>
          <a:noFill/>
        </p:spPr>
        <p:txBody>
          <a:bodyPr wrap="square" lIns="0" tIns="0" rIns="0" bIns="0" rtlCol="0" anchor="ctr"/>
          <a:lstStyle/>
          <a:p>
            <a:pPr marL="0" indent="0">
              <a:buNone/>
            </a:pPr>
            <a:r>
              <a:rPr lang="en-US" sz="2100" b="1" dirty="0">
                <a:solidFill>
                  <a:srgbClr val="16233F"/>
                </a:solidFill>
                <a:latin typeface="Cambria" panose="02040503050406030204" pitchFamily="34" charset="0"/>
                <a:ea typeface="Cambria" panose="02040503050406030204" pitchFamily="34" charset="-122"/>
                <a:cs typeface="Cambria" panose="02040503050406030204" pitchFamily="34" charset="-120"/>
              </a:rPr>
              <a:t>Selecting Financial Inclusion Indicators</a:t>
            </a:r>
            <a:endParaRPr lang="en-US" sz="2100" dirty="0"/>
          </a:p>
        </p:txBody>
      </p:sp>
      <p:sp>
        <p:nvSpPr>
          <p:cNvPr id="5" name="Text 3"/>
          <p:cNvSpPr/>
          <p:nvPr/>
        </p:nvSpPr>
        <p:spPr>
          <a:xfrm>
            <a:off x="548640" y="1115568"/>
            <a:ext cx="11094415" cy="237744"/>
          </a:xfrm>
          <a:prstGeom prst="rect">
            <a:avLst/>
          </a:prstGeom>
          <a:noFill/>
        </p:spPr>
        <p:txBody>
          <a:bodyPr wrap="square" lIns="0" tIns="0" rIns="0" bIns="0" rtlCol="0" anchor="ctr"/>
          <a:lstStyle/>
          <a:p>
            <a:pPr marL="0" indent="0">
              <a:buNone/>
            </a:pPr>
            <a:r>
              <a:rPr lang="en-US" sz="1100" i="1" dirty="0">
                <a:solidFill>
                  <a:srgbClr val="5B6472"/>
                </a:solidFill>
                <a:latin typeface="Calibri" panose="020F0502020204030204" pitchFamily="34" charset="0"/>
                <a:ea typeface="Calibri" panose="020F0502020204030204" pitchFamily="34" charset="-122"/>
                <a:cs typeface="Calibri" panose="020F0502020204030204" pitchFamily="34" charset="-120"/>
              </a:rPr>
              <a:t>The study uses a focused set of state-level indicators to capture the multidimensional nature of financial inclusion.</a:t>
            </a:r>
            <a:endParaRPr lang="en-US" sz="1100" dirty="0"/>
          </a:p>
        </p:txBody>
      </p:sp>
      <p:grpSp>
        <p:nvGrpSpPr>
          <p:cNvPr id="51" name="Group 50"/>
          <p:cNvGrpSpPr/>
          <p:nvPr/>
        </p:nvGrpSpPr>
        <p:grpSpPr>
          <a:xfrm>
            <a:off x="548640" y="1417320"/>
            <a:ext cx="11094720" cy="577850"/>
            <a:chOff x="864" y="2232"/>
            <a:chExt cx="11160" cy="1728"/>
          </a:xfrm>
        </p:grpSpPr>
        <p:sp>
          <p:nvSpPr>
            <p:cNvPr id="6" name="Shape 4"/>
            <p:cNvSpPr/>
            <p:nvPr/>
          </p:nvSpPr>
          <p:spPr>
            <a:xfrm>
              <a:off x="864" y="2232"/>
              <a:ext cx="11160" cy="1728"/>
            </a:xfrm>
            <a:prstGeom prst="roundRect">
              <a:avLst>
                <a:gd name="adj" fmla="val 7500"/>
              </a:avLst>
            </a:prstGeom>
            <a:solidFill>
              <a:srgbClr val="F4F4F2"/>
            </a:solidFill>
            <a:ln w="12700">
              <a:solidFill>
                <a:srgbClr val="E1E1DD"/>
              </a:solidFill>
              <a:prstDash val="solid"/>
            </a:ln>
          </p:spPr>
        </p:sp>
        <p:sp>
          <p:nvSpPr>
            <p:cNvPr id="7" name="Text 5"/>
            <p:cNvSpPr/>
            <p:nvPr/>
          </p:nvSpPr>
          <p:spPr>
            <a:xfrm>
              <a:off x="1267" y="2491"/>
              <a:ext cx="10354" cy="1210"/>
            </a:xfrm>
            <a:prstGeom prst="rect">
              <a:avLst/>
            </a:prstGeom>
            <a:noFill/>
          </p:spPr>
          <p:txBody>
            <a:bodyPr wrap="square" lIns="0" tIns="0" rIns="0" bIns="0" rtlCol="0" anchor="ctr"/>
            <a:lstStyle/>
            <a:p>
              <a:pPr marL="0" indent="0">
                <a:lnSpc>
                  <a:spcPct val="128000"/>
                </a:lnSpc>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The RBI FI-Index uses 97 indicators for national monitoring. This study selects 10 consistently available state-level indicators that provide broad coverage of the three dimensions of financial inclusion while ensuring comparability across states and over time.</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grpSp>
      <p:grpSp>
        <p:nvGrpSpPr>
          <p:cNvPr id="52" name="Group 51"/>
          <p:cNvGrpSpPr/>
          <p:nvPr/>
        </p:nvGrpSpPr>
        <p:grpSpPr>
          <a:xfrm>
            <a:off x="548640" y="2178050"/>
            <a:ext cx="11094720" cy="4168140"/>
            <a:chOff x="864" y="4176"/>
            <a:chExt cx="17472" cy="5818"/>
          </a:xfrm>
        </p:grpSpPr>
        <p:sp>
          <p:nvSpPr>
            <p:cNvPr id="14" name="Shape 12"/>
            <p:cNvSpPr/>
            <p:nvPr/>
          </p:nvSpPr>
          <p:spPr>
            <a:xfrm>
              <a:off x="864" y="4176"/>
              <a:ext cx="17472" cy="490"/>
            </a:xfrm>
            <a:prstGeom prst="rect">
              <a:avLst/>
            </a:prstGeom>
            <a:solidFill>
              <a:srgbClr val="16233F"/>
            </a:solidFill>
          </p:spPr>
        </p:sp>
        <p:sp>
          <p:nvSpPr>
            <p:cNvPr id="15" name="Text 13"/>
            <p:cNvSpPr/>
            <p:nvPr/>
          </p:nvSpPr>
          <p:spPr>
            <a:xfrm>
              <a:off x="1181" y="4176"/>
              <a:ext cx="3931" cy="490"/>
            </a:xfrm>
            <a:prstGeom prst="rect">
              <a:avLst/>
            </a:prstGeom>
            <a:noFill/>
          </p:spPr>
          <p:txBody>
            <a:bodyPr wrap="square" lIns="0" tIns="0" rIns="0" bIns="0" rtlCol="0" anchor="ctr"/>
            <a:lstStyle/>
            <a:p>
              <a:pPr marL="0" indent="0">
                <a:buNone/>
              </a:pPr>
              <a:r>
                <a:rPr lang="en-US" sz="1400" b="1" kern="0" spc="60" dirty="0">
                  <a:solidFill>
                    <a:srgbClr val="FFFFFF"/>
                  </a:solidFill>
                  <a:latin typeface="Calibri" panose="020F0502020204030204" pitchFamily="34" charset="0"/>
                  <a:ea typeface="Calibri" panose="020F0502020204030204" pitchFamily="34" charset="-122"/>
                  <a:cs typeface="Calibri" panose="020F0502020204030204" pitchFamily="34" charset="-120"/>
                </a:rPr>
                <a:t>VARIABLE</a:t>
              </a:r>
              <a:endParaRPr lang="en-US" sz="1400" b="1" kern="0" spc="6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p:nvPr/>
          </p:nvSpPr>
          <p:spPr>
            <a:xfrm>
              <a:off x="5429" y="4176"/>
              <a:ext cx="12590" cy="490"/>
            </a:xfrm>
            <a:prstGeom prst="rect">
              <a:avLst/>
            </a:prstGeom>
            <a:noFill/>
          </p:spPr>
          <p:txBody>
            <a:bodyPr wrap="square" lIns="0" tIns="0" rIns="0" bIns="0" rtlCol="0" anchor="ctr"/>
            <a:lstStyle/>
            <a:p>
              <a:pPr marL="0" indent="0">
                <a:buNone/>
              </a:pPr>
              <a:r>
                <a:rPr lang="en-US" sz="1400" b="1" kern="0" spc="60" dirty="0">
                  <a:solidFill>
                    <a:srgbClr val="FFFFFF"/>
                  </a:solidFill>
                  <a:latin typeface="Calibri" panose="020F0502020204030204" pitchFamily="34" charset="0"/>
                  <a:ea typeface="Calibri" panose="020F0502020204030204" pitchFamily="34" charset="-122"/>
                  <a:cs typeface="Calibri" panose="020F0502020204030204" pitchFamily="34" charset="-120"/>
                </a:rPr>
                <a:t>JUSTIFICATION FOR INCLUSION</a:t>
              </a:r>
              <a:endParaRPr lang="en-US" sz="1400" b="1" kern="0" spc="6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5"/>
            <p:cNvSpPr/>
            <p:nvPr/>
          </p:nvSpPr>
          <p:spPr>
            <a:xfrm>
              <a:off x="864" y="4666"/>
              <a:ext cx="17472" cy="533"/>
            </a:xfrm>
            <a:prstGeom prst="rect">
              <a:avLst/>
            </a:prstGeom>
            <a:solidFill>
              <a:srgbClr val="FAFAF9"/>
            </a:solidFill>
            <a:ln w="6350">
              <a:solidFill>
                <a:srgbClr val="E1E1DD"/>
              </a:solidFill>
              <a:prstDash val="solid"/>
            </a:ln>
          </p:spPr>
        </p:sp>
        <p:sp>
          <p:nvSpPr>
            <p:cNvPr id="18" name="Text 16"/>
            <p:cNvSpPr/>
            <p:nvPr/>
          </p:nvSpPr>
          <p:spPr>
            <a:xfrm>
              <a:off x="1181" y="4666"/>
              <a:ext cx="3787" cy="533"/>
            </a:xfrm>
            <a:prstGeom prst="rect">
              <a:avLst/>
            </a:prstGeom>
            <a:noFill/>
          </p:spPr>
          <p:txBody>
            <a:bodyPr wrap="square" lIns="0" tIns="0" rIns="0" bIns="0" rtlCol="0" anchor="ctr"/>
            <a:lstStyle/>
            <a:p>
              <a:pPr marL="0" indent="0">
                <a:buNone/>
              </a:pPr>
              <a:r>
                <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rPr>
                <a:t>Deposit Accounts</a:t>
              </a:r>
              <a:endPar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p:nvPr/>
          </p:nvSpPr>
          <p:spPr>
            <a:xfrm>
              <a:off x="5429" y="4666"/>
              <a:ext cx="12590" cy="533"/>
            </a:xfrm>
            <a:prstGeom prst="rect">
              <a:avLst/>
            </a:prstGeom>
            <a:noFill/>
          </p:spPr>
          <p:txBody>
            <a:bodyPr wrap="square" lIns="0" tIns="0" rIns="0" bIns="0" rtlCol="0" anchor="ctr"/>
            <a:lstStyle/>
            <a:p>
              <a:pPr marL="0" indent="0">
                <a:buNone/>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Measures banking penetration through account ownership.</a:t>
              </a:r>
              <a:endPar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8"/>
            <p:cNvSpPr/>
            <p:nvPr/>
          </p:nvSpPr>
          <p:spPr>
            <a:xfrm>
              <a:off x="864" y="5198"/>
              <a:ext cx="17472" cy="533"/>
            </a:xfrm>
            <a:prstGeom prst="rect">
              <a:avLst/>
            </a:prstGeom>
            <a:solidFill>
              <a:srgbClr val="FFFFFF"/>
            </a:solidFill>
            <a:ln w="6350">
              <a:solidFill>
                <a:srgbClr val="E1E1DD"/>
              </a:solidFill>
              <a:prstDash val="solid"/>
            </a:ln>
          </p:spPr>
        </p:sp>
        <p:sp>
          <p:nvSpPr>
            <p:cNvPr id="21" name="Text 19"/>
            <p:cNvSpPr/>
            <p:nvPr/>
          </p:nvSpPr>
          <p:spPr>
            <a:xfrm>
              <a:off x="1181" y="5198"/>
              <a:ext cx="3787" cy="533"/>
            </a:xfrm>
            <a:prstGeom prst="rect">
              <a:avLst/>
            </a:prstGeom>
            <a:noFill/>
          </p:spPr>
          <p:txBody>
            <a:bodyPr wrap="square" lIns="0" tIns="0" rIns="0" bIns="0" rtlCol="0" anchor="ctr"/>
            <a:lstStyle/>
            <a:p>
              <a:pPr marL="0" indent="0">
                <a:buNone/>
              </a:pPr>
              <a:r>
                <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rPr>
                <a:t>Credit Accounts</a:t>
              </a:r>
              <a:endPar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20"/>
            <p:cNvSpPr/>
            <p:nvPr/>
          </p:nvSpPr>
          <p:spPr>
            <a:xfrm>
              <a:off x="5429" y="5198"/>
              <a:ext cx="12590" cy="533"/>
            </a:xfrm>
            <a:prstGeom prst="rect">
              <a:avLst/>
            </a:prstGeom>
            <a:noFill/>
          </p:spPr>
          <p:txBody>
            <a:bodyPr wrap="square" lIns="0" tIns="0" rIns="0" bIns="0" rtlCol="0" anchor="ctr"/>
            <a:lstStyle/>
            <a:p>
              <a:pPr marL="0" indent="0">
                <a:buNone/>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Captures access to formal credit.</a:t>
              </a:r>
              <a:endPar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Shape 21"/>
            <p:cNvSpPr/>
            <p:nvPr/>
          </p:nvSpPr>
          <p:spPr>
            <a:xfrm>
              <a:off x="864" y="5731"/>
              <a:ext cx="17472" cy="533"/>
            </a:xfrm>
            <a:prstGeom prst="rect">
              <a:avLst/>
            </a:prstGeom>
            <a:solidFill>
              <a:srgbClr val="FAFAF9"/>
            </a:solidFill>
            <a:ln w="6350">
              <a:solidFill>
                <a:srgbClr val="E1E1DD"/>
              </a:solidFill>
              <a:prstDash val="solid"/>
            </a:ln>
          </p:spPr>
        </p:sp>
        <p:sp>
          <p:nvSpPr>
            <p:cNvPr id="24" name="Text 22"/>
            <p:cNvSpPr/>
            <p:nvPr/>
          </p:nvSpPr>
          <p:spPr>
            <a:xfrm>
              <a:off x="1181" y="5731"/>
              <a:ext cx="3787" cy="533"/>
            </a:xfrm>
            <a:prstGeom prst="rect">
              <a:avLst/>
            </a:prstGeom>
            <a:noFill/>
          </p:spPr>
          <p:txBody>
            <a:bodyPr wrap="square" lIns="0" tIns="0" rIns="0" bIns="0" rtlCol="0" anchor="ctr"/>
            <a:lstStyle/>
            <a:p>
              <a:pPr marL="0" indent="0">
                <a:buNone/>
              </a:pPr>
              <a:r>
                <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rPr>
                <a:t>SCB Offices</a:t>
              </a:r>
              <a:endPar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Text 23"/>
            <p:cNvSpPr/>
            <p:nvPr/>
          </p:nvSpPr>
          <p:spPr>
            <a:xfrm>
              <a:off x="5429" y="5731"/>
              <a:ext cx="12590" cy="533"/>
            </a:xfrm>
            <a:prstGeom prst="rect">
              <a:avLst/>
            </a:prstGeom>
            <a:noFill/>
          </p:spPr>
          <p:txBody>
            <a:bodyPr wrap="square" lIns="0" tIns="0" rIns="0" bIns="0" rtlCol="0" anchor="ctr"/>
            <a:lstStyle/>
            <a:p>
              <a:pPr marL="0" indent="0">
                <a:buNone/>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Reflects the availability of banking infrastructure.</a:t>
              </a:r>
              <a:endPar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Shape 24"/>
            <p:cNvSpPr/>
            <p:nvPr/>
          </p:nvSpPr>
          <p:spPr>
            <a:xfrm>
              <a:off x="864" y="6264"/>
              <a:ext cx="17472" cy="533"/>
            </a:xfrm>
            <a:prstGeom prst="rect">
              <a:avLst/>
            </a:prstGeom>
            <a:solidFill>
              <a:srgbClr val="FFFFFF"/>
            </a:solidFill>
            <a:ln w="6350">
              <a:solidFill>
                <a:srgbClr val="E1E1DD"/>
              </a:solidFill>
              <a:prstDash val="solid"/>
            </a:ln>
          </p:spPr>
        </p:sp>
        <p:sp>
          <p:nvSpPr>
            <p:cNvPr id="27" name="Text 25"/>
            <p:cNvSpPr/>
            <p:nvPr/>
          </p:nvSpPr>
          <p:spPr>
            <a:xfrm>
              <a:off x="1181" y="6264"/>
              <a:ext cx="3787" cy="533"/>
            </a:xfrm>
            <a:prstGeom prst="rect">
              <a:avLst/>
            </a:prstGeom>
            <a:noFill/>
          </p:spPr>
          <p:txBody>
            <a:bodyPr wrap="square" lIns="0" tIns="0" rIns="0" bIns="0" rtlCol="0" anchor="ctr"/>
            <a:lstStyle/>
            <a:p>
              <a:pPr marL="0" indent="0">
                <a:buNone/>
              </a:pPr>
              <a:r>
                <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rPr>
                <a:t>Rural SCB Offices</a:t>
              </a:r>
              <a:endPar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Text 26"/>
            <p:cNvSpPr/>
            <p:nvPr/>
          </p:nvSpPr>
          <p:spPr>
            <a:xfrm>
              <a:off x="5429" y="6264"/>
              <a:ext cx="12590" cy="533"/>
            </a:xfrm>
            <a:prstGeom prst="rect">
              <a:avLst/>
            </a:prstGeom>
            <a:noFill/>
          </p:spPr>
          <p:txBody>
            <a:bodyPr wrap="square" lIns="0" tIns="0" rIns="0" bIns="0" rtlCol="0" anchor="ctr"/>
            <a:lstStyle/>
            <a:p>
              <a:pPr marL="0" indent="0">
                <a:buNone/>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Measures rural financial outreach.</a:t>
              </a:r>
              <a:endPar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Shape 27"/>
            <p:cNvSpPr/>
            <p:nvPr/>
          </p:nvSpPr>
          <p:spPr>
            <a:xfrm>
              <a:off x="864" y="6797"/>
              <a:ext cx="17472" cy="533"/>
            </a:xfrm>
            <a:prstGeom prst="rect">
              <a:avLst/>
            </a:prstGeom>
            <a:solidFill>
              <a:srgbClr val="FAFAF9"/>
            </a:solidFill>
            <a:ln w="6350">
              <a:solidFill>
                <a:srgbClr val="E1E1DD"/>
              </a:solidFill>
              <a:prstDash val="solid"/>
            </a:ln>
          </p:spPr>
        </p:sp>
        <p:sp>
          <p:nvSpPr>
            <p:cNvPr id="30" name="Text 28"/>
            <p:cNvSpPr/>
            <p:nvPr/>
          </p:nvSpPr>
          <p:spPr>
            <a:xfrm>
              <a:off x="1181" y="6797"/>
              <a:ext cx="3787" cy="533"/>
            </a:xfrm>
            <a:prstGeom prst="rect">
              <a:avLst/>
            </a:prstGeom>
            <a:noFill/>
          </p:spPr>
          <p:txBody>
            <a:bodyPr wrap="square" lIns="0" tIns="0" rIns="0" bIns="0" rtlCol="0" anchor="ctr"/>
            <a:lstStyle/>
            <a:p>
              <a:pPr marL="0" indent="0">
                <a:buNone/>
              </a:pPr>
              <a:r>
                <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rPr>
                <a:t>Bank Employees</a:t>
              </a:r>
              <a:endPar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31" name="Text 29"/>
            <p:cNvSpPr/>
            <p:nvPr/>
          </p:nvSpPr>
          <p:spPr>
            <a:xfrm>
              <a:off x="5429" y="6797"/>
              <a:ext cx="12590" cy="533"/>
            </a:xfrm>
            <a:prstGeom prst="rect">
              <a:avLst/>
            </a:prstGeom>
            <a:noFill/>
          </p:spPr>
          <p:txBody>
            <a:bodyPr wrap="square" lIns="0" tIns="0" rIns="0" bIns="0" rtlCol="0" anchor="ctr"/>
            <a:lstStyle/>
            <a:p>
              <a:pPr marL="0" indent="0">
                <a:buNone/>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Indicates the banking system's service capacity.</a:t>
              </a:r>
              <a:endPar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32" name="Shape 30"/>
            <p:cNvSpPr/>
            <p:nvPr/>
          </p:nvSpPr>
          <p:spPr>
            <a:xfrm>
              <a:off x="864" y="7330"/>
              <a:ext cx="17472" cy="533"/>
            </a:xfrm>
            <a:prstGeom prst="rect">
              <a:avLst/>
            </a:prstGeom>
            <a:solidFill>
              <a:srgbClr val="FFFFFF"/>
            </a:solidFill>
            <a:ln w="6350">
              <a:solidFill>
                <a:srgbClr val="E1E1DD"/>
              </a:solidFill>
              <a:prstDash val="solid"/>
            </a:ln>
          </p:spPr>
        </p:sp>
        <p:sp>
          <p:nvSpPr>
            <p:cNvPr id="33" name="Text 31"/>
            <p:cNvSpPr/>
            <p:nvPr/>
          </p:nvSpPr>
          <p:spPr>
            <a:xfrm>
              <a:off x="1181" y="7330"/>
              <a:ext cx="3787" cy="533"/>
            </a:xfrm>
            <a:prstGeom prst="rect">
              <a:avLst/>
            </a:prstGeom>
            <a:noFill/>
          </p:spPr>
          <p:txBody>
            <a:bodyPr wrap="square" lIns="0" tIns="0" rIns="0" bIns="0" rtlCol="0" anchor="ctr"/>
            <a:lstStyle/>
            <a:p>
              <a:pPr marL="0" indent="0">
                <a:buNone/>
              </a:pPr>
              <a:r>
                <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rPr>
                <a:t>Insurance Offices</a:t>
              </a:r>
              <a:endPar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Text 32"/>
            <p:cNvSpPr/>
            <p:nvPr/>
          </p:nvSpPr>
          <p:spPr>
            <a:xfrm>
              <a:off x="5429" y="7330"/>
              <a:ext cx="12590" cy="533"/>
            </a:xfrm>
            <a:prstGeom prst="rect">
              <a:avLst/>
            </a:prstGeom>
            <a:noFill/>
          </p:spPr>
          <p:txBody>
            <a:bodyPr wrap="square" lIns="0" tIns="0" rIns="0" bIns="0" rtlCol="0" anchor="ctr"/>
            <a:lstStyle/>
            <a:p>
              <a:pPr marL="0" indent="0">
                <a:buNone/>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Captures physical access to insurance services.</a:t>
              </a:r>
              <a:endPar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35" name="Shape 33"/>
            <p:cNvSpPr/>
            <p:nvPr/>
          </p:nvSpPr>
          <p:spPr>
            <a:xfrm>
              <a:off x="864" y="7862"/>
              <a:ext cx="17472" cy="533"/>
            </a:xfrm>
            <a:prstGeom prst="rect">
              <a:avLst/>
            </a:prstGeom>
            <a:solidFill>
              <a:srgbClr val="FAFAF9"/>
            </a:solidFill>
            <a:ln w="6350">
              <a:solidFill>
                <a:srgbClr val="E1E1DD"/>
              </a:solidFill>
              <a:prstDash val="solid"/>
            </a:ln>
          </p:spPr>
        </p:sp>
        <p:sp>
          <p:nvSpPr>
            <p:cNvPr id="36" name="Text 34"/>
            <p:cNvSpPr/>
            <p:nvPr/>
          </p:nvSpPr>
          <p:spPr>
            <a:xfrm>
              <a:off x="1181" y="7862"/>
              <a:ext cx="3787" cy="533"/>
            </a:xfrm>
            <a:prstGeom prst="rect">
              <a:avLst/>
            </a:prstGeom>
            <a:noFill/>
          </p:spPr>
          <p:txBody>
            <a:bodyPr wrap="square" lIns="0" tIns="0" rIns="0" bIns="0" rtlCol="0" anchor="ctr"/>
            <a:lstStyle/>
            <a:p>
              <a:pPr marL="0" indent="0">
                <a:buNone/>
              </a:pPr>
              <a:r>
                <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rPr>
                <a:t>Internet Subscribers</a:t>
              </a:r>
              <a:endPar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37" name="Text 35"/>
            <p:cNvSpPr/>
            <p:nvPr/>
          </p:nvSpPr>
          <p:spPr>
            <a:xfrm>
              <a:off x="5429" y="7862"/>
              <a:ext cx="12590" cy="533"/>
            </a:xfrm>
            <a:prstGeom prst="rect">
              <a:avLst/>
            </a:prstGeom>
            <a:noFill/>
          </p:spPr>
          <p:txBody>
            <a:bodyPr wrap="square" lIns="0" tIns="0" rIns="0" bIns="0" rtlCol="0" anchor="ctr"/>
            <a:lstStyle/>
            <a:p>
              <a:pPr marL="0" indent="0">
                <a:buNone/>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Proxies digital financial infrastructure.</a:t>
              </a:r>
              <a:endPar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38" name="Shape 36"/>
            <p:cNvSpPr/>
            <p:nvPr/>
          </p:nvSpPr>
          <p:spPr>
            <a:xfrm>
              <a:off x="864" y="8395"/>
              <a:ext cx="17472" cy="533"/>
            </a:xfrm>
            <a:prstGeom prst="rect">
              <a:avLst/>
            </a:prstGeom>
            <a:solidFill>
              <a:srgbClr val="FFFFFF"/>
            </a:solidFill>
            <a:ln w="6350">
              <a:solidFill>
                <a:srgbClr val="E1E1DD"/>
              </a:solidFill>
              <a:prstDash val="solid"/>
            </a:ln>
          </p:spPr>
        </p:sp>
        <p:sp>
          <p:nvSpPr>
            <p:cNvPr id="39" name="Text 37"/>
            <p:cNvSpPr/>
            <p:nvPr/>
          </p:nvSpPr>
          <p:spPr>
            <a:xfrm>
              <a:off x="1181" y="8395"/>
              <a:ext cx="3787" cy="533"/>
            </a:xfrm>
            <a:prstGeom prst="rect">
              <a:avLst/>
            </a:prstGeom>
            <a:noFill/>
          </p:spPr>
          <p:txBody>
            <a:bodyPr wrap="square" lIns="0" tIns="0" rIns="0" bIns="0" rtlCol="0" anchor="ctr"/>
            <a:lstStyle/>
            <a:p>
              <a:pPr marL="0" indent="0">
                <a:buNone/>
              </a:pPr>
              <a:r>
                <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rPr>
                <a:t>Deposits per Capita</a:t>
              </a:r>
              <a:endPar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40" name="Text 38"/>
            <p:cNvSpPr/>
            <p:nvPr/>
          </p:nvSpPr>
          <p:spPr>
            <a:xfrm>
              <a:off x="5429" y="8395"/>
              <a:ext cx="12590" cy="533"/>
            </a:xfrm>
            <a:prstGeom prst="rect">
              <a:avLst/>
            </a:prstGeom>
            <a:noFill/>
          </p:spPr>
          <p:txBody>
            <a:bodyPr wrap="square" lIns="0" tIns="0" rIns="0" bIns="0" rtlCol="0" anchor="ctr"/>
            <a:lstStyle/>
            <a:p>
              <a:pPr marL="0" indent="0">
                <a:buNone/>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Reflects utilisation of formal savings services.</a:t>
              </a:r>
              <a:endPar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41" name="Shape 39"/>
            <p:cNvSpPr/>
            <p:nvPr/>
          </p:nvSpPr>
          <p:spPr>
            <a:xfrm>
              <a:off x="864" y="8928"/>
              <a:ext cx="17472" cy="533"/>
            </a:xfrm>
            <a:prstGeom prst="rect">
              <a:avLst/>
            </a:prstGeom>
            <a:solidFill>
              <a:srgbClr val="FAFAF9"/>
            </a:solidFill>
            <a:ln w="6350">
              <a:solidFill>
                <a:srgbClr val="E1E1DD"/>
              </a:solidFill>
              <a:prstDash val="solid"/>
            </a:ln>
          </p:spPr>
        </p:sp>
        <p:sp>
          <p:nvSpPr>
            <p:cNvPr id="42" name="Text 40"/>
            <p:cNvSpPr/>
            <p:nvPr/>
          </p:nvSpPr>
          <p:spPr>
            <a:xfrm>
              <a:off x="1181" y="8928"/>
              <a:ext cx="3787" cy="533"/>
            </a:xfrm>
            <a:prstGeom prst="rect">
              <a:avLst/>
            </a:prstGeom>
            <a:noFill/>
          </p:spPr>
          <p:txBody>
            <a:bodyPr wrap="square" lIns="0" tIns="0" rIns="0" bIns="0" rtlCol="0" anchor="ctr"/>
            <a:lstStyle/>
            <a:p>
              <a:pPr marL="0" indent="0">
                <a:buNone/>
              </a:pPr>
              <a:r>
                <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rPr>
                <a:t>Credit Outstanding per Capita</a:t>
              </a:r>
              <a:endPar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43" name="Text 41"/>
            <p:cNvSpPr/>
            <p:nvPr/>
          </p:nvSpPr>
          <p:spPr>
            <a:xfrm>
              <a:off x="5429" y="8928"/>
              <a:ext cx="12590" cy="533"/>
            </a:xfrm>
            <a:prstGeom prst="rect">
              <a:avLst/>
            </a:prstGeom>
            <a:noFill/>
          </p:spPr>
          <p:txBody>
            <a:bodyPr wrap="square" lIns="0" tIns="0" rIns="0" bIns="0" rtlCol="0" anchor="ctr"/>
            <a:lstStyle/>
            <a:p>
              <a:pPr marL="0" indent="0">
                <a:buNone/>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Measures utilisation of institutional credit.</a:t>
              </a:r>
              <a:endPar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44" name="Shape 42"/>
            <p:cNvSpPr/>
            <p:nvPr/>
          </p:nvSpPr>
          <p:spPr>
            <a:xfrm>
              <a:off x="864" y="9461"/>
              <a:ext cx="17472" cy="533"/>
            </a:xfrm>
            <a:prstGeom prst="rect">
              <a:avLst/>
            </a:prstGeom>
            <a:solidFill>
              <a:srgbClr val="FFFFFF"/>
            </a:solidFill>
            <a:ln w="6350">
              <a:solidFill>
                <a:srgbClr val="E1E1DD"/>
              </a:solidFill>
              <a:prstDash val="solid"/>
            </a:ln>
          </p:spPr>
        </p:sp>
        <p:sp>
          <p:nvSpPr>
            <p:cNvPr id="45" name="Text 43"/>
            <p:cNvSpPr/>
            <p:nvPr/>
          </p:nvSpPr>
          <p:spPr>
            <a:xfrm>
              <a:off x="1181" y="9461"/>
              <a:ext cx="3787" cy="533"/>
            </a:xfrm>
            <a:prstGeom prst="rect">
              <a:avLst/>
            </a:prstGeom>
            <a:noFill/>
          </p:spPr>
          <p:txBody>
            <a:bodyPr wrap="square" lIns="0" tIns="0" rIns="0" bIns="0" rtlCol="0" anchor="ctr"/>
            <a:lstStyle/>
            <a:p>
              <a:pPr marL="0" indent="0">
                <a:buNone/>
              </a:pPr>
              <a:r>
                <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rPr>
                <a:t>Insurance Density</a:t>
              </a:r>
              <a:endPar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46" name="Text 44"/>
            <p:cNvSpPr/>
            <p:nvPr/>
          </p:nvSpPr>
          <p:spPr>
            <a:xfrm>
              <a:off x="5429" y="9461"/>
              <a:ext cx="12590" cy="533"/>
            </a:xfrm>
            <a:prstGeom prst="rect">
              <a:avLst/>
            </a:prstGeom>
            <a:noFill/>
          </p:spPr>
          <p:txBody>
            <a:bodyPr wrap="square" lIns="0" tIns="0" rIns="0" bIns="0" rtlCol="0" anchor="ctr"/>
            <a:lstStyle/>
            <a:p>
              <a:pPr marL="0" indent="0">
                <a:buNone/>
              </a:pPr>
              <a:r>
                <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rPr>
                <a:t>Captures utilisation of formal insurance services.</a:t>
              </a:r>
              <a:endParaRPr lang="en-US" sz="14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47" name="Shape 45"/>
            <p:cNvSpPr/>
            <p:nvPr/>
          </p:nvSpPr>
          <p:spPr>
            <a:xfrm>
              <a:off x="864" y="4176"/>
              <a:ext cx="17472" cy="5818"/>
            </a:xfrm>
            <a:prstGeom prst="rect">
              <a:avLst/>
            </a:prstGeom>
            <a:ln w="15875">
              <a:solidFill>
                <a:srgbClr val="E1E1DD"/>
              </a:solidFill>
              <a:prstDash val="solid"/>
            </a:ln>
          </p:spPr>
        </p:sp>
        <p:sp>
          <p:nvSpPr>
            <p:cNvPr id="48" name="Shape 46"/>
            <p:cNvSpPr/>
            <p:nvPr/>
          </p:nvSpPr>
          <p:spPr>
            <a:xfrm>
              <a:off x="5112" y="4176"/>
              <a:ext cx="0" cy="5818"/>
            </a:xfrm>
            <a:prstGeom prst="line">
              <a:avLst/>
            </a:prstGeom>
            <a:noFill/>
            <a:ln w="12700">
              <a:solidFill>
                <a:srgbClr val="E1E1DD"/>
              </a:solidFill>
              <a:prstDash val="solid"/>
            </a:ln>
          </p:spPr>
        </p:sp>
      </p:grpSp>
      <p:sp>
        <p:nvSpPr>
          <p:cNvPr id="49" name="Text 47"/>
          <p:cNvSpPr/>
          <p:nvPr/>
        </p:nvSpPr>
        <p:spPr>
          <a:xfrm>
            <a:off x="548640" y="6547104"/>
            <a:ext cx="7315200" cy="182880"/>
          </a:xfrm>
          <a:prstGeom prst="rect">
            <a:avLst/>
          </a:prstGeom>
          <a:noFill/>
        </p:spPr>
        <p:txBody>
          <a:bodyPr wrap="square" lIns="0" tIns="0" rIns="0" bIns="0" rtlCol="0" anchor="ctr"/>
          <a:lstStyle/>
          <a:p>
            <a:pPr marL="0" indent="0">
              <a:buNone/>
            </a:pPr>
            <a:r>
              <a:rPr lang="en-US" sz="85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548640" y="384048"/>
            <a:ext cx="7315200" cy="292608"/>
          </a:xfrm>
          <a:prstGeom prst="rect">
            <a:avLst/>
          </a:prstGeom>
          <a:noFill/>
        </p:spPr>
        <p:txBody>
          <a:bodyPr wrap="square" lIns="0" tIns="0" rIns="0" bIns="0" rtlCol="0" anchor="ctr"/>
          <a:lstStyle/>
          <a:p>
            <a:pPr marL="0" indent="0">
              <a:buNone/>
            </a:pPr>
            <a:r>
              <a:rPr lang="en-US" sz="115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05  ·  DATA &amp; METHODOLOGY</a:t>
            </a:r>
            <a:endParaRPr lang="en-US" sz="1150" dirty="0"/>
          </a:p>
        </p:txBody>
      </p:sp>
      <p:sp>
        <p:nvSpPr>
          <p:cNvPr id="3" name="Shape 1"/>
          <p:cNvSpPr/>
          <p:nvPr/>
        </p:nvSpPr>
        <p:spPr>
          <a:xfrm>
            <a:off x="548640" y="786384"/>
            <a:ext cx="502920" cy="0"/>
          </a:xfrm>
          <a:prstGeom prst="line">
            <a:avLst/>
          </a:prstGeom>
          <a:noFill/>
          <a:ln w="28575">
            <a:solidFill>
              <a:srgbClr val="16233F"/>
            </a:solidFill>
            <a:prstDash val="solid"/>
          </a:ln>
        </p:spPr>
      </p:sp>
      <p:sp>
        <p:nvSpPr>
          <p:cNvPr id="4" name="Text 2"/>
          <p:cNvSpPr/>
          <p:nvPr/>
        </p:nvSpPr>
        <p:spPr>
          <a:xfrm>
            <a:off x="548640" y="914400"/>
            <a:ext cx="11094415" cy="502920"/>
          </a:xfrm>
          <a:prstGeom prst="rect">
            <a:avLst/>
          </a:prstGeom>
          <a:noFill/>
        </p:spPr>
        <p:txBody>
          <a:bodyPr wrap="square" lIns="0" tIns="0" rIns="0" bIns="0" rtlCol="0" anchor="ctr"/>
          <a:lstStyle/>
          <a:p>
            <a:pPr marL="0" indent="0">
              <a:lnSpc>
                <a:spcPct val="105000"/>
              </a:lnSpc>
              <a:buNone/>
            </a:pPr>
            <a:r>
              <a:rPr lang="en-US" sz="2500" b="1" dirty="0">
                <a:solidFill>
                  <a:srgbClr val="16233F"/>
                </a:solidFill>
                <a:latin typeface="Cambria" panose="02040503050406030204" pitchFamily="34" charset="0"/>
                <a:ea typeface="Cambria" panose="02040503050406030204" pitchFamily="34" charset="-122"/>
                <a:cs typeface="Cambria" panose="02040503050406030204" pitchFamily="34" charset="-120"/>
              </a:rPr>
              <a:t>A Hierarchical Two-Stage PCA Methodology</a:t>
            </a:r>
            <a:endParaRPr lang="en-US" sz="2500" dirty="0"/>
          </a:p>
        </p:txBody>
      </p:sp>
      <p:sp>
        <p:nvSpPr>
          <p:cNvPr id="5" name="Text 3"/>
          <p:cNvSpPr/>
          <p:nvPr/>
        </p:nvSpPr>
        <p:spPr>
          <a:xfrm>
            <a:off x="548640" y="1426464"/>
            <a:ext cx="11094415" cy="274320"/>
          </a:xfrm>
          <a:prstGeom prst="rect">
            <a:avLst/>
          </a:prstGeom>
          <a:noFill/>
        </p:spPr>
        <p:txBody>
          <a:bodyPr wrap="square" lIns="0" tIns="0" rIns="0" bIns="0" rtlCol="0" anchor="ctr"/>
          <a:lstStyle/>
          <a:p>
            <a:pPr marL="0" indent="0">
              <a:buNone/>
            </a:pPr>
            <a:r>
              <a:rPr lang="en-US" sz="1200" i="1" dirty="0">
                <a:solidFill>
                  <a:srgbClr val="5B6472"/>
                </a:solidFill>
                <a:latin typeface="Calibri" panose="020F0502020204030204" pitchFamily="34" charset="0"/>
                <a:ea typeface="Calibri" panose="020F0502020204030204" pitchFamily="34" charset="-122"/>
                <a:cs typeface="Calibri" panose="020F0502020204030204" pitchFamily="34" charset="-120"/>
              </a:rPr>
              <a:t>Each dimension is summarised on its own terms first, so no dimension dominates the index simply by having more correlated indicators.</a:t>
            </a:r>
            <a:endParaRPr lang="en-US" sz="1200" dirty="0"/>
          </a:p>
        </p:txBody>
      </p:sp>
      <p:grpSp>
        <p:nvGrpSpPr>
          <p:cNvPr id="49" name="Group 48"/>
          <p:cNvGrpSpPr/>
          <p:nvPr/>
        </p:nvGrpSpPr>
        <p:grpSpPr>
          <a:xfrm>
            <a:off x="2793365" y="1883410"/>
            <a:ext cx="4070350" cy="4288790"/>
            <a:chOff x="4853" y="2693"/>
            <a:chExt cx="9490" cy="7027"/>
          </a:xfrm>
        </p:grpSpPr>
        <p:sp>
          <p:nvSpPr>
            <p:cNvPr id="6" name="Text 4"/>
            <p:cNvSpPr/>
            <p:nvPr/>
          </p:nvSpPr>
          <p:spPr>
            <a:xfrm>
              <a:off x="4853" y="2693"/>
              <a:ext cx="9490" cy="346"/>
            </a:xfrm>
            <a:prstGeom prst="rect">
              <a:avLst/>
            </a:prstGeom>
            <a:noFill/>
          </p:spPr>
          <p:txBody>
            <a:bodyPr wrap="square" lIns="0" tIns="0" rIns="0" bIns="0" rtlCol="0" anchor="ctr"/>
            <a:lstStyle/>
            <a:p>
              <a:pPr marL="0" indent="0">
                <a:buNone/>
              </a:pPr>
              <a:r>
                <a:rPr lang="en-US" sz="1000" b="1" kern="0" spc="150" dirty="0">
                  <a:solidFill>
                    <a:srgbClr val="5B6472"/>
                  </a:solidFill>
                  <a:latin typeface="Calibri" panose="020F0502020204030204" pitchFamily="34" charset="0"/>
                  <a:ea typeface="Calibri" panose="020F0502020204030204" pitchFamily="34" charset="-122"/>
                  <a:cs typeface="Calibri" panose="020F0502020204030204" pitchFamily="34" charset="-120"/>
                </a:rPr>
                <a:t>INPUT</a:t>
              </a:r>
              <a:endParaRPr lang="en-US" sz="1000" dirty="0"/>
            </a:p>
          </p:txBody>
        </p:sp>
        <p:sp>
          <p:nvSpPr>
            <p:cNvPr id="7" name="Shape 5"/>
            <p:cNvSpPr/>
            <p:nvPr/>
          </p:nvSpPr>
          <p:spPr>
            <a:xfrm>
              <a:off x="4853" y="3096"/>
              <a:ext cx="9490" cy="792"/>
            </a:xfrm>
            <a:prstGeom prst="roundRect">
              <a:avLst>
                <a:gd name="adj" fmla="val 14545"/>
              </a:avLst>
            </a:prstGeom>
            <a:solidFill>
              <a:srgbClr val="F4F4F2"/>
            </a:solidFill>
            <a:ln w="12700">
              <a:solidFill>
                <a:srgbClr val="E1E1DD"/>
              </a:solidFill>
              <a:prstDash val="solid"/>
            </a:ln>
          </p:spPr>
        </p:sp>
        <p:sp>
          <p:nvSpPr>
            <p:cNvPr id="8" name="Text 6"/>
            <p:cNvSpPr/>
            <p:nvPr/>
          </p:nvSpPr>
          <p:spPr>
            <a:xfrm>
              <a:off x="4853" y="3096"/>
              <a:ext cx="9490" cy="792"/>
            </a:xfrm>
            <a:prstGeom prst="rect">
              <a:avLst/>
            </a:prstGeom>
            <a:noFill/>
          </p:spPr>
          <p:txBody>
            <a:bodyPr wrap="square" lIns="0" tIns="0" rIns="0" bIns="0" rtlCol="0" anchor="ctr"/>
            <a:lstStyle/>
            <a:p>
              <a:pPr marL="0" indent="0" algn="ctr">
                <a:lnSpc>
                  <a:spcPct val="115000"/>
                </a:lnSpc>
                <a:buNone/>
              </a:pPr>
              <a:r>
                <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rPr>
                <a:t>10 Financial Inclusion Indicators</a:t>
              </a:r>
              <a:endParaRPr lang="en-US" sz="1400" dirty="0"/>
            </a:p>
          </p:txBody>
        </p:sp>
        <p:sp>
          <p:nvSpPr>
            <p:cNvPr id="9" name="Text 7"/>
            <p:cNvSpPr/>
            <p:nvPr/>
          </p:nvSpPr>
          <p:spPr>
            <a:xfrm>
              <a:off x="4853" y="4090"/>
              <a:ext cx="9490" cy="346"/>
            </a:xfrm>
            <a:prstGeom prst="rect">
              <a:avLst/>
            </a:prstGeom>
            <a:noFill/>
          </p:spPr>
          <p:txBody>
            <a:bodyPr wrap="square" lIns="0" tIns="0" rIns="0" bIns="0" rtlCol="0" anchor="ctr"/>
            <a:lstStyle/>
            <a:p>
              <a:pPr marL="0" indent="0">
                <a:buNone/>
              </a:pPr>
              <a:r>
                <a:rPr lang="en-US" sz="1000" b="1" kern="0" spc="150" dirty="0">
                  <a:solidFill>
                    <a:srgbClr val="5B6472"/>
                  </a:solidFill>
                  <a:latin typeface="Calibri" panose="020F0502020204030204" pitchFamily="34" charset="0"/>
                  <a:ea typeface="Calibri" panose="020F0502020204030204" pitchFamily="34" charset="-122"/>
                  <a:cs typeface="Calibri" panose="020F0502020204030204" pitchFamily="34" charset="-120"/>
                </a:rPr>
                <a:t>STAGE 1  ·  ONE PCA PER DIMENSION</a:t>
              </a:r>
              <a:endParaRPr lang="en-US" sz="1000" dirty="0"/>
            </a:p>
          </p:txBody>
        </p:sp>
        <p:sp>
          <p:nvSpPr>
            <p:cNvPr id="10" name="Shape 8"/>
            <p:cNvSpPr/>
            <p:nvPr/>
          </p:nvSpPr>
          <p:spPr>
            <a:xfrm>
              <a:off x="4853" y="4493"/>
              <a:ext cx="2990" cy="1512"/>
            </a:xfrm>
            <a:prstGeom prst="roundRect">
              <a:avLst>
                <a:gd name="adj" fmla="val 6667"/>
              </a:avLst>
            </a:prstGeom>
            <a:solidFill>
              <a:srgbClr val="F4F4F2"/>
            </a:solidFill>
            <a:ln w="12700">
              <a:solidFill>
                <a:srgbClr val="E1E1DD"/>
              </a:solidFill>
              <a:prstDash val="solid"/>
            </a:ln>
          </p:spPr>
        </p:sp>
        <p:sp>
          <p:nvSpPr>
            <p:cNvPr id="11" name="Text 9"/>
            <p:cNvSpPr/>
            <p:nvPr/>
          </p:nvSpPr>
          <p:spPr>
            <a:xfrm>
              <a:off x="4997" y="4493"/>
              <a:ext cx="2702" cy="1512"/>
            </a:xfrm>
            <a:prstGeom prst="rect">
              <a:avLst/>
            </a:prstGeom>
            <a:noFill/>
          </p:spPr>
          <p:txBody>
            <a:bodyPr wrap="square" lIns="0" tIns="0" rIns="0" bIns="0" rtlCol="0" anchor="ctr"/>
            <a:lstStyle/>
            <a:p>
              <a:pPr marL="0" indent="0" algn="ctr">
                <a:lnSpc>
                  <a:spcPct val="120000"/>
                </a:lnSpc>
                <a:buNone/>
              </a:pPr>
              <a:r>
                <a:rPr lang="en-US" sz="1300" b="1" dirty="0">
                  <a:solidFill>
                    <a:srgbClr val="16233F"/>
                  </a:solidFill>
                  <a:latin typeface="Calibri" panose="020F0502020204030204" pitchFamily="34" charset="0"/>
                  <a:ea typeface="Calibri" panose="020F0502020204030204" pitchFamily="34" charset="-122"/>
                  <a:cs typeface="Calibri" panose="020F0502020204030204" pitchFamily="34" charset="-120"/>
                </a:rPr>
                <a:t>Penetration
</a:t>
              </a:r>
              <a:r>
                <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rPr>
                <a:t>Stage 1 PCA
</a:t>
              </a:r>
              <a:r>
                <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rPr>
                <a:t>PC1 explains 96.3% of variance</a:t>
              </a:r>
              <a:endParaRPr lang="en-US" sz="1300" dirty="0"/>
            </a:p>
          </p:txBody>
        </p:sp>
        <p:sp>
          <p:nvSpPr>
            <p:cNvPr id="12" name="Shape 10"/>
            <p:cNvSpPr/>
            <p:nvPr/>
          </p:nvSpPr>
          <p:spPr>
            <a:xfrm>
              <a:off x="8102" y="4493"/>
              <a:ext cx="2990" cy="1512"/>
            </a:xfrm>
            <a:prstGeom prst="roundRect">
              <a:avLst>
                <a:gd name="adj" fmla="val 6667"/>
              </a:avLst>
            </a:prstGeom>
            <a:solidFill>
              <a:srgbClr val="F4F4F2"/>
            </a:solidFill>
            <a:ln w="12700">
              <a:solidFill>
                <a:srgbClr val="E1E1DD"/>
              </a:solidFill>
              <a:prstDash val="solid"/>
            </a:ln>
          </p:spPr>
        </p:sp>
        <p:sp>
          <p:nvSpPr>
            <p:cNvPr id="13" name="Text 11"/>
            <p:cNvSpPr/>
            <p:nvPr/>
          </p:nvSpPr>
          <p:spPr>
            <a:xfrm>
              <a:off x="8246" y="4493"/>
              <a:ext cx="2702" cy="1512"/>
            </a:xfrm>
            <a:prstGeom prst="rect">
              <a:avLst/>
            </a:prstGeom>
            <a:noFill/>
          </p:spPr>
          <p:txBody>
            <a:bodyPr wrap="square" lIns="0" tIns="0" rIns="0" bIns="0" rtlCol="0" anchor="ctr"/>
            <a:lstStyle/>
            <a:p>
              <a:pPr marL="0" indent="0" algn="ctr">
                <a:lnSpc>
                  <a:spcPct val="120000"/>
                </a:lnSpc>
                <a:buNone/>
              </a:pPr>
              <a:r>
                <a:rPr lang="en-US" sz="1300" b="1" dirty="0">
                  <a:solidFill>
                    <a:srgbClr val="16233F"/>
                  </a:solidFill>
                  <a:latin typeface="Calibri" panose="020F0502020204030204" pitchFamily="34" charset="0"/>
                  <a:ea typeface="Calibri" panose="020F0502020204030204" pitchFamily="34" charset="-122"/>
                  <a:cs typeface="Calibri" panose="020F0502020204030204" pitchFamily="34" charset="-120"/>
                </a:rPr>
                <a:t>Availability
</a:t>
              </a:r>
              <a:r>
                <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rPr>
                <a:t>Stage 1 PCA
</a:t>
              </a:r>
              <a:r>
                <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rPr>
                <a:t>PC1 explains 91.7% of variance</a:t>
              </a:r>
              <a:endParaRPr lang="en-US" sz="1300" dirty="0"/>
            </a:p>
          </p:txBody>
        </p:sp>
        <p:sp>
          <p:nvSpPr>
            <p:cNvPr id="14" name="Shape 12"/>
            <p:cNvSpPr/>
            <p:nvPr/>
          </p:nvSpPr>
          <p:spPr>
            <a:xfrm>
              <a:off x="11352" y="4493"/>
              <a:ext cx="2990" cy="1512"/>
            </a:xfrm>
            <a:prstGeom prst="roundRect">
              <a:avLst>
                <a:gd name="adj" fmla="val 6667"/>
              </a:avLst>
            </a:prstGeom>
            <a:solidFill>
              <a:srgbClr val="F4F4F2"/>
            </a:solidFill>
            <a:ln w="12700">
              <a:solidFill>
                <a:srgbClr val="E1E1DD"/>
              </a:solidFill>
              <a:prstDash val="solid"/>
            </a:ln>
          </p:spPr>
        </p:sp>
        <p:sp>
          <p:nvSpPr>
            <p:cNvPr id="15" name="Text 13"/>
            <p:cNvSpPr/>
            <p:nvPr/>
          </p:nvSpPr>
          <p:spPr>
            <a:xfrm>
              <a:off x="11496" y="4493"/>
              <a:ext cx="2702" cy="1512"/>
            </a:xfrm>
            <a:prstGeom prst="rect">
              <a:avLst/>
            </a:prstGeom>
            <a:noFill/>
          </p:spPr>
          <p:txBody>
            <a:bodyPr wrap="square" lIns="0" tIns="0" rIns="0" bIns="0" rtlCol="0" anchor="ctr"/>
            <a:lstStyle/>
            <a:p>
              <a:pPr marL="0" indent="0" algn="ctr">
                <a:lnSpc>
                  <a:spcPct val="120000"/>
                </a:lnSpc>
                <a:buNone/>
              </a:pPr>
              <a:r>
                <a:rPr lang="en-US" sz="1300" b="1" dirty="0">
                  <a:solidFill>
                    <a:srgbClr val="16233F"/>
                  </a:solidFill>
                  <a:latin typeface="Calibri" panose="020F0502020204030204" pitchFamily="34" charset="0"/>
                  <a:ea typeface="Calibri" panose="020F0502020204030204" pitchFamily="34" charset="-122"/>
                  <a:cs typeface="Calibri" panose="020F0502020204030204" pitchFamily="34" charset="-120"/>
                </a:rPr>
                <a:t>Usage
</a:t>
              </a:r>
              <a:r>
                <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rPr>
                <a:t>Stage 1 PCA
</a:t>
              </a:r>
              <a:r>
                <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rPr>
                <a:t>PC1 explains 99% of variance</a:t>
              </a:r>
              <a:endParaRPr lang="en-US" sz="1300" dirty="0"/>
            </a:p>
          </p:txBody>
        </p:sp>
        <p:sp>
          <p:nvSpPr>
            <p:cNvPr id="19" name="Text 17"/>
            <p:cNvSpPr/>
            <p:nvPr/>
          </p:nvSpPr>
          <p:spPr>
            <a:xfrm>
              <a:off x="4853" y="6206"/>
              <a:ext cx="9490" cy="346"/>
            </a:xfrm>
            <a:prstGeom prst="rect">
              <a:avLst/>
            </a:prstGeom>
            <a:noFill/>
          </p:spPr>
          <p:txBody>
            <a:bodyPr wrap="square" lIns="0" tIns="0" rIns="0" bIns="0" rtlCol="0" anchor="ctr"/>
            <a:lstStyle/>
            <a:p>
              <a:pPr marL="0" indent="0">
                <a:buNone/>
              </a:pPr>
              <a:r>
                <a:rPr lang="en-US" sz="1000" b="1" kern="0" spc="150" dirty="0">
                  <a:solidFill>
                    <a:srgbClr val="5B6472"/>
                  </a:solidFill>
                  <a:latin typeface="Calibri" panose="020F0502020204030204" pitchFamily="34" charset="0"/>
                  <a:ea typeface="Calibri" panose="020F0502020204030204" pitchFamily="34" charset="-122"/>
                  <a:cs typeface="Calibri" panose="020F0502020204030204" pitchFamily="34" charset="-120"/>
                </a:rPr>
                <a:t>STAGE 2  ·  COMPOSITE PCA</a:t>
              </a:r>
              <a:endParaRPr lang="en-US" sz="1000" dirty="0"/>
            </a:p>
          </p:txBody>
        </p:sp>
        <p:sp>
          <p:nvSpPr>
            <p:cNvPr id="20" name="Shape 18"/>
            <p:cNvSpPr/>
            <p:nvPr/>
          </p:nvSpPr>
          <p:spPr>
            <a:xfrm>
              <a:off x="4853" y="6610"/>
              <a:ext cx="9490" cy="1368"/>
            </a:xfrm>
            <a:prstGeom prst="roundRect">
              <a:avLst>
                <a:gd name="adj" fmla="val 8421"/>
              </a:avLst>
            </a:prstGeom>
            <a:solidFill>
              <a:srgbClr val="16233F"/>
            </a:solidFill>
            <a:effectLst>
              <a:outerShdw blurRad="127000" dist="25400" dir="5400000" algn="bl" rotWithShape="0">
                <a:srgbClr val="0A1220">
                  <a:alpha val="22000"/>
                </a:srgbClr>
              </a:outerShdw>
            </a:effectLst>
          </p:spPr>
        </p:sp>
        <p:sp>
          <p:nvSpPr>
            <p:cNvPr id="21" name="Text 19"/>
            <p:cNvSpPr/>
            <p:nvPr/>
          </p:nvSpPr>
          <p:spPr>
            <a:xfrm>
              <a:off x="4853" y="6610"/>
              <a:ext cx="9490" cy="1368"/>
            </a:xfrm>
            <a:prstGeom prst="rect">
              <a:avLst/>
            </a:prstGeom>
            <a:noFill/>
          </p:spPr>
          <p:txBody>
            <a:bodyPr wrap="square" lIns="0" tIns="0" rIns="0" bIns="0" rtlCol="0" anchor="ctr"/>
            <a:lstStyle/>
            <a:p>
              <a:pPr marL="0" indent="0" algn="ctr">
                <a:lnSpc>
                  <a:spcPct val="120000"/>
                </a:lnSpc>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Financial Inclusion Index
</a:t>
              </a:r>
              <a:r>
                <a:rPr lang="en-US" sz="1000" dirty="0">
                  <a:solidFill>
                    <a:srgbClr val="AEB9CE"/>
                  </a:solidFill>
                  <a:latin typeface="Calibri" panose="020F0502020204030204" pitchFamily="34" charset="0"/>
                  <a:ea typeface="Calibri" panose="020F0502020204030204" pitchFamily="34" charset="-122"/>
                  <a:cs typeface="Calibri" panose="020F0502020204030204" pitchFamily="34" charset="-120"/>
                </a:rPr>
                <a:t>Weighted composite of the three dimension scores  </a:t>
              </a:r>
              <a:endParaRPr lang="en-US" sz="1600" dirty="0"/>
            </a:p>
          </p:txBody>
        </p:sp>
        <p:sp>
          <p:nvSpPr>
            <p:cNvPr id="26" name="Text 24"/>
            <p:cNvSpPr/>
            <p:nvPr/>
          </p:nvSpPr>
          <p:spPr>
            <a:xfrm>
              <a:off x="4853" y="8496"/>
              <a:ext cx="9490" cy="346"/>
            </a:xfrm>
            <a:prstGeom prst="rect">
              <a:avLst/>
            </a:prstGeom>
            <a:noFill/>
          </p:spPr>
          <p:txBody>
            <a:bodyPr wrap="square" lIns="0" tIns="0" rIns="0" bIns="0" rtlCol="0" anchor="ctr"/>
            <a:lstStyle/>
            <a:p>
              <a:pPr marL="0" indent="0" algn="ctr">
                <a:buNone/>
              </a:pPr>
              <a:r>
                <a:rPr lang="en-US" sz="900" b="1" kern="0" spc="100" dirty="0">
                  <a:solidFill>
                    <a:srgbClr val="5B6472"/>
                  </a:solidFill>
                  <a:latin typeface="Calibri" panose="020F0502020204030204" pitchFamily="34" charset="0"/>
                  <a:ea typeface="Calibri" panose="020F0502020204030204" pitchFamily="34" charset="-122"/>
                  <a:cs typeface="Calibri" panose="020F0502020204030204" pitchFamily="34" charset="-120"/>
                </a:rPr>
                <a:t>SUPPORTING VERIFICATION  (</a:t>
              </a:r>
              <a:r>
                <a:rPr lang="en-US" altLang="en-US" sz="900" b="1" kern="0" spc="100" dirty="0">
                  <a:solidFill>
                    <a:srgbClr val="5B6472"/>
                  </a:solidFill>
                  <a:latin typeface="Calibri" panose="020F0502020204030204" pitchFamily="34" charset="0"/>
                  <a:ea typeface="Calibri" panose="020F0502020204030204" pitchFamily="34" charset="-122"/>
                  <a:cs typeface="Calibri" panose="020F0502020204030204" pitchFamily="34" charset="-120"/>
                </a:rPr>
                <a:t>Verification after index constructio</a:t>
              </a:r>
              <a:r>
                <a:rPr lang="en-US" sz="900" b="1" kern="0" spc="100" dirty="0">
                  <a:solidFill>
                    <a:srgbClr val="5B6472"/>
                  </a:solidFill>
                  <a:latin typeface="Calibri" panose="020F0502020204030204" pitchFamily="34" charset="0"/>
                  <a:ea typeface="Calibri" panose="020F0502020204030204" pitchFamily="34" charset="-122"/>
                  <a:cs typeface="Calibri" panose="020F0502020204030204" pitchFamily="34" charset="-120"/>
                </a:rPr>
                <a:t>n)</a:t>
              </a:r>
              <a:endParaRPr lang="en-US" sz="900" dirty="0"/>
            </a:p>
          </p:txBody>
        </p:sp>
        <p:sp>
          <p:nvSpPr>
            <p:cNvPr id="27" name="Shape 25"/>
            <p:cNvSpPr/>
            <p:nvPr/>
          </p:nvSpPr>
          <p:spPr>
            <a:xfrm>
              <a:off x="4853" y="8928"/>
              <a:ext cx="4601" cy="792"/>
            </a:xfrm>
            <a:prstGeom prst="roundRect">
              <a:avLst>
                <a:gd name="adj" fmla="val 50909"/>
              </a:avLst>
            </a:prstGeom>
            <a:solidFill>
              <a:srgbClr val="F4F4F2"/>
            </a:solidFill>
            <a:ln w="12700">
              <a:solidFill>
                <a:srgbClr val="E1E1DD"/>
              </a:solidFill>
              <a:prstDash val="solid"/>
            </a:ln>
          </p:spPr>
        </p:sp>
        <p:sp>
          <p:nvSpPr>
            <p:cNvPr id="28" name="Text 26"/>
            <p:cNvSpPr/>
            <p:nvPr/>
          </p:nvSpPr>
          <p:spPr>
            <a:xfrm>
              <a:off x="5141" y="8928"/>
              <a:ext cx="4025" cy="792"/>
            </a:xfrm>
            <a:prstGeom prst="rect">
              <a:avLst/>
            </a:prstGeom>
            <a:noFill/>
          </p:spPr>
          <p:txBody>
            <a:bodyPr wrap="square" lIns="0" tIns="0" rIns="0" bIns="0" rtlCol="0" anchor="ctr"/>
            <a:lstStyle/>
            <a:p>
              <a:pPr marL="0" indent="0">
                <a:lnSpc>
                  <a:spcPct val="110000"/>
                </a:lnSpc>
                <a:buNone/>
              </a:pPr>
              <a:r>
                <a:rPr lang="en-US" sz="950" b="1" dirty="0">
                  <a:solidFill>
                    <a:srgbClr val="16233F"/>
                  </a:solidFill>
                  <a:latin typeface="Calibri" panose="020F0502020204030204" pitchFamily="34" charset="0"/>
                  <a:ea typeface="Calibri" panose="020F0502020204030204" pitchFamily="34" charset="-122"/>
                  <a:cs typeface="Calibri" panose="020F0502020204030204" pitchFamily="34" charset="-120"/>
                </a:rPr>
                <a:t>VALIDATED   </a:t>
              </a:r>
              <a:r>
                <a:rPr lang="en-US" sz="950" dirty="0">
                  <a:solidFill>
                    <a:srgbClr val="2B2F36"/>
                  </a:solidFill>
                  <a:latin typeface="Calibri" panose="020F0502020204030204" pitchFamily="34" charset="0"/>
                  <a:ea typeface="Calibri" panose="020F0502020204030204" pitchFamily="34" charset="-122"/>
                  <a:cs typeface="Calibri" panose="020F0502020204030204" pitchFamily="34" charset="-120"/>
                </a:rPr>
                <a:t>vs RBI FI-Index: r = 0.998</a:t>
              </a:r>
              <a:endParaRPr lang="en-US" sz="950" dirty="0"/>
            </a:p>
          </p:txBody>
        </p:sp>
        <p:sp>
          <p:nvSpPr>
            <p:cNvPr id="29" name="Shape 27"/>
            <p:cNvSpPr/>
            <p:nvPr/>
          </p:nvSpPr>
          <p:spPr>
            <a:xfrm>
              <a:off x="9742" y="8928"/>
              <a:ext cx="4601" cy="792"/>
            </a:xfrm>
            <a:prstGeom prst="roundRect">
              <a:avLst>
                <a:gd name="adj" fmla="val 50909"/>
              </a:avLst>
            </a:prstGeom>
            <a:solidFill>
              <a:srgbClr val="F4F4F2"/>
            </a:solidFill>
            <a:ln w="12700">
              <a:solidFill>
                <a:srgbClr val="E1E1DD"/>
              </a:solidFill>
              <a:prstDash val="solid"/>
            </a:ln>
          </p:spPr>
        </p:sp>
        <p:sp>
          <p:nvSpPr>
            <p:cNvPr id="30" name="Text 28"/>
            <p:cNvSpPr/>
            <p:nvPr/>
          </p:nvSpPr>
          <p:spPr>
            <a:xfrm>
              <a:off x="10030" y="8928"/>
              <a:ext cx="4025" cy="792"/>
            </a:xfrm>
            <a:prstGeom prst="rect">
              <a:avLst/>
            </a:prstGeom>
            <a:noFill/>
          </p:spPr>
          <p:txBody>
            <a:bodyPr wrap="square" lIns="0" tIns="0" rIns="0" bIns="0" rtlCol="0" anchor="ctr"/>
            <a:lstStyle/>
            <a:p>
              <a:pPr marL="0" indent="0">
                <a:lnSpc>
                  <a:spcPct val="110000"/>
                </a:lnSpc>
                <a:buNone/>
              </a:pPr>
              <a:r>
                <a:rPr lang="en-US" altLang="en-US" sz="950" b="1" dirty="0">
                  <a:solidFill>
                    <a:srgbClr val="16233F"/>
                  </a:solidFill>
                  <a:latin typeface="Calibri" panose="020F0502020204030204" pitchFamily="34" charset="0"/>
                  <a:ea typeface="Calibri" panose="020F0502020204030204" pitchFamily="34" charset="-122"/>
                  <a:cs typeface="Calibri" panose="020F0502020204030204" pitchFamily="34" charset="-120"/>
                </a:rPr>
                <a:t>CONSTRUCTED STATE INDICES</a:t>
              </a:r>
              <a:endParaRPr lang="en-US" altLang="en-US" sz="95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10000"/>
                </a:lnSpc>
                <a:buNone/>
              </a:pPr>
              <a:r>
                <a:rPr lang="en-US" altLang="en-US" sz="950" dirty="0">
                  <a:solidFill>
                    <a:srgbClr val="16233F"/>
                  </a:solidFill>
                  <a:latin typeface="Calibri" panose="020F0502020204030204" pitchFamily="34" charset="0"/>
                  <a:ea typeface="Calibri" panose="020F0502020204030204" pitchFamily="34" charset="-122"/>
                  <a:cs typeface="Calibri" panose="020F0502020204030204" pitchFamily="34" charset="-120"/>
                </a:rPr>
                <a:t>Using National PCA Weights</a:t>
              </a:r>
              <a:endParaRPr lang="en-US" altLang="en-US" sz="950"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grpSp>
      <p:grpSp>
        <p:nvGrpSpPr>
          <p:cNvPr id="47" name="Group 46"/>
          <p:cNvGrpSpPr/>
          <p:nvPr/>
        </p:nvGrpSpPr>
        <p:grpSpPr>
          <a:xfrm>
            <a:off x="367665" y="1957070"/>
            <a:ext cx="2133600" cy="1948815"/>
            <a:chOff x="864" y="4464"/>
            <a:chExt cx="3672" cy="3096"/>
          </a:xfrm>
        </p:grpSpPr>
        <p:sp>
          <p:nvSpPr>
            <p:cNvPr id="31" name="Shape 29"/>
            <p:cNvSpPr/>
            <p:nvPr/>
          </p:nvSpPr>
          <p:spPr>
            <a:xfrm>
              <a:off x="864" y="4464"/>
              <a:ext cx="3672" cy="3096"/>
            </a:xfrm>
            <a:prstGeom prst="roundRect">
              <a:avLst>
                <a:gd name="adj" fmla="val 4186"/>
              </a:avLst>
            </a:prstGeom>
            <a:solidFill>
              <a:srgbClr val="F4F4F2"/>
            </a:solidFill>
            <a:ln w="12700">
              <a:solidFill>
                <a:srgbClr val="E1E1DD"/>
              </a:solidFill>
              <a:prstDash val="solid"/>
            </a:ln>
          </p:spPr>
        </p:sp>
        <p:sp>
          <p:nvSpPr>
            <p:cNvPr id="32" name="Text 30"/>
            <p:cNvSpPr/>
            <p:nvPr/>
          </p:nvSpPr>
          <p:spPr>
            <a:xfrm>
              <a:off x="1181" y="4694"/>
              <a:ext cx="3038" cy="374"/>
            </a:xfrm>
            <a:prstGeom prst="rect">
              <a:avLst/>
            </a:prstGeom>
            <a:noFill/>
          </p:spPr>
          <p:txBody>
            <a:bodyPr wrap="square" lIns="0" tIns="0" rIns="0" bIns="0" rtlCol="0" anchor="ctr"/>
            <a:lstStyle/>
            <a:p>
              <a:pPr marL="0" indent="0">
                <a:buNone/>
              </a:pPr>
              <a:r>
                <a:rPr lang="en-US" sz="1100" b="1" kern="0" spc="100" dirty="0">
                  <a:solidFill>
                    <a:srgbClr val="16233F"/>
                  </a:solidFill>
                  <a:latin typeface="Calibri" panose="020F0502020204030204" pitchFamily="34" charset="0"/>
                  <a:ea typeface="Calibri" panose="020F0502020204030204" pitchFamily="34" charset="-122"/>
                  <a:cs typeface="Calibri" panose="020F0502020204030204" pitchFamily="34" charset="-120"/>
                </a:rPr>
                <a:t>DATA SUITABILITY</a:t>
              </a:r>
              <a:endParaRPr lang="en-US" sz="1100" dirty="0"/>
            </a:p>
          </p:txBody>
        </p:sp>
        <p:sp>
          <p:nvSpPr>
            <p:cNvPr id="33" name="Text 31"/>
            <p:cNvSpPr/>
            <p:nvPr/>
          </p:nvSpPr>
          <p:spPr>
            <a:xfrm>
              <a:off x="1181" y="5069"/>
              <a:ext cx="3038" cy="317"/>
            </a:xfrm>
            <a:prstGeom prst="rect">
              <a:avLst/>
            </a:prstGeom>
            <a:noFill/>
          </p:spPr>
          <p:txBody>
            <a:bodyPr wrap="square" lIns="0" tIns="0" rIns="0" bIns="0" rtlCol="0" anchor="ctr"/>
            <a:lstStyle/>
            <a:p>
              <a:pPr marL="0" indent="0">
                <a:buNone/>
              </a:pPr>
              <a:r>
                <a:rPr lang="en-US" sz="950" i="1" dirty="0">
                  <a:solidFill>
                    <a:srgbClr val="5B6472"/>
                  </a:solidFill>
                  <a:latin typeface="Calibri" panose="020F0502020204030204" pitchFamily="34" charset="0"/>
                  <a:ea typeface="Calibri" panose="020F0502020204030204" pitchFamily="34" charset="-122"/>
                  <a:cs typeface="Calibri" panose="020F0502020204030204" pitchFamily="34" charset="-120"/>
                </a:rPr>
                <a:t>verified before estimation</a:t>
              </a:r>
              <a:endParaRPr lang="en-US" sz="950" dirty="0"/>
            </a:p>
          </p:txBody>
        </p:sp>
        <p:sp>
          <p:nvSpPr>
            <p:cNvPr id="34" name="Shape 32"/>
            <p:cNvSpPr/>
            <p:nvPr/>
          </p:nvSpPr>
          <p:spPr>
            <a:xfrm>
              <a:off x="1181" y="5472"/>
              <a:ext cx="2722" cy="0"/>
            </a:xfrm>
            <a:prstGeom prst="line">
              <a:avLst/>
            </a:prstGeom>
            <a:noFill/>
            <a:ln w="12700">
              <a:solidFill>
                <a:srgbClr val="E1E1DD"/>
              </a:solidFill>
              <a:prstDash val="solid"/>
            </a:ln>
          </p:spPr>
        </p:sp>
        <p:sp>
          <p:nvSpPr>
            <p:cNvPr id="35" name="Text 33"/>
            <p:cNvSpPr/>
            <p:nvPr/>
          </p:nvSpPr>
          <p:spPr>
            <a:xfrm>
              <a:off x="1181" y="5674"/>
              <a:ext cx="3038" cy="346"/>
            </a:xfrm>
            <a:prstGeom prst="rect">
              <a:avLst/>
            </a:prstGeom>
            <a:noFill/>
          </p:spPr>
          <p:txBody>
            <a:bodyPr wrap="square" lIns="0" tIns="0" rIns="0" bIns="0" rtlCol="0" anchor="ctr"/>
            <a:lstStyle/>
            <a:p>
              <a:pPr marL="0" indent="0">
                <a:buNone/>
              </a:pPr>
              <a:r>
                <a:rPr lang="en-US" sz="1150" b="1" dirty="0">
                  <a:solidFill>
                    <a:srgbClr val="16233F"/>
                  </a:solidFill>
                  <a:latin typeface="Calibri" panose="020F0502020204030204" pitchFamily="34" charset="0"/>
                  <a:ea typeface="Calibri" panose="020F0502020204030204" pitchFamily="34" charset="-122"/>
                  <a:cs typeface="Calibri" panose="020F0502020204030204" pitchFamily="34" charset="-120"/>
                </a:rPr>
                <a:t>KMO = 0.78</a:t>
              </a:r>
              <a:endParaRPr lang="en-US" sz="1150" dirty="0"/>
            </a:p>
          </p:txBody>
        </p:sp>
        <p:sp>
          <p:nvSpPr>
            <p:cNvPr id="36" name="Text 34"/>
            <p:cNvSpPr/>
            <p:nvPr/>
          </p:nvSpPr>
          <p:spPr>
            <a:xfrm>
              <a:off x="1181" y="6005"/>
              <a:ext cx="3038" cy="317"/>
            </a:xfrm>
            <a:prstGeom prst="rect">
              <a:avLst/>
            </a:prstGeom>
            <a:noFill/>
          </p:spPr>
          <p:txBody>
            <a:bodyPr wrap="square" lIns="0" tIns="0" rIns="0" bIns="0" rtlCol="0" anchor="ctr"/>
            <a:lstStyle/>
            <a:p>
              <a:pPr marL="0" indent="0">
                <a:buNone/>
              </a:pPr>
              <a:r>
                <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rPr>
                <a:t>adequate sampling adequacy</a:t>
              </a:r>
              <a:endParaRPr lang="en-US" sz="900" dirty="0"/>
            </a:p>
          </p:txBody>
        </p:sp>
        <p:sp>
          <p:nvSpPr>
            <p:cNvPr id="37" name="Text 35"/>
            <p:cNvSpPr/>
            <p:nvPr/>
          </p:nvSpPr>
          <p:spPr>
            <a:xfrm>
              <a:off x="1181" y="6278"/>
              <a:ext cx="3038" cy="346"/>
            </a:xfrm>
            <a:prstGeom prst="rect">
              <a:avLst/>
            </a:prstGeom>
            <a:noFill/>
          </p:spPr>
          <p:txBody>
            <a:bodyPr wrap="square" lIns="0" tIns="0" rIns="0" bIns="0" rtlCol="0" anchor="ctr"/>
            <a:lstStyle/>
            <a:p>
              <a:pPr marL="0" indent="0">
                <a:buNone/>
              </a:pPr>
              <a:r>
                <a:rPr lang="en-US" sz="1150" b="1" dirty="0">
                  <a:solidFill>
                    <a:srgbClr val="16233F"/>
                  </a:solidFill>
                  <a:latin typeface="Calibri" panose="020F0502020204030204" pitchFamily="34" charset="0"/>
                  <a:ea typeface="Calibri" panose="020F0502020204030204" pitchFamily="34" charset="-122"/>
                  <a:cs typeface="Calibri" panose="020F0502020204030204" pitchFamily="34" charset="-120"/>
                </a:rPr>
                <a:t>Bartlett's χ² = 608.14</a:t>
              </a:r>
              <a:endParaRPr lang="en-US" sz="1150" dirty="0"/>
            </a:p>
          </p:txBody>
        </p:sp>
        <p:sp>
          <p:nvSpPr>
            <p:cNvPr id="38" name="Text 36"/>
            <p:cNvSpPr/>
            <p:nvPr/>
          </p:nvSpPr>
          <p:spPr>
            <a:xfrm>
              <a:off x="1181" y="6610"/>
              <a:ext cx="3038" cy="317"/>
            </a:xfrm>
            <a:prstGeom prst="rect">
              <a:avLst/>
            </a:prstGeom>
            <a:noFill/>
          </p:spPr>
          <p:txBody>
            <a:bodyPr wrap="square" lIns="0" tIns="0" rIns="0" bIns="0" rtlCol="0" anchor="ctr"/>
            <a:lstStyle/>
            <a:p>
              <a:pPr marL="0" indent="0">
                <a:buNone/>
              </a:pPr>
              <a:r>
                <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rPr>
                <a:t>p &lt; 0.001, significant</a:t>
              </a:r>
              <a:endParaRPr lang="en-US" sz="900" dirty="0"/>
            </a:p>
          </p:txBody>
        </p:sp>
        <p:sp>
          <p:nvSpPr>
            <p:cNvPr id="39" name="Text 37"/>
            <p:cNvSpPr/>
            <p:nvPr/>
          </p:nvSpPr>
          <p:spPr>
            <a:xfrm>
              <a:off x="1181" y="6883"/>
              <a:ext cx="3038" cy="346"/>
            </a:xfrm>
            <a:prstGeom prst="rect">
              <a:avLst/>
            </a:prstGeom>
            <a:noFill/>
          </p:spPr>
          <p:txBody>
            <a:bodyPr wrap="square" lIns="0" tIns="0" rIns="0" bIns="0" rtlCol="0" anchor="ctr"/>
            <a:lstStyle/>
            <a:p>
              <a:pPr marL="0" indent="0">
                <a:buNone/>
              </a:pPr>
              <a:r>
                <a:rPr lang="en-US" sz="1150" b="1" dirty="0">
                  <a:solidFill>
                    <a:srgbClr val="16233F"/>
                  </a:solidFill>
                  <a:latin typeface="Calibri" panose="020F0502020204030204" pitchFamily="34" charset="0"/>
                  <a:ea typeface="Calibri" panose="020F0502020204030204" pitchFamily="34" charset="-122"/>
                  <a:cs typeface="Calibri" panose="020F0502020204030204" pitchFamily="34" charset="-120"/>
                </a:rPr>
                <a:t>Determinant ≈ 2.09 × 10⁻¹⁷</a:t>
              </a:r>
              <a:endParaRPr lang="en-US" sz="1150" dirty="0"/>
            </a:p>
          </p:txBody>
        </p:sp>
        <p:sp>
          <p:nvSpPr>
            <p:cNvPr id="40" name="Text 38"/>
            <p:cNvSpPr/>
            <p:nvPr/>
          </p:nvSpPr>
          <p:spPr>
            <a:xfrm>
              <a:off x="1181" y="7214"/>
              <a:ext cx="3038" cy="317"/>
            </a:xfrm>
            <a:prstGeom prst="rect">
              <a:avLst/>
            </a:prstGeom>
            <a:noFill/>
          </p:spPr>
          <p:txBody>
            <a:bodyPr wrap="square" lIns="0" tIns="0" rIns="0" bIns="0" rtlCol="0" anchor="ctr"/>
            <a:lstStyle/>
            <a:p>
              <a:pPr marL="0" indent="0">
                <a:buNone/>
              </a:pPr>
              <a:r>
                <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rPr>
                <a:t>strong intercorrelation</a:t>
              </a:r>
              <a:endParaRPr lang="en-US" sz="900" dirty="0"/>
            </a:p>
          </p:txBody>
        </p:sp>
      </p:grpSp>
      <p:grpSp>
        <p:nvGrpSpPr>
          <p:cNvPr id="48" name="Group 47"/>
          <p:cNvGrpSpPr/>
          <p:nvPr/>
        </p:nvGrpSpPr>
        <p:grpSpPr>
          <a:xfrm>
            <a:off x="367665" y="4281170"/>
            <a:ext cx="2095500" cy="1837055"/>
            <a:chOff x="14659" y="6034"/>
            <a:chExt cx="3676" cy="2664"/>
          </a:xfrm>
        </p:grpSpPr>
        <p:sp>
          <p:nvSpPr>
            <p:cNvPr id="41" name="Shape 39"/>
            <p:cNvSpPr/>
            <p:nvPr/>
          </p:nvSpPr>
          <p:spPr>
            <a:xfrm>
              <a:off x="14659" y="6034"/>
              <a:ext cx="3676" cy="2664"/>
            </a:xfrm>
            <a:prstGeom prst="roundRect">
              <a:avLst>
                <a:gd name="adj" fmla="val 4865"/>
              </a:avLst>
            </a:prstGeom>
            <a:solidFill>
              <a:srgbClr val="F4F4F2"/>
            </a:solidFill>
            <a:ln w="12700">
              <a:solidFill>
                <a:srgbClr val="E1E1DD"/>
              </a:solidFill>
              <a:prstDash val="solid"/>
            </a:ln>
          </p:spPr>
        </p:sp>
        <p:sp>
          <p:nvSpPr>
            <p:cNvPr id="42" name="Text 40"/>
            <p:cNvSpPr/>
            <p:nvPr/>
          </p:nvSpPr>
          <p:spPr>
            <a:xfrm>
              <a:off x="14976" y="6264"/>
              <a:ext cx="3043" cy="374"/>
            </a:xfrm>
            <a:prstGeom prst="rect">
              <a:avLst/>
            </a:prstGeom>
            <a:noFill/>
          </p:spPr>
          <p:txBody>
            <a:bodyPr wrap="square" lIns="0" tIns="0" rIns="0" bIns="0" rtlCol="0" anchor="ctr"/>
            <a:lstStyle/>
            <a:p>
              <a:pPr marL="0" indent="0">
                <a:buNone/>
              </a:pPr>
              <a:r>
                <a:rPr lang="en-US" sz="1100" b="1" kern="0" spc="100" dirty="0">
                  <a:solidFill>
                    <a:srgbClr val="16233F"/>
                  </a:solidFill>
                  <a:latin typeface="Calibri" panose="020F0502020204030204" pitchFamily="34" charset="0"/>
                  <a:ea typeface="Calibri" panose="020F0502020204030204" pitchFamily="34" charset="-122"/>
                  <a:cs typeface="Calibri" panose="020F0502020204030204" pitchFamily="34" charset="-120"/>
                </a:rPr>
                <a:t>ROBUSTNESS CHECK</a:t>
              </a:r>
              <a:endParaRPr lang="en-US" sz="1100" dirty="0"/>
            </a:p>
          </p:txBody>
        </p:sp>
        <p:sp>
          <p:nvSpPr>
            <p:cNvPr id="43" name="Text 41"/>
            <p:cNvSpPr/>
            <p:nvPr/>
          </p:nvSpPr>
          <p:spPr>
            <a:xfrm>
              <a:off x="14976" y="6638"/>
              <a:ext cx="3043" cy="317"/>
            </a:xfrm>
            <a:prstGeom prst="rect">
              <a:avLst/>
            </a:prstGeom>
            <a:noFill/>
          </p:spPr>
          <p:txBody>
            <a:bodyPr wrap="square" lIns="0" tIns="0" rIns="0" bIns="0" rtlCol="0" anchor="ctr"/>
            <a:lstStyle/>
            <a:p>
              <a:pPr marL="0" indent="0">
                <a:buNone/>
              </a:pPr>
              <a:r>
                <a:rPr lang="en-US" sz="950" i="1" dirty="0">
                  <a:solidFill>
                    <a:srgbClr val="5B6472"/>
                  </a:solidFill>
                  <a:latin typeface="Calibri" panose="020F0502020204030204" pitchFamily="34" charset="0"/>
                  <a:ea typeface="Calibri" panose="020F0502020204030204" pitchFamily="34" charset="-122"/>
                  <a:cs typeface="Calibri" panose="020F0502020204030204" pitchFamily="34" charset="-120"/>
                </a:rPr>
                <a:t>leave-one-variable-out sensitivity</a:t>
              </a:r>
              <a:endParaRPr lang="en-US" sz="950" dirty="0"/>
            </a:p>
          </p:txBody>
        </p:sp>
        <p:sp>
          <p:nvSpPr>
            <p:cNvPr id="44" name="Shape 42"/>
            <p:cNvSpPr/>
            <p:nvPr/>
          </p:nvSpPr>
          <p:spPr>
            <a:xfrm>
              <a:off x="14976" y="7042"/>
              <a:ext cx="2726" cy="0"/>
            </a:xfrm>
            <a:prstGeom prst="line">
              <a:avLst/>
            </a:prstGeom>
            <a:noFill/>
            <a:ln w="12700">
              <a:solidFill>
                <a:srgbClr val="E1E1DD"/>
              </a:solidFill>
              <a:prstDash val="solid"/>
            </a:ln>
          </p:spPr>
        </p:sp>
        <p:sp>
          <p:nvSpPr>
            <p:cNvPr id="45" name="Text 43"/>
            <p:cNvSpPr/>
            <p:nvPr/>
          </p:nvSpPr>
          <p:spPr>
            <a:xfrm>
              <a:off x="14976" y="7214"/>
              <a:ext cx="3043" cy="1368"/>
            </a:xfrm>
            <a:prstGeom prst="rect">
              <a:avLst/>
            </a:prstGeom>
            <a:noFill/>
          </p:spPr>
          <p:txBody>
            <a:bodyPr wrap="square" lIns="0" tIns="0" rIns="0" bIns="0" rtlCol="0" anchor="ctr"/>
            <a:lstStyle/>
            <a:p>
              <a:pPr marL="0" indent="0">
                <a:lnSpc>
                  <a:spcPct val="115000"/>
                </a:lnSpc>
                <a:buNone/>
              </a:pPr>
              <a:r>
                <a:rPr lang="en-US" sz="1150" b="1" dirty="0">
                  <a:solidFill>
                    <a:srgbClr val="16233F"/>
                  </a:solidFill>
                  <a:latin typeface="Calibri" panose="020F0502020204030204" pitchFamily="34" charset="0"/>
                  <a:ea typeface="Calibri" panose="020F0502020204030204" pitchFamily="34" charset="-122"/>
                  <a:cs typeface="Calibri" panose="020F0502020204030204" pitchFamily="34" charset="-120"/>
                </a:rPr>
                <a:t>Pearson r: 0.994 – 1.000
</a:t>
              </a:r>
              <a:r>
                <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rPr>
                <a:t>across 10 leave-one-out runs
</a:t>
              </a:r>
              <a:r>
                <a:rPr lang="en-US" sz="1150" b="1" dirty="0">
                  <a:solidFill>
                    <a:srgbClr val="16233F"/>
                  </a:solidFill>
                  <a:latin typeface="Calibri" panose="020F0502020204030204" pitchFamily="34" charset="0"/>
                  <a:ea typeface="Calibri" panose="020F0502020204030204" pitchFamily="34" charset="-122"/>
                  <a:cs typeface="Calibri" panose="020F0502020204030204" pitchFamily="34" charset="-120"/>
                </a:rPr>
                <a:t>Spearman ρ = 1.000
</a:t>
              </a:r>
              <a:r>
                <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rPr>
                <a:t>ranking unchanged in every run</a:t>
              </a:r>
              <a:endParaRPr lang="en-US" sz="1150" dirty="0"/>
            </a:p>
          </p:txBody>
        </p:sp>
      </p:grpSp>
      <p:sp>
        <p:nvSpPr>
          <p:cNvPr id="46" name="Text 44"/>
          <p:cNvSpPr/>
          <p:nvPr/>
        </p:nvSpPr>
        <p:spPr>
          <a:xfrm>
            <a:off x="548640" y="6510528"/>
            <a:ext cx="7315200" cy="256032"/>
          </a:xfrm>
          <a:prstGeom prst="rect">
            <a:avLst/>
          </a:prstGeom>
          <a:noFill/>
        </p:spPr>
        <p:txBody>
          <a:bodyPr wrap="square" lIns="0" tIns="0" rIns="0" bIns="0" rtlCol="0" anchor="ctr"/>
          <a:lstStyle/>
          <a:p>
            <a:pPr marL="0" indent="0">
              <a:buNone/>
            </a:pPr>
            <a:r>
              <a:rPr lang="en-US" sz="95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950" dirty="0"/>
          </a:p>
        </p:txBody>
      </p:sp>
      <p:pic>
        <p:nvPicPr>
          <p:cNvPr id="50" name="Image 0" descr="/home/claude/charts/c01_pca_rbi.png"/>
          <p:cNvPicPr>
            <a:picLocks noChangeAspect="1"/>
          </p:cNvPicPr>
          <p:nvPr/>
        </p:nvPicPr>
        <p:blipFill>
          <a:blip r:embed="rId1"/>
          <a:stretch>
            <a:fillRect/>
          </a:stretch>
        </p:blipFill>
        <p:spPr>
          <a:xfrm>
            <a:off x="7161530" y="1883410"/>
            <a:ext cx="4872355" cy="3185160"/>
          </a:xfrm>
          <a:prstGeom prst="rect">
            <a:avLst/>
          </a:prstGeom>
        </p:spPr>
      </p:pic>
      <p:grpSp>
        <p:nvGrpSpPr>
          <p:cNvPr id="55" name="Group 54"/>
          <p:cNvGrpSpPr/>
          <p:nvPr/>
        </p:nvGrpSpPr>
        <p:grpSpPr>
          <a:xfrm>
            <a:off x="7698105" y="5304155"/>
            <a:ext cx="3795395" cy="978535"/>
            <a:chOff x="12058" y="7848"/>
            <a:chExt cx="5716" cy="1110"/>
          </a:xfrm>
        </p:grpSpPr>
        <p:sp>
          <p:nvSpPr>
            <p:cNvPr id="51" name="Shape 7"/>
            <p:cNvSpPr/>
            <p:nvPr/>
          </p:nvSpPr>
          <p:spPr>
            <a:xfrm>
              <a:off x="12058" y="7848"/>
              <a:ext cx="5716" cy="1111"/>
            </a:xfrm>
            <a:prstGeom prst="rect">
              <a:avLst/>
            </a:prstGeom>
            <a:solidFill>
              <a:srgbClr val="F7F7F5"/>
            </a:solidFill>
            <a:ln w="12700">
              <a:solidFill>
                <a:srgbClr val="E4E4E0"/>
              </a:solidFill>
              <a:prstDash val="solid"/>
            </a:ln>
          </p:spPr>
          <p:txBody>
            <a:bodyPr/>
            <a:p>
              <a:endParaRPr lang="en-US"/>
            </a:p>
          </p:txBody>
        </p:sp>
        <p:sp>
          <p:nvSpPr>
            <p:cNvPr id="52" name="Text 8"/>
            <p:cNvSpPr/>
            <p:nvPr/>
          </p:nvSpPr>
          <p:spPr>
            <a:xfrm>
              <a:off x="12214" y="8045"/>
              <a:ext cx="5560" cy="663"/>
            </a:xfrm>
            <a:prstGeom prst="rect">
              <a:avLst/>
            </a:prstGeom>
            <a:noFill/>
          </p:spPr>
          <p:txBody>
            <a:bodyPr wrap="square" lIns="0" tIns="0" rIns="0" bIns="0" rtlCol="0" anchor="ctr"/>
            <a:lstStyle/>
            <a:p>
              <a:pPr marL="0" indent="0">
                <a:buNone/>
              </a:pPr>
              <a:r>
                <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rPr>
                <a:t>KEY TAKEAWAY   </a:t>
              </a:r>
              <a:r>
                <a:rPr lang="en-US" sz="1600" dirty="0">
                  <a:solidFill>
                    <a:srgbClr val="1E1E1E"/>
                  </a:solidFill>
                  <a:latin typeface="Calibri" panose="020F0502020204030204" pitchFamily="34" charset="0"/>
                  <a:ea typeface="Calibri" panose="020F0502020204030204" pitchFamily="34" charset="-122"/>
                  <a:cs typeface="Calibri" panose="020F0502020204030204" pitchFamily="34" charset="-120"/>
                </a:rPr>
                <a:t>The proposed methodology closely reproduces the official national Financial Inclusion Index.</a:t>
              </a:r>
              <a:endParaRPr lang="en-US" sz="16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0"/>
          <p:cNvSpPr/>
          <p:nvPr/>
        </p:nvSpPr>
        <p:spPr>
          <a:xfrm>
            <a:off x="548640" y="274320"/>
            <a:ext cx="8229600" cy="219456"/>
          </a:xfrm>
          <a:prstGeom prst="rect">
            <a:avLst/>
          </a:prstGeom>
          <a:noFill/>
        </p:spPr>
        <p:txBody>
          <a:bodyPr wrap="square" lIns="0" tIns="0" rIns="0" bIns="0" rtlCol="0" anchor="ctr"/>
          <a:lstStyle/>
          <a:p>
            <a:pPr marL="0" indent="0">
              <a:buNone/>
            </a:pPr>
            <a:r>
              <a:rPr lang="en-US" sz="105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06  ·  RESULTS AND ANALYSIS</a:t>
            </a:r>
            <a:endParaRPr lang="en-US" sz="1050" dirty="0"/>
          </a:p>
        </p:txBody>
      </p:sp>
      <p:sp>
        <p:nvSpPr>
          <p:cNvPr id="4" name="Shape 1"/>
          <p:cNvSpPr/>
          <p:nvPr/>
        </p:nvSpPr>
        <p:spPr>
          <a:xfrm>
            <a:off x="548640" y="512064"/>
            <a:ext cx="502920" cy="0"/>
          </a:xfrm>
          <a:prstGeom prst="line">
            <a:avLst/>
          </a:prstGeom>
          <a:noFill/>
          <a:ln w="28575">
            <a:solidFill>
              <a:srgbClr val="16233F"/>
            </a:solidFill>
            <a:prstDash val="solid"/>
          </a:ln>
        </p:spPr>
      </p:sp>
      <p:sp>
        <p:nvSpPr>
          <p:cNvPr id="5" name="Text 2"/>
          <p:cNvSpPr/>
          <p:nvPr/>
        </p:nvSpPr>
        <p:spPr>
          <a:xfrm>
            <a:off x="548640" y="548640"/>
            <a:ext cx="11094415" cy="530352"/>
          </a:xfrm>
          <a:prstGeom prst="rect">
            <a:avLst/>
          </a:prstGeom>
          <a:noFill/>
        </p:spPr>
        <p:txBody>
          <a:bodyPr wrap="square" lIns="0" tIns="0" rIns="0" bIns="0" rtlCol="0" anchor="t"/>
          <a:lstStyle/>
          <a:p>
            <a:pPr marL="0" indent="0">
              <a:lnSpc>
                <a:spcPct val="108000"/>
              </a:lnSpc>
              <a:buNone/>
            </a:pPr>
            <a:r>
              <a:rPr lang="en-US" sz="1900" b="1" dirty="0">
                <a:solidFill>
                  <a:srgbClr val="16233F"/>
                </a:solidFill>
                <a:latin typeface="Cambria" panose="02040503050406030204" pitchFamily="34" charset="0"/>
                <a:ea typeface="Cambria" panose="02040503050406030204" pitchFamily="34" charset="-122"/>
                <a:cs typeface="Cambria" panose="02040503050406030204" pitchFamily="34" charset="-120"/>
              </a:rPr>
              <a:t>Financial Inclusion Follows a Distinct Geographic Pattern</a:t>
            </a:r>
            <a:endParaRPr lang="en-US" sz="1900" dirty="0"/>
          </a:p>
        </p:txBody>
      </p:sp>
      <p:sp>
        <p:nvSpPr>
          <p:cNvPr id="6" name="Text 3"/>
          <p:cNvSpPr/>
          <p:nvPr/>
        </p:nvSpPr>
        <p:spPr>
          <a:xfrm>
            <a:off x="548640" y="895985"/>
            <a:ext cx="11094415" cy="201168"/>
          </a:xfrm>
          <a:prstGeom prst="rect">
            <a:avLst/>
          </a:prstGeom>
          <a:noFill/>
        </p:spPr>
        <p:txBody>
          <a:bodyPr wrap="square" lIns="0" tIns="0" rIns="0" bIns="0" rtlCol="0" anchor="ctr"/>
          <a:lstStyle/>
          <a:p>
            <a:pPr marL="0" indent="0">
              <a:buNone/>
            </a:pPr>
            <a:r>
              <a:rPr lang="en-US" sz="1030" i="1" dirty="0">
                <a:solidFill>
                  <a:srgbClr val="5B6472"/>
                </a:solidFill>
                <a:latin typeface="Calibri" panose="020F0502020204030204" pitchFamily="34" charset="0"/>
                <a:ea typeface="Calibri" panose="020F0502020204030204" pitchFamily="34" charset="-122"/>
                <a:cs typeface="Calibri" panose="020F0502020204030204" pitchFamily="34" charset="-120"/>
              </a:rPr>
              <a:t>State-wise Financial Inclusion Index (2024–25)  •  Two-Stage PCA-Based Methodology</a:t>
            </a:r>
            <a:endParaRPr lang="en-US" sz="1030" dirty="0"/>
          </a:p>
        </p:txBody>
      </p:sp>
      <p:sp>
        <p:nvSpPr>
          <p:cNvPr id="7" name="Shape 4"/>
          <p:cNvSpPr/>
          <p:nvPr/>
        </p:nvSpPr>
        <p:spPr>
          <a:xfrm>
            <a:off x="548640" y="1417320"/>
            <a:ext cx="7178040" cy="4160520"/>
          </a:xfrm>
          <a:prstGeom prst="roundRect">
            <a:avLst>
              <a:gd name="adj" fmla="val 1319"/>
            </a:avLst>
          </a:prstGeom>
          <a:solidFill>
            <a:srgbClr val="FFFFFF"/>
          </a:solidFill>
          <a:ln w="12700">
            <a:solidFill>
              <a:srgbClr val="E3E3E0"/>
            </a:solidFill>
            <a:prstDash val="solid"/>
          </a:ln>
        </p:spPr>
      </p:sp>
      <p:sp>
        <p:nvSpPr>
          <p:cNvPr id="8" name="Text 5"/>
          <p:cNvSpPr/>
          <p:nvPr/>
        </p:nvSpPr>
        <p:spPr>
          <a:xfrm>
            <a:off x="749808" y="1545336"/>
            <a:ext cx="6775704" cy="219456"/>
          </a:xfrm>
          <a:prstGeom prst="rect">
            <a:avLst/>
          </a:prstGeom>
          <a:noFill/>
        </p:spPr>
        <p:txBody>
          <a:bodyPr wrap="square" lIns="0" tIns="0" rIns="0" bIns="0" rtlCol="0" anchor="ctr"/>
          <a:lstStyle/>
          <a:p>
            <a:pPr marL="0" indent="0">
              <a:buNone/>
            </a:pPr>
            <a:r>
              <a:rPr lang="en-US" sz="960" b="1" kern="0" spc="60" dirty="0">
                <a:solidFill>
                  <a:srgbClr val="16233F"/>
                </a:solidFill>
                <a:latin typeface="Calibri" panose="020F0502020204030204" pitchFamily="34" charset="0"/>
                <a:ea typeface="Calibri" panose="020F0502020204030204" pitchFamily="34" charset="-122"/>
                <a:cs typeface="Calibri" panose="020F0502020204030204" pitchFamily="34" charset="-120"/>
              </a:rPr>
              <a:t>SPATIAL DISTRIBUTION ACROSS STATES</a:t>
            </a:r>
            <a:endParaRPr lang="en-US" sz="960" dirty="0"/>
          </a:p>
        </p:txBody>
      </p:sp>
      <p:sp>
        <p:nvSpPr>
          <p:cNvPr id="9" name="Shape 6"/>
          <p:cNvSpPr/>
          <p:nvPr/>
        </p:nvSpPr>
        <p:spPr>
          <a:xfrm>
            <a:off x="749808" y="1874520"/>
            <a:ext cx="6775704" cy="3264408"/>
          </a:xfrm>
          <a:prstGeom prst="roundRect">
            <a:avLst>
              <a:gd name="adj" fmla="val 1401"/>
            </a:avLst>
          </a:prstGeom>
          <a:solidFill>
            <a:srgbClr val="FDFDFC"/>
          </a:solidFill>
          <a:ln w="15875">
            <a:solidFill>
              <a:srgbClr val="E1E1DD"/>
            </a:solidFill>
            <a:prstDash val="dash"/>
          </a:ln>
        </p:spPr>
      </p:sp>
      <p:sp>
        <p:nvSpPr>
          <p:cNvPr id="10" name="Text 7"/>
          <p:cNvSpPr/>
          <p:nvPr/>
        </p:nvSpPr>
        <p:spPr>
          <a:xfrm>
            <a:off x="749808" y="1874520"/>
            <a:ext cx="6775704" cy="3264408"/>
          </a:xfrm>
          <a:prstGeom prst="rect">
            <a:avLst/>
          </a:prstGeom>
          <a:noFill/>
        </p:spPr>
        <p:txBody>
          <a:bodyPr wrap="square" lIns="0" tIns="0" rIns="0" bIns="0" rtlCol="0" anchor="ctr"/>
          <a:lstStyle/>
          <a:p>
            <a:pPr marL="0" indent="0" algn="ctr">
              <a:lnSpc>
                <a:spcPct val="130000"/>
              </a:lnSpc>
              <a:buNone/>
            </a:pPr>
            <a:r>
              <a:rPr lang="en-US" sz="1100" b="1" dirty="0">
                <a:solidFill>
                  <a:srgbClr val="5B6472"/>
                </a:solidFill>
                <a:latin typeface="Calibri" panose="020F0502020204030204" pitchFamily="34" charset="0"/>
                <a:ea typeface="Calibri" panose="020F0502020204030204" pitchFamily="34" charset="-122"/>
                <a:cs typeface="Calibri" panose="020F0502020204030204" pitchFamily="34" charset="-120"/>
              </a:rPr>
              <a:t>India Financial Inclusion Map (2024–25)</a:t>
            </a:r>
            <a:endParaRPr lang="en-US" sz="1100" dirty="0"/>
          </a:p>
          <a:p>
            <a:pPr marL="0" indent="0" algn="ctr">
              <a:lnSpc>
                <a:spcPct val="130000"/>
              </a:lnSpc>
              <a:buNone/>
            </a:pPr>
            <a:r>
              <a:rPr lang="en-US" sz="900" i="1" dirty="0">
                <a:solidFill>
                  <a:srgbClr val="AEB6C4"/>
                </a:solidFill>
                <a:latin typeface="Calibri" panose="020F0502020204030204" pitchFamily="34" charset="0"/>
                <a:ea typeface="Calibri" panose="020F0502020204030204" pitchFamily="34" charset="-122"/>
                <a:cs typeface="Calibri" panose="020F0502020204030204" pitchFamily="34" charset="-120"/>
              </a:rPr>
              <a:t>Choropleth map to be inserted manually</a:t>
            </a:r>
            <a:endParaRPr lang="en-US" sz="1100" dirty="0"/>
          </a:p>
        </p:txBody>
      </p:sp>
      <p:sp>
        <p:nvSpPr>
          <p:cNvPr id="11" name="Text 8"/>
          <p:cNvSpPr/>
          <p:nvPr/>
        </p:nvSpPr>
        <p:spPr>
          <a:xfrm>
            <a:off x="749808" y="5285232"/>
            <a:ext cx="6775704" cy="182880"/>
          </a:xfrm>
          <a:prstGeom prst="rect">
            <a:avLst/>
          </a:prstGeom>
          <a:noFill/>
        </p:spPr>
        <p:txBody>
          <a:bodyPr wrap="square" lIns="0" tIns="0" rIns="0" bIns="0" rtlCol="0" anchor="ctr"/>
          <a:lstStyle/>
          <a:p>
            <a:pPr marL="0" indent="0">
              <a:buNone/>
            </a:pPr>
            <a:r>
              <a:rPr lang="en-US" sz="780" i="1" dirty="0">
                <a:solidFill>
                  <a:srgbClr val="AEB6C4"/>
                </a:solidFill>
                <a:latin typeface="Calibri" panose="020F0502020204030204" pitchFamily="34" charset="0"/>
                <a:ea typeface="Calibri" panose="020F0502020204030204" pitchFamily="34" charset="-122"/>
                <a:cs typeface="Calibri" panose="020F0502020204030204" pitchFamily="34" charset="-120"/>
              </a:rPr>
              <a:t>Source: [ source note to be inserted ]</a:t>
            </a:r>
            <a:endParaRPr lang="en-US" sz="780" dirty="0"/>
          </a:p>
        </p:txBody>
      </p:sp>
      <p:sp>
        <p:nvSpPr>
          <p:cNvPr id="56" name="Text 54"/>
          <p:cNvSpPr/>
          <p:nvPr/>
        </p:nvSpPr>
        <p:spPr>
          <a:xfrm>
            <a:off x="548640" y="6620256"/>
            <a:ext cx="6675120" cy="164592"/>
          </a:xfrm>
          <a:prstGeom prst="rect">
            <a:avLst/>
          </a:prstGeom>
          <a:noFill/>
        </p:spPr>
        <p:txBody>
          <a:bodyPr wrap="square" lIns="0" tIns="0" rIns="0" bIns="0" rtlCol="0" anchor="ctr"/>
          <a:lstStyle/>
          <a:p>
            <a:pPr marL="0" indent="0">
              <a:buNone/>
            </a:pPr>
            <a:r>
              <a:rPr lang="en-US" sz="80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800" dirty="0"/>
          </a:p>
        </p:txBody>
      </p:sp>
      <p:sp>
        <p:nvSpPr>
          <p:cNvPr id="12" name="Shape 9"/>
          <p:cNvSpPr/>
          <p:nvPr/>
        </p:nvSpPr>
        <p:spPr>
          <a:xfrm>
            <a:off x="7792720" y="1078865"/>
            <a:ext cx="3934460" cy="5499735"/>
          </a:xfrm>
          <a:prstGeom prst="roundRect">
            <a:avLst>
              <a:gd name="adj" fmla="val 1506"/>
            </a:avLst>
          </a:prstGeom>
          <a:solidFill>
            <a:srgbClr val="FFFFFF"/>
          </a:solidFill>
          <a:ln w="12700">
            <a:solidFill>
              <a:srgbClr val="E3E3E0"/>
            </a:solidFill>
            <a:prstDash val="solid"/>
          </a:ln>
        </p:spPr>
        <p:txBody>
          <a:bodyPr/>
          <a:p>
            <a:r>
              <a:rPr lang="en-US" altLang="en-US" sz="800"/>
              <a:t>	</a:t>
            </a:r>
            <a:endParaRPr lang="en-US" altLang="en-US" sz="800"/>
          </a:p>
          <a:p>
            <a:endParaRPr lang="en-US" altLang="en-US" sz="800"/>
          </a:p>
        </p:txBody>
      </p:sp>
      <p:sp>
        <p:nvSpPr>
          <p:cNvPr id="13" name="Text 10"/>
          <p:cNvSpPr/>
          <p:nvPr/>
        </p:nvSpPr>
        <p:spPr>
          <a:xfrm>
            <a:off x="8042910" y="1167130"/>
            <a:ext cx="3510280" cy="250190"/>
          </a:xfrm>
          <a:prstGeom prst="rect">
            <a:avLst/>
          </a:prstGeom>
          <a:noFill/>
        </p:spPr>
        <p:txBody>
          <a:bodyPr wrap="square" lIns="0" tIns="0" rIns="0" bIns="0" rtlCol="0" anchor="ctr"/>
          <a:lstStyle/>
          <a:p>
            <a:pPr marL="0" indent="0">
              <a:buNone/>
            </a:pPr>
            <a:r>
              <a:rPr lang="en-US" sz="1400" b="1" kern="0" spc="60" dirty="0">
                <a:solidFill>
                  <a:srgbClr val="16233F"/>
                </a:solidFill>
                <a:latin typeface="Calibri" panose="020F0502020204030204" pitchFamily="34" charset="0"/>
                <a:ea typeface="Calibri" panose="020F0502020204030204" pitchFamily="34" charset="-122"/>
                <a:cs typeface="Calibri" panose="020F0502020204030204" pitchFamily="34" charset="-120"/>
              </a:rPr>
              <a:t>STATE RANKINGS (2024–25)</a:t>
            </a:r>
            <a:endParaRPr lang="en-US" sz="1400" b="1" kern="0" spc="60"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67" name="Group 66"/>
          <p:cNvGrpSpPr/>
          <p:nvPr/>
        </p:nvGrpSpPr>
        <p:grpSpPr>
          <a:xfrm>
            <a:off x="8042910" y="1438275"/>
            <a:ext cx="3515360" cy="5017770"/>
            <a:chOff x="12662" y="2521"/>
            <a:chExt cx="5536" cy="7120"/>
          </a:xfrm>
        </p:grpSpPr>
        <p:sp>
          <p:nvSpPr>
            <p:cNvPr id="14" name="Shape 11"/>
            <p:cNvSpPr/>
            <p:nvPr/>
          </p:nvSpPr>
          <p:spPr>
            <a:xfrm>
              <a:off x="12666" y="2522"/>
              <a:ext cx="5528" cy="429"/>
            </a:xfrm>
            <a:prstGeom prst="rect">
              <a:avLst/>
            </a:prstGeom>
            <a:solidFill>
              <a:srgbClr val="F4F4F2"/>
            </a:solidFill>
          </p:spPr>
        </p:sp>
        <p:sp>
          <p:nvSpPr>
            <p:cNvPr id="15" name="Text 12"/>
            <p:cNvSpPr/>
            <p:nvPr/>
          </p:nvSpPr>
          <p:spPr>
            <a:xfrm>
              <a:off x="12757" y="2522"/>
              <a:ext cx="793" cy="429"/>
            </a:xfrm>
            <a:prstGeom prst="rect">
              <a:avLst/>
            </a:prstGeom>
            <a:noFill/>
          </p:spPr>
          <p:txBody>
            <a:bodyPr wrap="square" lIns="0" tIns="0" rIns="0" bIns="0" rtlCol="0" anchor="ctr"/>
            <a:lstStyle/>
            <a:p>
              <a:pPr marL="0" indent="0">
                <a:buNone/>
              </a:pPr>
              <a:r>
                <a:rPr lang="en-US" sz="1200" b="1" dirty="0">
                  <a:solidFill>
                    <a:srgbClr val="5B6472"/>
                  </a:solidFill>
                  <a:latin typeface="Calibri" panose="020F0502020204030204" pitchFamily="34" charset="0"/>
                  <a:ea typeface="Calibri" panose="020F0502020204030204" pitchFamily="34" charset="-122"/>
                  <a:cs typeface="Calibri" panose="020F0502020204030204" pitchFamily="34" charset="-120"/>
                </a:rPr>
                <a:t>Rank</a:t>
              </a:r>
              <a:endParaRPr lang="en-US" sz="1200" b="1"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3"/>
            <p:cNvSpPr/>
            <p:nvPr/>
          </p:nvSpPr>
          <p:spPr>
            <a:xfrm>
              <a:off x="14198" y="2521"/>
              <a:ext cx="1311" cy="429"/>
            </a:xfrm>
            <a:prstGeom prst="rect">
              <a:avLst/>
            </a:prstGeom>
            <a:noFill/>
          </p:spPr>
          <p:txBody>
            <a:bodyPr wrap="square" lIns="0" tIns="0" rIns="0" bIns="0" rtlCol="0" anchor="ctr"/>
            <a:lstStyle/>
            <a:p>
              <a:pPr marL="0" indent="0">
                <a:buNone/>
              </a:pPr>
              <a:r>
                <a:rPr lang="en-US" sz="1200" b="1" dirty="0">
                  <a:solidFill>
                    <a:srgbClr val="5B6472"/>
                  </a:solidFill>
                  <a:latin typeface="Calibri" panose="020F0502020204030204" pitchFamily="34" charset="0"/>
                  <a:ea typeface="Calibri" panose="020F0502020204030204" pitchFamily="34" charset="-122"/>
                  <a:cs typeface="Calibri" panose="020F0502020204030204" pitchFamily="34" charset="-120"/>
                </a:rPr>
                <a:t>State</a:t>
              </a:r>
              <a:endParaRPr lang="en-US" sz="1200" b="1"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5"/>
            <p:cNvSpPr/>
            <p:nvPr/>
          </p:nvSpPr>
          <p:spPr>
            <a:xfrm>
              <a:off x="12666" y="2951"/>
              <a:ext cx="5528" cy="6672"/>
            </a:xfrm>
            <a:prstGeom prst="rect">
              <a:avLst/>
            </a:prstGeom>
            <a:ln w="12700">
              <a:solidFill>
                <a:srgbClr val="E1E1DD"/>
              </a:solidFill>
              <a:prstDash val="solid"/>
            </a:ln>
          </p:spPr>
        </p:sp>
        <p:sp>
          <p:nvSpPr>
            <p:cNvPr id="18" name="Shape 16"/>
            <p:cNvSpPr/>
            <p:nvPr/>
          </p:nvSpPr>
          <p:spPr>
            <a:xfrm>
              <a:off x="13550" y="2951"/>
              <a:ext cx="0" cy="6672"/>
            </a:xfrm>
            <a:prstGeom prst="line">
              <a:avLst/>
            </a:prstGeom>
            <a:noFill/>
            <a:ln w="9525">
              <a:solidFill>
                <a:srgbClr val="EFEFED"/>
              </a:solidFill>
              <a:prstDash val="solid"/>
            </a:ln>
          </p:spPr>
        </p:sp>
        <p:sp>
          <p:nvSpPr>
            <p:cNvPr id="20" name="Shape 18"/>
            <p:cNvSpPr/>
            <p:nvPr/>
          </p:nvSpPr>
          <p:spPr>
            <a:xfrm>
              <a:off x="12666" y="3189"/>
              <a:ext cx="5528" cy="0"/>
            </a:xfrm>
            <a:prstGeom prst="line">
              <a:avLst/>
            </a:prstGeom>
            <a:noFill/>
            <a:ln w="6350">
              <a:solidFill>
                <a:srgbClr val="EFEFED"/>
              </a:solidFill>
              <a:prstDash val="solid"/>
            </a:ln>
          </p:spPr>
        </p:sp>
        <p:sp>
          <p:nvSpPr>
            <p:cNvPr id="21" name="Shape 19"/>
            <p:cNvSpPr/>
            <p:nvPr/>
          </p:nvSpPr>
          <p:spPr>
            <a:xfrm>
              <a:off x="12666" y="3428"/>
              <a:ext cx="5528" cy="0"/>
            </a:xfrm>
            <a:prstGeom prst="line">
              <a:avLst/>
            </a:prstGeom>
            <a:noFill/>
            <a:ln w="6350">
              <a:solidFill>
                <a:srgbClr val="EFEFED"/>
              </a:solidFill>
              <a:prstDash val="solid"/>
            </a:ln>
          </p:spPr>
        </p:sp>
        <p:sp>
          <p:nvSpPr>
            <p:cNvPr id="22" name="Shape 20"/>
            <p:cNvSpPr/>
            <p:nvPr/>
          </p:nvSpPr>
          <p:spPr>
            <a:xfrm>
              <a:off x="12666" y="3666"/>
              <a:ext cx="5528" cy="0"/>
            </a:xfrm>
            <a:prstGeom prst="line">
              <a:avLst/>
            </a:prstGeom>
            <a:noFill/>
            <a:ln w="6350">
              <a:solidFill>
                <a:srgbClr val="EFEFED"/>
              </a:solidFill>
              <a:prstDash val="solid"/>
            </a:ln>
          </p:spPr>
        </p:sp>
        <p:sp>
          <p:nvSpPr>
            <p:cNvPr id="23" name="Shape 21"/>
            <p:cNvSpPr/>
            <p:nvPr/>
          </p:nvSpPr>
          <p:spPr>
            <a:xfrm>
              <a:off x="12666" y="3904"/>
              <a:ext cx="5528" cy="0"/>
            </a:xfrm>
            <a:prstGeom prst="line">
              <a:avLst/>
            </a:prstGeom>
            <a:noFill/>
            <a:ln w="6350">
              <a:solidFill>
                <a:srgbClr val="EFEFED"/>
              </a:solidFill>
              <a:prstDash val="solid"/>
            </a:ln>
          </p:spPr>
        </p:sp>
        <p:sp>
          <p:nvSpPr>
            <p:cNvPr id="24" name="Shape 22"/>
            <p:cNvSpPr/>
            <p:nvPr/>
          </p:nvSpPr>
          <p:spPr>
            <a:xfrm>
              <a:off x="12666" y="4142"/>
              <a:ext cx="5528" cy="0"/>
            </a:xfrm>
            <a:prstGeom prst="line">
              <a:avLst/>
            </a:prstGeom>
            <a:noFill/>
            <a:ln w="6350">
              <a:solidFill>
                <a:srgbClr val="EFEFED"/>
              </a:solidFill>
              <a:prstDash val="solid"/>
            </a:ln>
          </p:spPr>
        </p:sp>
        <p:sp>
          <p:nvSpPr>
            <p:cNvPr id="25" name="Shape 23"/>
            <p:cNvSpPr/>
            <p:nvPr/>
          </p:nvSpPr>
          <p:spPr>
            <a:xfrm>
              <a:off x="12666" y="4381"/>
              <a:ext cx="5528" cy="0"/>
            </a:xfrm>
            <a:prstGeom prst="line">
              <a:avLst/>
            </a:prstGeom>
            <a:noFill/>
            <a:ln w="6350">
              <a:solidFill>
                <a:srgbClr val="EFEFED"/>
              </a:solidFill>
              <a:prstDash val="solid"/>
            </a:ln>
          </p:spPr>
        </p:sp>
        <p:sp>
          <p:nvSpPr>
            <p:cNvPr id="26" name="Shape 24"/>
            <p:cNvSpPr/>
            <p:nvPr/>
          </p:nvSpPr>
          <p:spPr>
            <a:xfrm>
              <a:off x="12666" y="4619"/>
              <a:ext cx="5528" cy="0"/>
            </a:xfrm>
            <a:prstGeom prst="line">
              <a:avLst/>
            </a:prstGeom>
            <a:noFill/>
            <a:ln w="6350">
              <a:solidFill>
                <a:srgbClr val="EFEFED"/>
              </a:solidFill>
              <a:prstDash val="solid"/>
            </a:ln>
          </p:spPr>
        </p:sp>
        <p:sp>
          <p:nvSpPr>
            <p:cNvPr id="27" name="Shape 25"/>
            <p:cNvSpPr/>
            <p:nvPr/>
          </p:nvSpPr>
          <p:spPr>
            <a:xfrm>
              <a:off x="12666" y="4857"/>
              <a:ext cx="5528" cy="0"/>
            </a:xfrm>
            <a:prstGeom prst="line">
              <a:avLst/>
            </a:prstGeom>
            <a:noFill/>
            <a:ln w="6350">
              <a:solidFill>
                <a:srgbClr val="EFEFED"/>
              </a:solidFill>
              <a:prstDash val="solid"/>
            </a:ln>
          </p:spPr>
        </p:sp>
        <p:sp>
          <p:nvSpPr>
            <p:cNvPr id="28" name="Shape 26"/>
            <p:cNvSpPr/>
            <p:nvPr/>
          </p:nvSpPr>
          <p:spPr>
            <a:xfrm>
              <a:off x="12666" y="5096"/>
              <a:ext cx="5528" cy="0"/>
            </a:xfrm>
            <a:prstGeom prst="line">
              <a:avLst/>
            </a:prstGeom>
            <a:noFill/>
            <a:ln w="6350">
              <a:solidFill>
                <a:srgbClr val="EFEFED"/>
              </a:solidFill>
              <a:prstDash val="solid"/>
            </a:ln>
          </p:spPr>
        </p:sp>
        <p:sp>
          <p:nvSpPr>
            <p:cNvPr id="29" name="Shape 27"/>
            <p:cNvSpPr/>
            <p:nvPr/>
          </p:nvSpPr>
          <p:spPr>
            <a:xfrm>
              <a:off x="12666" y="5334"/>
              <a:ext cx="5528" cy="0"/>
            </a:xfrm>
            <a:prstGeom prst="line">
              <a:avLst/>
            </a:prstGeom>
            <a:noFill/>
            <a:ln w="6350">
              <a:solidFill>
                <a:srgbClr val="EFEFED"/>
              </a:solidFill>
              <a:prstDash val="solid"/>
            </a:ln>
          </p:spPr>
        </p:sp>
        <p:sp>
          <p:nvSpPr>
            <p:cNvPr id="30" name="Shape 28"/>
            <p:cNvSpPr/>
            <p:nvPr/>
          </p:nvSpPr>
          <p:spPr>
            <a:xfrm>
              <a:off x="12666" y="5572"/>
              <a:ext cx="5528" cy="0"/>
            </a:xfrm>
            <a:prstGeom prst="line">
              <a:avLst/>
            </a:prstGeom>
            <a:noFill/>
            <a:ln w="6350">
              <a:solidFill>
                <a:srgbClr val="EFEFED"/>
              </a:solidFill>
              <a:prstDash val="solid"/>
            </a:ln>
          </p:spPr>
        </p:sp>
        <p:sp>
          <p:nvSpPr>
            <p:cNvPr id="31" name="Shape 29"/>
            <p:cNvSpPr/>
            <p:nvPr/>
          </p:nvSpPr>
          <p:spPr>
            <a:xfrm>
              <a:off x="12666" y="5810"/>
              <a:ext cx="5528" cy="0"/>
            </a:xfrm>
            <a:prstGeom prst="line">
              <a:avLst/>
            </a:prstGeom>
            <a:noFill/>
            <a:ln w="6350">
              <a:solidFill>
                <a:srgbClr val="EFEFED"/>
              </a:solidFill>
              <a:prstDash val="solid"/>
            </a:ln>
          </p:spPr>
        </p:sp>
        <p:sp>
          <p:nvSpPr>
            <p:cNvPr id="32" name="Shape 30"/>
            <p:cNvSpPr/>
            <p:nvPr/>
          </p:nvSpPr>
          <p:spPr>
            <a:xfrm>
              <a:off x="12666" y="6049"/>
              <a:ext cx="5528" cy="0"/>
            </a:xfrm>
            <a:prstGeom prst="line">
              <a:avLst/>
            </a:prstGeom>
            <a:noFill/>
            <a:ln w="6350">
              <a:solidFill>
                <a:srgbClr val="EFEFED"/>
              </a:solidFill>
              <a:prstDash val="solid"/>
            </a:ln>
          </p:spPr>
        </p:sp>
        <p:sp>
          <p:nvSpPr>
            <p:cNvPr id="33" name="Shape 31"/>
            <p:cNvSpPr/>
            <p:nvPr/>
          </p:nvSpPr>
          <p:spPr>
            <a:xfrm>
              <a:off x="12666" y="6287"/>
              <a:ext cx="5528" cy="0"/>
            </a:xfrm>
            <a:prstGeom prst="line">
              <a:avLst/>
            </a:prstGeom>
            <a:noFill/>
            <a:ln w="6350">
              <a:solidFill>
                <a:srgbClr val="EFEFED"/>
              </a:solidFill>
              <a:prstDash val="solid"/>
            </a:ln>
          </p:spPr>
        </p:sp>
        <p:sp>
          <p:nvSpPr>
            <p:cNvPr id="34" name="Shape 32"/>
            <p:cNvSpPr/>
            <p:nvPr/>
          </p:nvSpPr>
          <p:spPr>
            <a:xfrm>
              <a:off x="12666" y="6525"/>
              <a:ext cx="5528" cy="0"/>
            </a:xfrm>
            <a:prstGeom prst="line">
              <a:avLst/>
            </a:prstGeom>
            <a:noFill/>
            <a:ln w="6350">
              <a:solidFill>
                <a:srgbClr val="EFEFED"/>
              </a:solidFill>
              <a:prstDash val="solid"/>
            </a:ln>
          </p:spPr>
        </p:sp>
        <p:sp>
          <p:nvSpPr>
            <p:cNvPr id="35" name="Shape 33"/>
            <p:cNvSpPr/>
            <p:nvPr/>
          </p:nvSpPr>
          <p:spPr>
            <a:xfrm>
              <a:off x="12666" y="6763"/>
              <a:ext cx="5528" cy="0"/>
            </a:xfrm>
            <a:prstGeom prst="line">
              <a:avLst/>
            </a:prstGeom>
            <a:noFill/>
            <a:ln w="6350">
              <a:solidFill>
                <a:srgbClr val="EFEFED"/>
              </a:solidFill>
              <a:prstDash val="solid"/>
            </a:ln>
          </p:spPr>
        </p:sp>
        <p:sp>
          <p:nvSpPr>
            <p:cNvPr id="36" name="Shape 34"/>
            <p:cNvSpPr/>
            <p:nvPr/>
          </p:nvSpPr>
          <p:spPr>
            <a:xfrm>
              <a:off x="12666" y="7002"/>
              <a:ext cx="5528" cy="0"/>
            </a:xfrm>
            <a:prstGeom prst="line">
              <a:avLst/>
            </a:prstGeom>
            <a:noFill/>
            <a:ln w="6350">
              <a:solidFill>
                <a:srgbClr val="EFEFED"/>
              </a:solidFill>
              <a:prstDash val="solid"/>
            </a:ln>
          </p:spPr>
        </p:sp>
        <p:sp>
          <p:nvSpPr>
            <p:cNvPr id="37" name="Shape 35"/>
            <p:cNvSpPr/>
            <p:nvPr/>
          </p:nvSpPr>
          <p:spPr>
            <a:xfrm>
              <a:off x="12666" y="7240"/>
              <a:ext cx="5528" cy="0"/>
            </a:xfrm>
            <a:prstGeom prst="line">
              <a:avLst/>
            </a:prstGeom>
            <a:noFill/>
            <a:ln w="6350">
              <a:solidFill>
                <a:srgbClr val="EFEFED"/>
              </a:solidFill>
              <a:prstDash val="solid"/>
            </a:ln>
          </p:spPr>
        </p:sp>
        <p:sp>
          <p:nvSpPr>
            <p:cNvPr id="38" name="Shape 36"/>
            <p:cNvSpPr/>
            <p:nvPr/>
          </p:nvSpPr>
          <p:spPr>
            <a:xfrm>
              <a:off x="12666" y="7478"/>
              <a:ext cx="5528" cy="0"/>
            </a:xfrm>
            <a:prstGeom prst="line">
              <a:avLst/>
            </a:prstGeom>
            <a:noFill/>
            <a:ln w="6350">
              <a:solidFill>
                <a:srgbClr val="EFEFED"/>
              </a:solidFill>
              <a:prstDash val="solid"/>
            </a:ln>
          </p:spPr>
        </p:sp>
        <p:sp>
          <p:nvSpPr>
            <p:cNvPr id="39" name="Shape 37"/>
            <p:cNvSpPr/>
            <p:nvPr/>
          </p:nvSpPr>
          <p:spPr>
            <a:xfrm>
              <a:off x="12666" y="7717"/>
              <a:ext cx="5528" cy="0"/>
            </a:xfrm>
            <a:prstGeom prst="line">
              <a:avLst/>
            </a:prstGeom>
            <a:noFill/>
            <a:ln w="6350">
              <a:solidFill>
                <a:srgbClr val="EFEFED"/>
              </a:solidFill>
              <a:prstDash val="solid"/>
            </a:ln>
          </p:spPr>
        </p:sp>
        <p:sp>
          <p:nvSpPr>
            <p:cNvPr id="40" name="Shape 38"/>
            <p:cNvSpPr/>
            <p:nvPr/>
          </p:nvSpPr>
          <p:spPr>
            <a:xfrm>
              <a:off x="12666" y="7955"/>
              <a:ext cx="5528" cy="0"/>
            </a:xfrm>
            <a:prstGeom prst="line">
              <a:avLst/>
            </a:prstGeom>
            <a:noFill/>
            <a:ln w="6350">
              <a:solidFill>
                <a:srgbClr val="EFEFED"/>
              </a:solidFill>
              <a:prstDash val="solid"/>
            </a:ln>
          </p:spPr>
        </p:sp>
        <p:sp>
          <p:nvSpPr>
            <p:cNvPr id="41" name="Shape 39"/>
            <p:cNvSpPr/>
            <p:nvPr/>
          </p:nvSpPr>
          <p:spPr>
            <a:xfrm>
              <a:off x="12666" y="8193"/>
              <a:ext cx="5528" cy="0"/>
            </a:xfrm>
            <a:prstGeom prst="line">
              <a:avLst/>
            </a:prstGeom>
            <a:noFill/>
            <a:ln w="6350">
              <a:solidFill>
                <a:srgbClr val="EFEFED"/>
              </a:solidFill>
              <a:prstDash val="solid"/>
            </a:ln>
          </p:spPr>
        </p:sp>
        <p:sp>
          <p:nvSpPr>
            <p:cNvPr id="42" name="Shape 40"/>
            <p:cNvSpPr/>
            <p:nvPr/>
          </p:nvSpPr>
          <p:spPr>
            <a:xfrm>
              <a:off x="12666" y="8431"/>
              <a:ext cx="5528" cy="0"/>
            </a:xfrm>
            <a:prstGeom prst="line">
              <a:avLst/>
            </a:prstGeom>
            <a:noFill/>
            <a:ln w="6350">
              <a:solidFill>
                <a:srgbClr val="EFEFED"/>
              </a:solidFill>
              <a:prstDash val="solid"/>
            </a:ln>
          </p:spPr>
        </p:sp>
        <p:sp>
          <p:nvSpPr>
            <p:cNvPr id="43" name="Shape 41"/>
            <p:cNvSpPr/>
            <p:nvPr/>
          </p:nvSpPr>
          <p:spPr>
            <a:xfrm>
              <a:off x="12666" y="8670"/>
              <a:ext cx="5528" cy="0"/>
            </a:xfrm>
            <a:prstGeom prst="line">
              <a:avLst/>
            </a:prstGeom>
            <a:noFill/>
            <a:ln w="6350">
              <a:solidFill>
                <a:srgbClr val="EFEFED"/>
              </a:solidFill>
              <a:prstDash val="solid"/>
            </a:ln>
          </p:spPr>
        </p:sp>
        <p:sp>
          <p:nvSpPr>
            <p:cNvPr id="44" name="Shape 42"/>
            <p:cNvSpPr/>
            <p:nvPr/>
          </p:nvSpPr>
          <p:spPr>
            <a:xfrm>
              <a:off x="12666" y="8908"/>
              <a:ext cx="5528" cy="0"/>
            </a:xfrm>
            <a:prstGeom prst="line">
              <a:avLst/>
            </a:prstGeom>
            <a:noFill/>
            <a:ln w="6350">
              <a:solidFill>
                <a:srgbClr val="EFEFED"/>
              </a:solidFill>
              <a:prstDash val="solid"/>
            </a:ln>
          </p:spPr>
        </p:sp>
        <p:sp>
          <p:nvSpPr>
            <p:cNvPr id="45" name="Shape 43"/>
            <p:cNvSpPr/>
            <p:nvPr/>
          </p:nvSpPr>
          <p:spPr>
            <a:xfrm>
              <a:off x="12666" y="9146"/>
              <a:ext cx="5528" cy="0"/>
            </a:xfrm>
            <a:prstGeom prst="line">
              <a:avLst/>
            </a:prstGeom>
            <a:noFill/>
            <a:ln w="6350">
              <a:solidFill>
                <a:srgbClr val="EFEFED"/>
              </a:solidFill>
              <a:prstDash val="solid"/>
            </a:ln>
          </p:spPr>
        </p:sp>
        <p:sp>
          <p:nvSpPr>
            <p:cNvPr id="46" name="Shape 44"/>
            <p:cNvSpPr/>
            <p:nvPr/>
          </p:nvSpPr>
          <p:spPr>
            <a:xfrm>
              <a:off x="12666" y="9385"/>
              <a:ext cx="5528" cy="0"/>
            </a:xfrm>
            <a:prstGeom prst="line">
              <a:avLst/>
            </a:prstGeom>
            <a:noFill/>
            <a:ln w="6350">
              <a:solidFill>
                <a:srgbClr val="EFEFED"/>
              </a:solidFill>
              <a:prstDash val="solid"/>
            </a:ln>
          </p:spPr>
        </p:sp>
        <p:sp>
          <p:nvSpPr>
            <p:cNvPr id="47" name="Text 45"/>
            <p:cNvSpPr/>
            <p:nvPr/>
          </p:nvSpPr>
          <p:spPr>
            <a:xfrm>
              <a:off x="12666" y="6090"/>
              <a:ext cx="5528" cy="394"/>
            </a:xfrm>
            <a:prstGeom prst="rect">
              <a:avLst/>
            </a:prstGeom>
            <a:solidFill>
              <a:srgbClr val="FFFFFF"/>
            </a:solidFill>
          </p:spPr>
          <p:txBody>
            <a:bodyPr wrap="square" lIns="0" tIns="0" rIns="0" bIns="0" rtlCol="0" anchor="ctr"/>
            <a:lstStyle/>
            <a:p>
              <a:pPr marL="0" indent="0" algn="ctr">
                <a:buNone/>
              </a:pPr>
              <a:endParaRPr lang="en-US" sz="800" dirty="0"/>
            </a:p>
          </p:txBody>
        </p:sp>
        <p:sp>
          <p:nvSpPr>
            <p:cNvPr id="60" name="Text Box 59"/>
            <p:cNvSpPr txBox="1"/>
            <p:nvPr/>
          </p:nvSpPr>
          <p:spPr>
            <a:xfrm>
              <a:off x="12666" y="2886"/>
              <a:ext cx="3496" cy="6737"/>
            </a:xfrm>
            <a:prstGeom prst="rect">
              <a:avLst/>
            </a:prstGeom>
            <a:noFill/>
          </p:spPr>
          <p:txBody>
            <a:bodyPr wrap="square" rtlCol="0" anchor="t">
              <a:noAutofit/>
            </a:bodyPr>
            <a:p>
              <a:r>
                <a:rPr lang="en-US" altLang="en-US" sz="1100">
                  <a:sym typeface="+mn-ea"/>
                </a:rPr>
                <a:t>1	Goa</a:t>
              </a:r>
              <a:endParaRPr lang="en-US" altLang="en-US" sz="1100"/>
            </a:p>
            <a:p>
              <a:r>
                <a:rPr lang="en-US" altLang="en-US" sz="1100">
                  <a:sym typeface="+mn-ea"/>
                </a:rPr>
                <a:t>2	Haryana</a:t>
              </a:r>
              <a:endParaRPr lang="en-US" altLang="en-US" sz="1100"/>
            </a:p>
            <a:p>
              <a:r>
                <a:rPr lang="en-US" altLang="en-US" sz="1100">
                  <a:sym typeface="+mn-ea"/>
                </a:rPr>
                <a:t>3	Maharashtra</a:t>
              </a:r>
              <a:endParaRPr lang="en-US" altLang="en-US" sz="1100"/>
            </a:p>
            <a:p>
              <a:r>
                <a:rPr lang="en-US" altLang="en-US" sz="1100">
                  <a:sym typeface="+mn-ea"/>
                </a:rPr>
                <a:t>4	Uttarakhand</a:t>
              </a:r>
              <a:endParaRPr lang="en-US" altLang="en-US" sz="1100"/>
            </a:p>
            <a:p>
              <a:r>
                <a:rPr lang="en-US" altLang="en-US" sz="1100">
                  <a:sym typeface="+mn-ea"/>
                </a:rPr>
                <a:t>5	Kerala</a:t>
              </a:r>
              <a:endParaRPr lang="en-US" altLang="en-US" sz="1100"/>
            </a:p>
            <a:p>
              <a:r>
                <a:rPr lang="en-US" altLang="en-US" sz="1100">
                  <a:sym typeface="+mn-ea"/>
                </a:rPr>
                <a:t>6	Sikkim</a:t>
              </a:r>
              <a:endParaRPr lang="en-US" altLang="en-US" sz="1100"/>
            </a:p>
            <a:p>
              <a:r>
                <a:rPr lang="en-US" altLang="en-US" sz="1100">
                  <a:sym typeface="+mn-ea"/>
                </a:rPr>
                <a:t>7	Tamil Nadu</a:t>
              </a:r>
              <a:endParaRPr lang="en-US" altLang="en-US" sz="1100"/>
            </a:p>
            <a:p>
              <a:r>
                <a:rPr lang="en-US" altLang="en-US" sz="1100">
                  <a:sym typeface="+mn-ea"/>
                </a:rPr>
                <a:t>8	Himachal Pradesh</a:t>
              </a:r>
              <a:endParaRPr lang="en-US" altLang="en-US" sz="1100"/>
            </a:p>
            <a:p>
              <a:r>
                <a:rPr lang="en-US" altLang="en-US" sz="1100">
                  <a:sym typeface="+mn-ea"/>
                </a:rPr>
                <a:t>9	Telangana</a:t>
              </a:r>
              <a:endParaRPr lang="en-US" altLang="en-US" sz="1100"/>
            </a:p>
            <a:p>
              <a:r>
                <a:rPr lang="en-US" altLang="en-US" sz="1100">
                  <a:sym typeface="+mn-ea"/>
                </a:rPr>
                <a:t>10	Karnataka</a:t>
              </a:r>
              <a:endParaRPr lang="en-US" altLang="en-US" sz="1100"/>
            </a:p>
            <a:p>
              <a:r>
                <a:rPr lang="en-US" altLang="en-US" sz="1100">
                  <a:sym typeface="+mn-ea"/>
                </a:rPr>
                <a:t>11	Punjab</a:t>
              </a:r>
              <a:endParaRPr lang="en-US" altLang="en-US" sz="1100"/>
            </a:p>
            <a:p>
              <a:r>
                <a:rPr lang="en-US" altLang="en-US" sz="1100">
                  <a:sym typeface="+mn-ea"/>
                </a:rPr>
                <a:t>12	Andhra Pradesh</a:t>
              </a:r>
              <a:endParaRPr lang="en-US" altLang="en-US" sz="1100"/>
            </a:p>
            <a:p>
              <a:r>
                <a:rPr lang="en-US" altLang="en-US" sz="1100">
                  <a:sym typeface="+mn-ea"/>
                </a:rPr>
                <a:t>13	Gujarat</a:t>
              </a:r>
              <a:endParaRPr lang="en-US" altLang="en-US" sz="1100"/>
            </a:p>
            <a:p>
              <a:r>
                <a:rPr lang="en-US" altLang="en-US" sz="1100">
                  <a:sym typeface="+mn-ea"/>
                </a:rPr>
                <a:t>14	Odisha</a:t>
              </a:r>
              <a:endParaRPr lang="en-US" altLang="en-US" sz="1100"/>
            </a:p>
            <a:p>
              <a:r>
                <a:rPr lang="en-US" altLang="en-US" sz="1100">
                  <a:sym typeface="+mn-ea"/>
                </a:rPr>
                <a:t>15	Mizoram</a:t>
              </a:r>
              <a:endParaRPr lang="en-US" altLang="en-US" sz="1100"/>
            </a:p>
            <a:p>
              <a:r>
                <a:rPr lang="en-US" altLang="en-US" sz="1100">
                  <a:sym typeface="+mn-ea"/>
                </a:rPr>
                <a:t>16	Arunachal Pradesh</a:t>
              </a:r>
              <a:endParaRPr lang="en-US" altLang="en-US" sz="1100"/>
            </a:p>
            <a:p>
              <a:r>
                <a:rPr lang="en-US" altLang="en-US" sz="1100">
                  <a:sym typeface="+mn-ea"/>
                </a:rPr>
                <a:t>17	Assam</a:t>
              </a:r>
              <a:endParaRPr lang="en-US" altLang="en-US" sz="1100"/>
            </a:p>
            <a:p>
              <a:r>
                <a:rPr lang="en-US" altLang="en-US" sz="1100">
                  <a:sym typeface="+mn-ea"/>
                </a:rPr>
                <a:t>18	West Bengal</a:t>
              </a:r>
              <a:endParaRPr lang="en-US" altLang="en-US" sz="1100"/>
            </a:p>
            <a:p>
              <a:r>
                <a:rPr lang="en-US" altLang="en-US" sz="1100">
                  <a:sym typeface="+mn-ea"/>
                </a:rPr>
                <a:t>19	Tripura</a:t>
              </a:r>
              <a:endParaRPr lang="en-US" altLang="en-US" sz="1100"/>
            </a:p>
            <a:p>
              <a:r>
                <a:rPr lang="en-US" altLang="en-US" sz="1100">
                  <a:sym typeface="+mn-ea"/>
                </a:rPr>
                <a:t>20	Rajasthan</a:t>
              </a:r>
              <a:endParaRPr lang="en-US" altLang="en-US" sz="1100"/>
            </a:p>
            <a:p>
              <a:r>
                <a:rPr lang="en-US" altLang="en-US" sz="1100">
                  <a:sym typeface="+mn-ea"/>
                </a:rPr>
                <a:t>21	Chhattisgarh</a:t>
              </a:r>
              <a:endParaRPr lang="en-US" altLang="en-US" sz="1100"/>
            </a:p>
            <a:p>
              <a:r>
                <a:rPr lang="en-US" altLang="en-US" sz="1100">
                  <a:sym typeface="+mn-ea"/>
                </a:rPr>
                <a:t>22	Madhya Pradesh</a:t>
              </a:r>
              <a:endParaRPr lang="en-US" altLang="en-US" sz="1100"/>
            </a:p>
            <a:p>
              <a:r>
                <a:rPr lang="en-US" altLang="en-US" sz="1100">
                  <a:sym typeface="+mn-ea"/>
                </a:rPr>
                <a:t>23	Jharkhand</a:t>
              </a:r>
              <a:endParaRPr lang="en-US" altLang="en-US" sz="1100"/>
            </a:p>
            <a:p>
              <a:r>
                <a:rPr lang="en-US" altLang="en-US" sz="1100">
                  <a:sym typeface="+mn-ea"/>
                </a:rPr>
                <a:t>24	Uttar Pradesh</a:t>
              </a:r>
              <a:endParaRPr lang="en-US" altLang="en-US" sz="1100"/>
            </a:p>
            <a:p>
              <a:r>
                <a:rPr lang="en-US" altLang="en-US" sz="1100">
                  <a:sym typeface="+mn-ea"/>
                </a:rPr>
                <a:t>25	Meghalaya</a:t>
              </a:r>
              <a:endParaRPr lang="en-US" altLang="en-US" sz="1100"/>
            </a:p>
            <a:p>
              <a:r>
                <a:rPr lang="en-US" altLang="en-US" sz="1100">
                  <a:sym typeface="+mn-ea"/>
                </a:rPr>
                <a:t>26	Manipur</a:t>
              </a:r>
              <a:endParaRPr lang="en-US" altLang="en-US" sz="1100"/>
            </a:p>
            <a:p>
              <a:r>
                <a:rPr lang="en-US" altLang="en-US" sz="1100">
                  <a:sym typeface="+mn-ea"/>
                </a:rPr>
                <a:t>27	Nagaland</a:t>
              </a:r>
              <a:endParaRPr lang="en-US" altLang="en-US" sz="1100"/>
            </a:p>
            <a:p>
              <a:r>
                <a:rPr lang="en-US" altLang="en-US" sz="1100">
                  <a:sym typeface="+mn-ea"/>
                </a:rPr>
                <a:t>28	Bihar</a:t>
              </a:r>
              <a:endParaRPr lang="en-US" altLang="en-US" sz="1100">
                <a:sym typeface="+mn-ea"/>
              </a:endParaRPr>
            </a:p>
          </p:txBody>
        </p:sp>
        <p:sp>
          <p:nvSpPr>
            <p:cNvPr id="61" name="Shape 29"/>
            <p:cNvSpPr/>
            <p:nvPr/>
          </p:nvSpPr>
          <p:spPr>
            <a:xfrm flipV="1">
              <a:off x="12662" y="6289"/>
              <a:ext cx="5536" cy="6"/>
            </a:xfrm>
            <a:prstGeom prst="line">
              <a:avLst/>
            </a:prstGeom>
            <a:noFill/>
            <a:ln w="6350">
              <a:solidFill>
                <a:srgbClr val="EFEFED"/>
              </a:solidFill>
              <a:prstDash val="solid"/>
            </a:ln>
          </p:spPr>
        </p:sp>
        <p:sp>
          <p:nvSpPr>
            <p:cNvPr id="66" name="Shape 16"/>
            <p:cNvSpPr/>
            <p:nvPr/>
          </p:nvSpPr>
          <p:spPr>
            <a:xfrm>
              <a:off x="13550" y="3169"/>
              <a:ext cx="1" cy="6472"/>
            </a:xfrm>
            <a:prstGeom prst="line">
              <a:avLst/>
            </a:prstGeom>
            <a:noFill/>
            <a:ln w="9525">
              <a:solidFill>
                <a:srgbClr val="EFEFED"/>
              </a:solidFill>
              <a:prstDash val="solid"/>
            </a:ln>
          </p:spPr>
        </p:sp>
      </p:grpSp>
      <p:pic>
        <p:nvPicPr>
          <p:cNvPr id="19" name="Picture 18" descr="India_FII_Choropleth2_2024_25"/>
          <p:cNvPicPr>
            <a:picLocks noChangeAspect="1"/>
          </p:cNvPicPr>
          <p:nvPr/>
        </p:nvPicPr>
        <p:blipFill>
          <a:blip r:embed="rId1"/>
          <a:srcRect r="6978"/>
          <a:stretch>
            <a:fillRect/>
          </a:stretch>
        </p:blipFill>
        <p:spPr>
          <a:xfrm>
            <a:off x="548640" y="1092200"/>
            <a:ext cx="7178040" cy="5040630"/>
          </a:xfrm>
          <a:prstGeom prst="rect">
            <a:avLst/>
          </a:prstGeom>
          <a:ln>
            <a:solidFill>
              <a:schemeClr val="bg1">
                <a:lumMod val="85000"/>
              </a:schemeClr>
            </a:solidFill>
          </a:ln>
        </p:spPr>
      </p:pic>
      <p:grpSp>
        <p:nvGrpSpPr>
          <p:cNvPr id="51" name="Group 50"/>
          <p:cNvGrpSpPr/>
          <p:nvPr/>
        </p:nvGrpSpPr>
        <p:grpSpPr>
          <a:xfrm>
            <a:off x="548640" y="5871210"/>
            <a:ext cx="10830560" cy="742950"/>
            <a:chOff x="864" y="9246"/>
            <a:chExt cx="17056" cy="1170"/>
          </a:xfrm>
        </p:grpSpPr>
        <p:grpSp>
          <p:nvGrpSpPr>
            <p:cNvPr id="71" name="Group 70"/>
            <p:cNvGrpSpPr/>
            <p:nvPr/>
          </p:nvGrpSpPr>
          <p:grpSpPr>
            <a:xfrm>
              <a:off x="864" y="9246"/>
              <a:ext cx="17056" cy="1170"/>
              <a:chOff x="881" y="9781"/>
              <a:chExt cx="17056" cy="1170"/>
            </a:xfrm>
          </p:grpSpPr>
          <p:sp>
            <p:nvSpPr>
              <p:cNvPr id="48" name="Shape 46"/>
              <p:cNvSpPr/>
              <p:nvPr/>
            </p:nvSpPr>
            <p:spPr>
              <a:xfrm>
                <a:off x="881" y="9781"/>
                <a:ext cx="11304" cy="1170"/>
              </a:xfrm>
              <a:prstGeom prst="roundRect">
                <a:avLst>
                  <a:gd name="adj" fmla="val 10588"/>
                </a:avLst>
              </a:prstGeom>
              <a:solidFill>
                <a:srgbClr val="16233F"/>
              </a:solidFill>
            </p:spPr>
          </p:sp>
          <p:sp>
            <p:nvSpPr>
              <p:cNvPr id="49" name="Text 47"/>
              <p:cNvSpPr/>
              <p:nvPr/>
            </p:nvSpPr>
            <p:spPr>
              <a:xfrm>
                <a:off x="1157" y="9888"/>
                <a:ext cx="16780" cy="108"/>
              </a:xfrm>
              <a:prstGeom prst="rect">
                <a:avLst/>
              </a:prstGeom>
              <a:noFill/>
            </p:spPr>
            <p:txBody>
              <a:bodyPr wrap="square" lIns="0" tIns="0" rIns="0" bIns="0" rtlCol="0" anchor="ctr"/>
              <a:lstStyle/>
              <a:p>
                <a:pPr marL="0" indent="0">
                  <a:buNone/>
                </a:pPr>
                <a:r>
                  <a:rPr lang="en-US" sz="10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WHAT THE MAP REVEALS</a:t>
                </a:r>
                <a:endParaRPr lang="en-US" sz="10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64" name="Group 63"/>
              <p:cNvGrpSpPr/>
              <p:nvPr/>
            </p:nvGrpSpPr>
            <p:grpSpPr>
              <a:xfrm rot="0">
                <a:off x="955" y="10074"/>
                <a:ext cx="204" cy="499"/>
                <a:chOff x="1208" y="9432"/>
                <a:chExt cx="203" cy="1065"/>
              </a:xfrm>
            </p:grpSpPr>
            <p:sp>
              <p:nvSpPr>
                <p:cNvPr id="50" name="Text 48"/>
                <p:cNvSpPr/>
                <p:nvPr/>
              </p:nvSpPr>
              <p:spPr>
                <a:xfrm>
                  <a:off x="1210" y="9432"/>
                  <a:ext cx="202" cy="230"/>
                </a:xfrm>
                <a:prstGeom prst="rect">
                  <a:avLst/>
                </a:prstGeom>
                <a:noFill/>
              </p:spPr>
              <p:txBody>
                <a:bodyPr wrap="square" lIns="0" tIns="0" rIns="0" bIns="0" rtlCol="0" anchor="ctr"/>
                <a:lstStyle/>
                <a:p>
                  <a:pPr marL="0" indent="0">
                    <a:buNone/>
                  </a:pPr>
                  <a:r>
                    <a:rPr lang="en-US" sz="1000" b="1" dirty="0">
                      <a:solidFill>
                        <a:srgbClr val="9FB1D6"/>
                      </a:solidFill>
                      <a:latin typeface="Calibri" panose="020F0502020204030204" pitchFamily="34" charset="0"/>
                      <a:ea typeface="Calibri" panose="020F0502020204030204" pitchFamily="34" charset="-122"/>
                      <a:cs typeface="Calibri" panose="020F0502020204030204" pitchFamily="34" charset="-120"/>
                    </a:rPr>
                    <a:t>•</a:t>
                  </a:r>
                  <a:endParaRPr lang="en-US" sz="1000" b="1" dirty="0">
                    <a:solidFill>
                      <a:srgbClr val="9FB1D6"/>
                    </a:solidFill>
                    <a:latin typeface="Calibri" panose="020F0502020204030204" pitchFamily="34" charset="0"/>
                    <a:ea typeface="Calibri" panose="020F0502020204030204" pitchFamily="34" charset="-122"/>
                    <a:cs typeface="Calibri" panose="020F0502020204030204" pitchFamily="34" charset="-120"/>
                  </a:endParaRPr>
                </a:p>
              </p:txBody>
            </p:sp>
            <p:sp>
              <p:nvSpPr>
                <p:cNvPr id="52" name="Text 50"/>
                <p:cNvSpPr/>
                <p:nvPr/>
              </p:nvSpPr>
              <p:spPr>
                <a:xfrm>
                  <a:off x="1208" y="10267"/>
                  <a:ext cx="202" cy="230"/>
                </a:xfrm>
                <a:prstGeom prst="rect">
                  <a:avLst/>
                </a:prstGeom>
                <a:noFill/>
              </p:spPr>
              <p:txBody>
                <a:bodyPr wrap="square" lIns="0" tIns="0" rIns="0" bIns="0" rtlCol="0" anchor="ctr"/>
                <a:lstStyle/>
                <a:p>
                  <a:pPr marL="0" indent="0">
                    <a:buNone/>
                  </a:pPr>
                  <a:r>
                    <a:rPr lang="en-US" sz="1000" b="1" dirty="0">
                      <a:solidFill>
                        <a:srgbClr val="9FB1D6"/>
                      </a:solidFill>
                      <a:latin typeface="Calibri" panose="020F0502020204030204" pitchFamily="34" charset="0"/>
                      <a:ea typeface="Calibri" panose="020F0502020204030204" pitchFamily="34" charset="-122"/>
                      <a:cs typeface="Calibri" panose="020F0502020204030204" pitchFamily="34" charset="-120"/>
                    </a:rPr>
                    <a:t>•</a:t>
                  </a:r>
                  <a:endParaRPr lang="en-US" sz="1000" b="1" dirty="0">
                    <a:solidFill>
                      <a:srgbClr val="9FB1D6"/>
                    </a:solidFill>
                    <a:latin typeface="Calibri" panose="020F0502020204030204" pitchFamily="34" charset="0"/>
                    <a:ea typeface="Calibri" panose="020F0502020204030204" pitchFamily="34" charset="-122"/>
                    <a:cs typeface="Calibri" panose="020F0502020204030204" pitchFamily="34" charset="-120"/>
                  </a:endParaRPr>
                </a:p>
              </p:txBody>
            </p:sp>
            <p:sp>
              <p:nvSpPr>
                <p:cNvPr id="54" name="Text 52"/>
                <p:cNvSpPr/>
                <p:nvPr/>
              </p:nvSpPr>
              <p:spPr>
                <a:xfrm>
                  <a:off x="1210" y="9936"/>
                  <a:ext cx="202" cy="230"/>
                </a:xfrm>
                <a:prstGeom prst="rect">
                  <a:avLst/>
                </a:prstGeom>
                <a:noFill/>
              </p:spPr>
              <p:txBody>
                <a:bodyPr wrap="square" lIns="0" tIns="0" rIns="0" bIns="0" rtlCol="0" anchor="ctr"/>
                <a:lstStyle/>
                <a:p>
                  <a:pPr marL="0" indent="0">
                    <a:buNone/>
                  </a:pPr>
                  <a:endParaRPr lang="en-US" sz="1000" b="1" dirty="0">
                    <a:solidFill>
                      <a:srgbClr val="9FB1D6"/>
                    </a:solidFill>
                    <a:latin typeface="Calibri" panose="020F0502020204030204" pitchFamily="34" charset="0"/>
                    <a:ea typeface="Calibri" panose="020F0502020204030204" pitchFamily="34" charset="-122"/>
                    <a:cs typeface="Calibri" panose="020F0502020204030204" pitchFamily="34" charset="-120"/>
                  </a:endParaRPr>
                </a:p>
              </p:txBody>
            </p:sp>
          </p:grpSp>
        </p:grpSp>
        <p:sp>
          <p:nvSpPr>
            <p:cNvPr id="72" name="Text 47"/>
            <p:cNvSpPr/>
            <p:nvPr/>
          </p:nvSpPr>
          <p:spPr>
            <a:xfrm>
              <a:off x="1167" y="9658"/>
              <a:ext cx="11002" cy="225"/>
            </a:xfrm>
            <a:prstGeom prst="rect">
              <a:avLst/>
            </a:prstGeom>
            <a:noFill/>
          </p:spPr>
          <p:txBody>
            <a:bodyPr wrap="square" lIns="0" tIns="0" rIns="0" bIns="0" rtlCol="0" anchor="ctr"/>
            <a:lstStyle/>
            <a:p>
              <a:pPr marL="0" indent="0">
                <a:lnSpc>
                  <a:spcPct val="90000"/>
                </a:lnSpc>
                <a:buNone/>
              </a:pPr>
              <a:r>
                <a:rPr lang="en-US" altLang="en-US" sz="1000"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Higher financial inclusion is concentrated primarily in Western and Southern India, with Goa, Haryana, Maharashtra, Uttarakhand, Kerala, Tamil Nadu and Telangana among the leading states.</a:t>
              </a:r>
              <a:endParaRPr lang="en-US" altLang="en-US" sz="1000"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75" name="Text 47"/>
            <p:cNvSpPr/>
            <p:nvPr/>
          </p:nvSpPr>
          <p:spPr>
            <a:xfrm>
              <a:off x="1143" y="10038"/>
              <a:ext cx="10900" cy="265"/>
            </a:xfrm>
            <a:prstGeom prst="rect">
              <a:avLst/>
            </a:prstGeom>
            <a:noFill/>
          </p:spPr>
          <p:txBody>
            <a:bodyPr wrap="square" lIns="0" tIns="0" rIns="0" bIns="0" rtlCol="0" anchor="ctr"/>
            <a:lstStyle/>
            <a:p>
              <a:pPr marL="0" indent="0">
                <a:lnSpc>
                  <a:spcPct val="90000"/>
                </a:lnSpc>
                <a:buNone/>
              </a:pPr>
              <a:r>
                <a:rPr lang="en-US" altLang="en-US" sz="1000"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Lower financial inclusion is concentrated across much of Eastern and Central India, where Bihar, Jharkhand, Uttar Pradesh, Madhya Pradesh and Chhattisgarh remain comparatively weaker.</a:t>
              </a:r>
              <a:endParaRPr lang="en-US" altLang="en-US" sz="1000"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548640" y="384048"/>
            <a:ext cx="7315200" cy="292608"/>
          </a:xfrm>
          <a:prstGeom prst="rect">
            <a:avLst/>
          </a:prstGeom>
          <a:noFill/>
        </p:spPr>
        <p:txBody>
          <a:bodyPr wrap="square" lIns="0" tIns="0" rIns="0" bIns="0" rtlCol="0" anchor="ctr"/>
          <a:lstStyle/>
          <a:p>
            <a:pPr marL="0" indent="0">
              <a:buNone/>
            </a:pPr>
            <a:r>
              <a:rPr lang="en-US" sz="115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07  ·  TEMPORAL DYNAMICS</a:t>
            </a:r>
            <a:endParaRPr lang="en-US" sz="1150" dirty="0"/>
          </a:p>
        </p:txBody>
      </p:sp>
      <p:sp>
        <p:nvSpPr>
          <p:cNvPr id="3" name="Shape 1"/>
          <p:cNvSpPr/>
          <p:nvPr/>
        </p:nvSpPr>
        <p:spPr>
          <a:xfrm>
            <a:off x="548640" y="786384"/>
            <a:ext cx="502920" cy="0"/>
          </a:xfrm>
          <a:prstGeom prst="line">
            <a:avLst/>
          </a:prstGeom>
          <a:noFill/>
          <a:ln w="28575">
            <a:solidFill>
              <a:srgbClr val="16233F"/>
            </a:solidFill>
            <a:prstDash val="solid"/>
          </a:ln>
        </p:spPr>
      </p:sp>
      <p:sp>
        <p:nvSpPr>
          <p:cNvPr id="4" name="Text 2"/>
          <p:cNvSpPr/>
          <p:nvPr/>
        </p:nvSpPr>
        <p:spPr>
          <a:xfrm>
            <a:off x="548640" y="914400"/>
            <a:ext cx="11094415" cy="502920"/>
          </a:xfrm>
          <a:prstGeom prst="rect">
            <a:avLst/>
          </a:prstGeom>
          <a:noFill/>
        </p:spPr>
        <p:txBody>
          <a:bodyPr wrap="square" lIns="0" tIns="0" rIns="0" bIns="0" rtlCol="0" anchor="ctr"/>
          <a:lstStyle/>
          <a:p>
            <a:pPr marL="0" indent="0">
              <a:lnSpc>
                <a:spcPct val="105000"/>
              </a:lnSpc>
              <a:buNone/>
            </a:pPr>
            <a:r>
              <a:rPr lang="en-US" sz="2600" b="1" dirty="0">
                <a:solidFill>
                  <a:srgbClr val="16233F"/>
                </a:solidFill>
                <a:latin typeface="Cambria" panose="02040503050406030204" pitchFamily="34" charset="0"/>
                <a:ea typeface="Cambria" panose="02040503050406030204" pitchFamily="34" charset="-122"/>
                <a:cs typeface="Cambria" panose="02040503050406030204" pitchFamily="34" charset="-120"/>
              </a:rPr>
              <a:t>Every State Improved, but Few Changed Places</a:t>
            </a:r>
            <a:endParaRPr lang="en-US" sz="2600" dirty="0"/>
          </a:p>
        </p:txBody>
      </p:sp>
      <p:sp>
        <p:nvSpPr>
          <p:cNvPr id="5" name="Text 3"/>
          <p:cNvSpPr/>
          <p:nvPr/>
        </p:nvSpPr>
        <p:spPr>
          <a:xfrm>
            <a:off x="548640" y="1343279"/>
            <a:ext cx="11094415" cy="274320"/>
          </a:xfrm>
          <a:prstGeom prst="rect">
            <a:avLst/>
          </a:prstGeom>
          <a:noFill/>
        </p:spPr>
        <p:txBody>
          <a:bodyPr wrap="square" lIns="0" tIns="0" rIns="0" bIns="0" rtlCol="0" anchor="ctr"/>
          <a:lstStyle/>
          <a:p>
            <a:pPr marL="0" indent="0">
              <a:buNone/>
            </a:pPr>
            <a:r>
              <a:rPr lang="en-US" sz="1200" i="1" dirty="0">
                <a:solidFill>
                  <a:srgbClr val="5B6472"/>
                </a:solidFill>
                <a:latin typeface="Calibri" panose="020F0502020204030204" pitchFamily="34" charset="0"/>
                <a:ea typeface="Calibri" panose="020F0502020204030204" pitchFamily="34" charset="-122"/>
                <a:cs typeface="Calibri" panose="020F0502020204030204" pitchFamily="34" charset="-120"/>
              </a:rPr>
              <a:t>Financial inclusion rose in every state between 2016–17 and 2024–25 yet the interstate hierarchy remained largely intact.</a:t>
            </a:r>
            <a:endParaRPr lang="en-US" sz="1200" dirty="0"/>
          </a:p>
        </p:txBody>
      </p:sp>
      <p:sp>
        <p:nvSpPr>
          <p:cNvPr id="6" name="Text 4"/>
          <p:cNvSpPr/>
          <p:nvPr/>
        </p:nvSpPr>
        <p:spPr>
          <a:xfrm>
            <a:off x="548640" y="1572768"/>
            <a:ext cx="6903720" cy="219456"/>
          </a:xfrm>
          <a:prstGeom prst="rect">
            <a:avLst/>
          </a:prstGeom>
          <a:noFill/>
        </p:spPr>
        <p:txBody>
          <a:bodyPr wrap="square" lIns="0" tIns="0" rIns="0" bIns="0" rtlCol="0" anchor="ctr"/>
          <a:lstStyle/>
          <a:p>
            <a:pPr marL="0" indent="0">
              <a:buNone/>
            </a:pPr>
            <a:r>
              <a:rPr lang="en-US" sz="1100" b="1" kern="0" spc="100" dirty="0">
                <a:solidFill>
                  <a:srgbClr val="16233F"/>
                </a:solidFill>
                <a:latin typeface="Calibri" panose="020F0502020204030204" pitchFamily="34" charset="0"/>
                <a:ea typeface="Calibri" panose="020F0502020204030204" pitchFamily="34" charset="-122"/>
                <a:cs typeface="Calibri" panose="020F0502020204030204" pitchFamily="34" charset="-120"/>
              </a:rPr>
              <a:t>RANK MOBILITY, 2016–17 vs 2024–25</a:t>
            </a:r>
            <a:endParaRPr lang="en-US" sz="1100" dirty="0"/>
          </a:p>
        </p:txBody>
      </p:sp>
      <p:sp>
        <p:nvSpPr>
          <p:cNvPr id="11" name="Shape 7"/>
          <p:cNvSpPr/>
          <p:nvPr/>
        </p:nvSpPr>
        <p:spPr>
          <a:xfrm>
            <a:off x="7744460" y="1672590"/>
            <a:ext cx="3830955" cy="1874520"/>
          </a:xfrm>
          <a:prstGeom prst="roundRect">
            <a:avLst>
              <a:gd name="adj" fmla="val 4390"/>
            </a:avLst>
          </a:prstGeom>
          <a:solidFill>
            <a:srgbClr val="F4F4F2"/>
          </a:solidFill>
          <a:ln w="12700">
            <a:solidFill>
              <a:srgbClr val="E1E1DD"/>
            </a:solidFill>
            <a:prstDash val="solid"/>
          </a:ln>
        </p:spPr>
      </p:sp>
      <p:sp>
        <p:nvSpPr>
          <p:cNvPr id="12" name="Text 8"/>
          <p:cNvSpPr/>
          <p:nvPr/>
        </p:nvSpPr>
        <p:spPr>
          <a:xfrm>
            <a:off x="7976870" y="1818640"/>
            <a:ext cx="3365500" cy="237490"/>
          </a:xfrm>
          <a:prstGeom prst="rect">
            <a:avLst/>
          </a:prstGeom>
          <a:noFill/>
        </p:spPr>
        <p:txBody>
          <a:bodyPr wrap="square" lIns="0" tIns="0" rIns="0" bIns="0" rtlCol="0" anchor="ctr"/>
          <a:lstStyle/>
          <a:p>
            <a:pPr marL="0" indent="0">
              <a:buNone/>
            </a:pPr>
            <a:r>
              <a:rPr lang="en-US" sz="1150" b="1" kern="0" spc="100" dirty="0">
                <a:solidFill>
                  <a:srgbClr val="16233F"/>
                </a:solidFill>
                <a:latin typeface="Calibri" panose="020F0502020204030204" pitchFamily="34" charset="0"/>
                <a:ea typeface="Calibri" panose="020F0502020204030204" pitchFamily="34" charset="-122"/>
                <a:cs typeface="Calibri" panose="020F0502020204030204" pitchFamily="34" charset="-120"/>
              </a:rPr>
              <a:t>RANK STABILITY</a:t>
            </a:r>
            <a:endParaRPr lang="en-US" sz="1150" dirty="0"/>
          </a:p>
        </p:txBody>
      </p:sp>
      <p:sp>
        <p:nvSpPr>
          <p:cNvPr id="13" name="Shape 9"/>
          <p:cNvSpPr/>
          <p:nvPr/>
        </p:nvSpPr>
        <p:spPr>
          <a:xfrm>
            <a:off x="7976870" y="2111375"/>
            <a:ext cx="3133090" cy="0"/>
          </a:xfrm>
          <a:prstGeom prst="line">
            <a:avLst/>
          </a:prstGeom>
          <a:noFill/>
          <a:ln w="12700">
            <a:solidFill>
              <a:srgbClr val="E1E1DD"/>
            </a:solidFill>
            <a:prstDash val="solid"/>
          </a:ln>
        </p:spPr>
      </p:sp>
      <p:sp>
        <p:nvSpPr>
          <p:cNvPr id="14" name="Text 10"/>
          <p:cNvSpPr/>
          <p:nvPr/>
        </p:nvSpPr>
        <p:spPr>
          <a:xfrm>
            <a:off x="8001000" y="2174240"/>
            <a:ext cx="3365500" cy="237490"/>
          </a:xfrm>
          <a:prstGeom prst="rect">
            <a:avLst/>
          </a:prstGeom>
          <a:noFill/>
        </p:spPr>
        <p:txBody>
          <a:bodyPr wrap="square" lIns="0" tIns="0" rIns="0" bIns="0" rtlCol="0" anchor="ctr"/>
          <a:lstStyle/>
          <a:p>
            <a:pPr marL="0" indent="0">
              <a:buNone/>
            </a:pPr>
            <a:r>
              <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rPr>
              <a:t>ρ = 0.911</a:t>
            </a:r>
            <a:endParaRPr lang="en-US" sz="1400" dirty="0"/>
          </a:p>
        </p:txBody>
      </p:sp>
      <p:sp>
        <p:nvSpPr>
          <p:cNvPr id="15" name="Text 11"/>
          <p:cNvSpPr/>
          <p:nvPr/>
        </p:nvSpPr>
        <p:spPr>
          <a:xfrm>
            <a:off x="8001000" y="2394585"/>
            <a:ext cx="3365500" cy="292735"/>
          </a:xfrm>
          <a:prstGeom prst="rect">
            <a:avLst/>
          </a:prstGeom>
          <a:noFill/>
        </p:spPr>
        <p:txBody>
          <a:bodyPr wrap="square" lIns="0" tIns="0" rIns="0" bIns="0" rtlCol="0" anchor="ctr"/>
          <a:lstStyle/>
          <a:p>
            <a:pPr marL="0" indent="0">
              <a:lnSpc>
                <a:spcPct val="110000"/>
              </a:lnSpc>
              <a:buNone/>
            </a:pPr>
            <a:r>
              <a:rPr lang="en-US" sz="930" dirty="0">
                <a:solidFill>
                  <a:srgbClr val="5B6472"/>
                </a:solidFill>
                <a:latin typeface="Calibri" panose="020F0502020204030204" pitchFamily="34" charset="0"/>
                <a:ea typeface="Calibri" panose="020F0502020204030204" pitchFamily="34" charset="-122"/>
                <a:cs typeface="Calibri" panose="020F0502020204030204" pitchFamily="34" charset="-120"/>
              </a:rPr>
              <a:t>Spearman rank correlation, 2016–17 vs 2024–25 (p &lt; 0.001)</a:t>
            </a:r>
            <a:endParaRPr lang="en-US" sz="930" dirty="0"/>
          </a:p>
        </p:txBody>
      </p:sp>
      <p:sp>
        <p:nvSpPr>
          <p:cNvPr id="16" name="Text 12"/>
          <p:cNvSpPr/>
          <p:nvPr/>
        </p:nvSpPr>
        <p:spPr>
          <a:xfrm>
            <a:off x="7976870" y="2641600"/>
            <a:ext cx="3365500" cy="237490"/>
          </a:xfrm>
          <a:prstGeom prst="rect">
            <a:avLst/>
          </a:prstGeom>
          <a:noFill/>
        </p:spPr>
        <p:txBody>
          <a:bodyPr wrap="square" lIns="0" tIns="0" rIns="0" bIns="0" rtlCol="0" anchor="ctr"/>
          <a:lstStyle/>
          <a:p>
            <a:pPr marL="0" indent="0">
              <a:buNone/>
            </a:pPr>
            <a:r>
              <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rPr>
              <a:t>p = 0.952</a:t>
            </a:r>
            <a:endParaRPr lang="en-US" sz="1400" dirty="0"/>
          </a:p>
        </p:txBody>
      </p:sp>
      <p:sp>
        <p:nvSpPr>
          <p:cNvPr id="17" name="Text 13"/>
          <p:cNvSpPr/>
          <p:nvPr/>
        </p:nvSpPr>
        <p:spPr>
          <a:xfrm>
            <a:off x="8001000" y="2805430"/>
            <a:ext cx="3365500" cy="292735"/>
          </a:xfrm>
          <a:prstGeom prst="rect">
            <a:avLst/>
          </a:prstGeom>
          <a:noFill/>
        </p:spPr>
        <p:txBody>
          <a:bodyPr wrap="square" lIns="0" tIns="0" rIns="0" bIns="0" rtlCol="0" anchor="ctr"/>
          <a:lstStyle/>
          <a:p>
            <a:pPr marL="0" indent="0">
              <a:lnSpc>
                <a:spcPct val="110000"/>
              </a:lnSpc>
              <a:buNone/>
            </a:pPr>
            <a:r>
              <a:rPr lang="en-US" sz="930" dirty="0">
                <a:solidFill>
                  <a:srgbClr val="5B6472"/>
                </a:solidFill>
                <a:latin typeface="Calibri" panose="020F0502020204030204" pitchFamily="34" charset="0"/>
                <a:ea typeface="Calibri" panose="020F0502020204030204" pitchFamily="34" charset="-122"/>
                <a:cs typeface="Calibri" panose="020F0502020204030204" pitchFamily="34" charset="-120"/>
              </a:rPr>
              <a:t>Wilcoxon signed-rank test — no significant systematic shift</a:t>
            </a:r>
            <a:endParaRPr lang="en-US" sz="930" dirty="0"/>
          </a:p>
        </p:txBody>
      </p:sp>
      <p:sp>
        <p:nvSpPr>
          <p:cNvPr id="18" name="Text 14"/>
          <p:cNvSpPr/>
          <p:nvPr/>
        </p:nvSpPr>
        <p:spPr>
          <a:xfrm>
            <a:off x="7976870" y="3062605"/>
            <a:ext cx="3365500" cy="237490"/>
          </a:xfrm>
          <a:prstGeom prst="rect">
            <a:avLst/>
          </a:prstGeom>
          <a:noFill/>
        </p:spPr>
        <p:txBody>
          <a:bodyPr wrap="square" lIns="0" tIns="0" rIns="0" bIns="0" rtlCol="0" anchor="ctr"/>
          <a:lstStyle/>
          <a:p>
            <a:pPr marL="0" indent="0">
              <a:buNone/>
            </a:pPr>
            <a:r>
              <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rPr>
              <a:t>9 states</a:t>
            </a:r>
            <a:endParaRPr lang="en-US" sz="1400" dirty="0"/>
          </a:p>
        </p:txBody>
      </p:sp>
      <p:sp>
        <p:nvSpPr>
          <p:cNvPr id="19" name="Text 15"/>
          <p:cNvSpPr/>
          <p:nvPr/>
        </p:nvSpPr>
        <p:spPr>
          <a:xfrm>
            <a:off x="7976870" y="3216275"/>
            <a:ext cx="3365500" cy="292735"/>
          </a:xfrm>
          <a:prstGeom prst="rect">
            <a:avLst/>
          </a:prstGeom>
          <a:noFill/>
        </p:spPr>
        <p:txBody>
          <a:bodyPr wrap="square" lIns="0" tIns="0" rIns="0" bIns="0" rtlCol="0" anchor="ctr"/>
          <a:lstStyle/>
          <a:p>
            <a:pPr marL="0" indent="0">
              <a:lnSpc>
                <a:spcPct val="110000"/>
              </a:lnSpc>
              <a:buNone/>
            </a:pPr>
            <a:r>
              <a:rPr lang="en-US" sz="930" dirty="0">
                <a:solidFill>
                  <a:srgbClr val="5B6472"/>
                </a:solidFill>
                <a:latin typeface="Calibri" panose="020F0502020204030204" pitchFamily="34" charset="0"/>
                <a:ea typeface="Calibri" panose="020F0502020204030204" pitchFamily="34" charset="-122"/>
                <a:cs typeface="Calibri" panose="020F0502020204030204" pitchFamily="34" charset="-120"/>
              </a:rPr>
              <a:t>retained exactly the same rank throughout</a:t>
            </a:r>
            <a:endParaRPr lang="en-US" sz="930" dirty="0"/>
          </a:p>
        </p:txBody>
      </p:sp>
      <p:grpSp>
        <p:nvGrpSpPr>
          <p:cNvPr id="25" name="Group 24"/>
          <p:cNvGrpSpPr/>
          <p:nvPr/>
        </p:nvGrpSpPr>
        <p:grpSpPr>
          <a:xfrm>
            <a:off x="7745095" y="3748405"/>
            <a:ext cx="3916680" cy="2792730"/>
            <a:chOff x="12168" y="5774"/>
            <a:chExt cx="6168" cy="4398"/>
          </a:xfrm>
        </p:grpSpPr>
        <p:sp>
          <p:nvSpPr>
            <p:cNvPr id="20" name="Shape 16"/>
            <p:cNvSpPr/>
            <p:nvPr/>
          </p:nvSpPr>
          <p:spPr>
            <a:xfrm>
              <a:off x="12168" y="5774"/>
              <a:ext cx="6168" cy="4398"/>
            </a:xfrm>
            <a:prstGeom prst="roundRect">
              <a:avLst>
                <a:gd name="adj" fmla="val 3158"/>
              </a:avLst>
            </a:prstGeom>
            <a:solidFill>
              <a:srgbClr val="16233F"/>
            </a:solidFill>
          </p:spPr>
        </p:sp>
        <p:sp>
          <p:nvSpPr>
            <p:cNvPr id="21" name="Text 17"/>
            <p:cNvSpPr/>
            <p:nvPr/>
          </p:nvSpPr>
          <p:spPr>
            <a:xfrm>
              <a:off x="12571" y="6034"/>
              <a:ext cx="5361" cy="374"/>
            </a:xfrm>
            <a:prstGeom prst="rect">
              <a:avLst/>
            </a:prstGeom>
            <a:noFill/>
          </p:spPr>
          <p:txBody>
            <a:bodyPr wrap="square" lIns="0" tIns="0" rIns="0" bIns="0" rtlCol="0" anchor="ctr"/>
            <a:lstStyle/>
            <a:p>
              <a:pPr marL="0" indent="0">
                <a:buNone/>
              </a:pPr>
              <a:r>
                <a:rPr lang="en-US" sz="115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WHAT CHANGED?</a:t>
              </a:r>
              <a:endParaRPr lang="en-US" sz="1150" dirty="0"/>
            </a:p>
          </p:txBody>
        </p:sp>
        <p:sp>
          <p:nvSpPr>
            <p:cNvPr id="22" name="Shape 18"/>
            <p:cNvSpPr/>
            <p:nvPr/>
          </p:nvSpPr>
          <p:spPr>
            <a:xfrm>
              <a:off x="12571" y="6494"/>
              <a:ext cx="648" cy="0"/>
            </a:xfrm>
            <a:prstGeom prst="line">
              <a:avLst/>
            </a:prstGeom>
            <a:noFill/>
            <a:ln w="15875">
              <a:solidFill>
                <a:srgbClr val="AEB9CE"/>
              </a:solidFill>
              <a:prstDash val="solid"/>
            </a:ln>
          </p:spPr>
        </p:sp>
        <p:sp>
          <p:nvSpPr>
            <p:cNvPr id="23" name="Text 19"/>
            <p:cNvSpPr/>
            <p:nvPr/>
          </p:nvSpPr>
          <p:spPr>
            <a:xfrm>
              <a:off x="12571" y="6754"/>
              <a:ext cx="5361" cy="2952"/>
            </a:xfrm>
            <a:prstGeom prst="rect">
              <a:avLst/>
            </a:prstGeom>
            <a:noFill/>
          </p:spPr>
          <p:txBody>
            <a:bodyPr wrap="square" lIns="0" tIns="0" rIns="0" bIns="0" rtlCol="0" anchor="ctr"/>
            <a:lstStyle/>
            <a:p>
              <a:pPr marL="177800" indent="-177800">
                <a:lnSpc>
                  <a:spcPct val="100000"/>
                </a:lnSpc>
                <a:buSzPct val="100000"/>
                <a:buChar char="•"/>
              </a:pPr>
              <a:r>
                <a:rPr lang="en-US" altLang="en-US" sz="1200" dirty="0">
                  <a:solidFill>
                    <a:schemeClr val="bg1"/>
                  </a:solidFill>
                </a:rPr>
                <a:t>Every state improved its Financial Inclusion Index between 2016–17 and 2024–25.</a:t>
              </a:r>
              <a:endParaRPr lang="en-US" altLang="en-US" sz="1200" dirty="0">
                <a:solidFill>
                  <a:schemeClr val="bg1"/>
                </a:solidFill>
              </a:endParaRPr>
            </a:p>
            <a:p>
              <a:pPr marL="177800" indent="-177800">
                <a:lnSpc>
                  <a:spcPct val="100000"/>
                </a:lnSpc>
                <a:buSzPct val="100000"/>
                <a:buChar char="•"/>
              </a:pPr>
              <a:endParaRPr lang="en-US" altLang="en-US" sz="1200" dirty="0">
                <a:solidFill>
                  <a:schemeClr val="bg1"/>
                </a:solidFill>
              </a:endParaRPr>
            </a:p>
            <a:p>
              <a:pPr marL="177800" indent="-177800">
                <a:lnSpc>
                  <a:spcPct val="100000"/>
                </a:lnSpc>
                <a:buSzPct val="100000"/>
                <a:buChar char="•"/>
              </a:pPr>
              <a:r>
                <a:rPr lang="en-US" altLang="en-US" sz="1200" dirty="0">
                  <a:solidFill>
                    <a:schemeClr val="bg1"/>
                  </a:solidFill>
                </a:rPr>
                <a:t>Rank changes reflected relative improvement, not declines in financial inclusion.</a:t>
              </a:r>
              <a:endParaRPr lang="en-US" altLang="en-US" sz="1200" dirty="0">
                <a:solidFill>
                  <a:schemeClr val="bg1"/>
                </a:solidFill>
              </a:endParaRPr>
            </a:p>
            <a:p>
              <a:pPr marL="177800" indent="-177800">
                <a:lnSpc>
                  <a:spcPct val="100000"/>
                </a:lnSpc>
                <a:buSzPct val="100000"/>
                <a:buChar char="•"/>
              </a:pPr>
              <a:endParaRPr lang="en-US" altLang="en-US" sz="1200" dirty="0">
                <a:solidFill>
                  <a:schemeClr val="bg1"/>
                </a:solidFill>
              </a:endParaRPr>
            </a:p>
            <a:p>
              <a:pPr marL="177800" indent="-177800">
                <a:lnSpc>
                  <a:spcPct val="100000"/>
                </a:lnSpc>
                <a:buSzPct val="100000"/>
                <a:buChar char="•"/>
              </a:pPr>
              <a:r>
                <a:rPr lang="en-US" altLang="en-US" sz="1200" dirty="0">
                  <a:solidFill>
                    <a:schemeClr val="bg1"/>
                  </a:solidFill>
                </a:rPr>
                <a:t>Most movement was modest, with only a few states recording substantial upward or downward shifts.</a:t>
              </a:r>
              <a:endParaRPr lang="en-US" altLang="en-US" sz="1200" dirty="0">
                <a:solidFill>
                  <a:schemeClr val="bg1"/>
                </a:solidFill>
              </a:endParaRPr>
            </a:p>
            <a:p>
              <a:pPr indent="0">
                <a:lnSpc>
                  <a:spcPct val="100000"/>
                </a:lnSpc>
                <a:buSzPct val="100000"/>
                <a:buNone/>
              </a:pPr>
              <a:endParaRPr lang="en-US" altLang="en-US" sz="1200" dirty="0">
                <a:solidFill>
                  <a:schemeClr val="bg1"/>
                </a:solidFill>
              </a:endParaRPr>
            </a:p>
            <a:p>
              <a:pPr marL="177800" indent="-177800">
                <a:lnSpc>
                  <a:spcPct val="100000"/>
                </a:lnSpc>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Despite this, the interstate hierarchy remained largely unchanged.</a:t>
              </a:r>
              <a:endParaRPr lang="en-US" sz="1200" dirty="0"/>
            </a:p>
          </p:txBody>
        </p:sp>
      </p:grpSp>
      <p:sp>
        <p:nvSpPr>
          <p:cNvPr id="24" name="Text 20"/>
          <p:cNvSpPr/>
          <p:nvPr/>
        </p:nvSpPr>
        <p:spPr>
          <a:xfrm>
            <a:off x="548640" y="6510528"/>
            <a:ext cx="7315200" cy="256032"/>
          </a:xfrm>
          <a:prstGeom prst="rect">
            <a:avLst/>
          </a:prstGeom>
          <a:noFill/>
        </p:spPr>
        <p:txBody>
          <a:bodyPr wrap="square" lIns="0" tIns="0" rIns="0" bIns="0" rtlCol="0" anchor="ctr"/>
          <a:lstStyle/>
          <a:p>
            <a:pPr marL="0" indent="0">
              <a:buNone/>
            </a:pPr>
            <a:r>
              <a:rPr lang="en-US" sz="95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950" dirty="0"/>
          </a:p>
        </p:txBody>
      </p:sp>
      <p:pic>
        <p:nvPicPr>
          <p:cNvPr id="26" name="Picture 25" descr="final_rank_dumbell_topbottom"/>
          <p:cNvPicPr>
            <a:picLocks noChangeAspect="1"/>
          </p:cNvPicPr>
          <p:nvPr/>
        </p:nvPicPr>
        <p:blipFill>
          <a:blip r:embed="rId1"/>
          <a:srcRect l="2550" r="2017"/>
          <a:stretch>
            <a:fillRect/>
          </a:stretch>
        </p:blipFill>
        <p:spPr>
          <a:xfrm>
            <a:off x="549275" y="1766570"/>
            <a:ext cx="6903085" cy="3807460"/>
          </a:xfrm>
          <a:prstGeom prst="rect">
            <a:avLst/>
          </a:prstGeom>
          <a:ln w="3175">
            <a:solidFill>
              <a:schemeClr val="bg1">
                <a:lumMod val="85000"/>
              </a:schemeClr>
            </a:solidFill>
          </a:ln>
        </p:spPr>
      </p:pic>
      <p:sp>
        <p:nvSpPr>
          <p:cNvPr id="27" name="Shape 7"/>
          <p:cNvSpPr/>
          <p:nvPr/>
        </p:nvSpPr>
        <p:spPr>
          <a:xfrm>
            <a:off x="549275" y="5672455"/>
            <a:ext cx="6895465" cy="753110"/>
          </a:xfrm>
          <a:prstGeom prst="roundRect">
            <a:avLst>
              <a:gd name="adj" fmla="val 4390"/>
            </a:avLst>
          </a:prstGeom>
          <a:solidFill>
            <a:srgbClr val="F4F4F2"/>
          </a:solidFill>
          <a:ln w="12700">
            <a:solidFill>
              <a:srgbClr val="E1E1DD"/>
            </a:solidFill>
            <a:prstDash val="solid"/>
          </a:ln>
        </p:spPr>
      </p:sp>
      <p:sp>
        <p:nvSpPr>
          <p:cNvPr id="28" name="Text 8"/>
          <p:cNvSpPr/>
          <p:nvPr/>
        </p:nvSpPr>
        <p:spPr>
          <a:xfrm>
            <a:off x="664845" y="5759450"/>
            <a:ext cx="1544955" cy="566420"/>
          </a:xfrm>
          <a:prstGeom prst="rect">
            <a:avLst/>
          </a:prstGeom>
          <a:noFill/>
        </p:spPr>
        <p:txBody>
          <a:bodyPr wrap="square" lIns="0" tIns="0" rIns="0" bIns="0" rtlCol="0" anchor="ctr"/>
          <a:lstStyle/>
          <a:p>
            <a:pPr marL="0" indent="0" algn="ctr">
              <a:buNone/>
            </a:pPr>
            <a:r>
              <a:rPr lang="en-US" altLang="en-US" sz="1150" b="1" kern="0" spc="100" dirty="0">
                <a:solidFill>
                  <a:srgbClr val="16233F"/>
                </a:solidFill>
                <a:latin typeface="Calibri" panose="020F0502020204030204" pitchFamily="34" charset="0"/>
                <a:ea typeface="Calibri" panose="020F0502020204030204" pitchFamily="34" charset="-122"/>
                <a:cs typeface="Calibri" panose="020F0502020204030204" pitchFamily="34" charset="-120"/>
              </a:rPr>
              <a:t>RANK MOBILITY </a:t>
            </a:r>
            <a:endParaRPr lang="en-US" altLang="en-US" sz="1150" b="1" kern="0" spc="100"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altLang="en-US" sz="1150" b="1" kern="0" spc="100" dirty="0">
                <a:solidFill>
                  <a:srgbClr val="16233F"/>
                </a:solidFill>
                <a:latin typeface="Calibri" panose="020F0502020204030204" pitchFamily="34" charset="0"/>
                <a:ea typeface="Calibri" panose="020F0502020204030204" pitchFamily="34" charset="-122"/>
                <a:cs typeface="Calibri" panose="020F0502020204030204" pitchFamily="34" charset="-120"/>
              </a:rPr>
              <a:t>SUMMARY</a:t>
            </a:r>
            <a:endParaRPr lang="en-US" altLang="en-US" sz="1150" b="1" kern="0" spc="100"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Text 11"/>
          <p:cNvSpPr/>
          <p:nvPr/>
        </p:nvSpPr>
        <p:spPr>
          <a:xfrm>
            <a:off x="2492375" y="5805170"/>
            <a:ext cx="1947545" cy="485775"/>
          </a:xfrm>
          <a:prstGeom prst="rect">
            <a:avLst/>
          </a:prstGeom>
          <a:noFill/>
        </p:spPr>
        <p:txBody>
          <a:bodyPr wrap="square" lIns="0" tIns="0" rIns="0" bIns="0" rtlCol="0" anchor="ctr"/>
          <a:lstStyle/>
          <a:p>
            <a:pPr marL="0" indent="0">
              <a:lnSpc>
                <a:spcPct val="110000"/>
              </a:lnSpc>
              <a:buNone/>
            </a:pPr>
            <a:r>
              <a:rPr lang="en-US" alt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 Improved Rank: 9 states</a:t>
            </a:r>
            <a:endParaRPr lang="en-US" alt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10000"/>
              </a:lnSpc>
              <a:buNone/>
            </a:pPr>
            <a:r>
              <a:rPr lang="en-US" alt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 No Change: 9 states</a:t>
            </a:r>
            <a:endParaRPr lang="en-US" alt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10000"/>
              </a:lnSpc>
              <a:buNone/>
            </a:pPr>
            <a:r>
              <a:rPr lang="en-US" alt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 Declined Rank: 10 states</a:t>
            </a:r>
            <a:r>
              <a:rPr lang="en-US" sz="930" dirty="0">
                <a:solidFill>
                  <a:srgbClr val="5B6472"/>
                </a:solidFill>
                <a:latin typeface="Calibri" panose="020F0502020204030204" pitchFamily="34" charset="0"/>
                <a:ea typeface="Calibri" panose="020F0502020204030204" pitchFamily="34" charset="-122"/>
                <a:cs typeface="Calibri" panose="020F0502020204030204" pitchFamily="34" charset="-120"/>
              </a:rPr>
              <a:t> </a:t>
            </a:r>
            <a:endParaRPr lang="en-US" sz="930" dirty="0"/>
          </a:p>
        </p:txBody>
      </p:sp>
      <p:sp>
        <p:nvSpPr>
          <p:cNvPr id="31" name="Text 11"/>
          <p:cNvSpPr/>
          <p:nvPr/>
        </p:nvSpPr>
        <p:spPr>
          <a:xfrm>
            <a:off x="4956175" y="5751195"/>
            <a:ext cx="1947545" cy="581660"/>
          </a:xfrm>
          <a:prstGeom prst="rect">
            <a:avLst/>
          </a:prstGeom>
          <a:noFill/>
        </p:spPr>
        <p:txBody>
          <a:bodyPr wrap="square" lIns="0" tIns="0" rIns="0" bIns="0" rtlCol="0" anchor="ctr"/>
          <a:lstStyle/>
          <a:p>
            <a:pPr marL="0" indent="0">
              <a:lnSpc>
                <a:spcPct val="110000"/>
              </a:lnSpc>
              <a:buNone/>
            </a:pPr>
            <a:r>
              <a:rPr lang="en-US" alt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Most rank changes were limited to fewer than five positions.</a:t>
            </a: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 </a:t>
            </a:r>
            <a:endPar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Shape 9"/>
          <p:cNvSpPr/>
          <p:nvPr/>
        </p:nvSpPr>
        <p:spPr>
          <a:xfrm rot="16500000" flipV="1">
            <a:off x="4278630" y="6029960"/>
            <a:ext cx="667385" cy="57150"/>
          </a:xfrm>
          <a:prstGeom prst="line">
            <a:avLst/>
          </a:prstGeom>
          <a:noFill/>
          <a:ln w="12700">
            <a:solidFill>
              <a:srgbClr val="E1E1DD"/>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548640" y="384048"/>
            <a:ext cx="7315200" cy="292608"/>
          </a:xfrm>
          <a:prstGeom prst="rect">
            <a:avLst/>
          </a:prstGeom>
          <a:noFill/>
        </p:spPr>
        <p:txBody>
          <a:bodyPr wrap="square" lIns="0" tIns="0" rIns="0" bIns="0" rtlCol="0" anchor="ctr"/>
          <a:lstStyle/>
          <a:p>
            <a:pPr marL="0" indent="0">
              <a:buNone/>
            </a:pPr>
            <a:r>
              <a:rPr lang="en-US" sz="115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08  ·  REGIONAL PATTERNS</a:t>
            </a:r>
            <a:endParaRPr lang="en-US" sz="1150" dirty="0"/>
          </a:p>
        </p:txBody>
      </p:sp>
      <p:sp>
        <p:nvSpPr>
          <p:cNvPr id="3" name="Shape 1"/>
          <p:cNvSpPr/>
          <p:nvPr/>
        </p:nvSpPr>
        <p:spPr>
          <a:xfrm>
            <a:off x="548640" y="786384"/>
            <a:ext cx="502920" cy="0"/>
          </a:xfrm>
          <a:prstGeom prst="line">
            <a:avLst/>
          </a:prstGeom>
          <a:noFill/>
          <a:ln w="28575">
            <a:solidFill>
              <a:srgbClr val="16233F"/>
            </a:solidFill>
            <a:prstDash val="solid"/>
          </a:ln>
        </p:spPr>
      </p:sp>
      <p:sp>
        <p:nvSpPr>
          <p:cNvPr id="4" name="Text 2"/>
          <p:cNvSpPr/>
          <p:nvPr/>
        </p:nvSpPr>
        <p:spPr>
          <a:xfrm>
            <a:off x="548640" y="914400"/>
            <a:ext cx="11094415" cy="502920"/>
          </a:xfrm>
          <a:prstGeom prst="rect">
            <a:avLst/>
          </a:prstGeom>
          <a:noFill/>
        </p:spPr>
        <p:txBody>
          <a:bodyPr wrap="square" lIns="0" tIns="0" rIns="0" bIns="0" rtlCol="0" anchor="ctr"/>
          <a:lstStyle/>
          <a:p>
            <a:pPr marL="0" indent="0">
              <a:lnSpc>
                <a:spcPct val="105000"/>
              </a:lnSpc>
              <a:buNone/>
            </a:pPr>
            <a:r>
              <a:rPr lang="en-US" sz="2600" b="1" dirty="0">
                <a:solidFill>
                  <a:srgbClr val="16233F"/>
                </a:solidFill>
                <a:latin typeface="Cambria" panose="02040503050406030204" pitchFamily="34" charset="0"/>
                <a:ea typeface="Cambria" panose="02040503050406030204" pitchFamily="34" charset="-122"/>
                <a:cs typeface="Cambria" panose="02040503050406030204" pitchFamily="34" charset="-120"/>
              </a:rPr>
              <a:t>All Regions Advanced, Yet the Hierarchy Held Firm</a:t>
            </a:r>
            <a:endParaRPr lang="en-US" sz="2600" dirty="0"/>
          </a:p>
        </p:txBody>
      </p:sp>
      <p:sp>
        <p:nvSpPr>
          <p:cNvPr id="5" name="Text 3"/>
          <p:cNvSpPr/>
          <p:nvPr/>
        </p:nvSpPr>
        <p:spPr>
          <a:xfrm>
            <a:off x="548640" y="1426464"/>
            <a:ext cx="11094415" cy="274320"/>
          </a:xfrm>
          <a:prstGeom prst="rect">
            <a:avLst/>
          </a:prstGeom>
          <a:noFill/>
        </p:spPr>
        <p:txBody>
          <a:bodyPr wrap="square" lIns="0" tIns="0" rIns="0" bIns="0" rtlCol="0" anchor="ctr"/>
          <a:lstStyle/>
          <a:p>
            <a:pPr marL="0" indent="0">
              <a:buNone/>
            </a:pPr>
            <a:r>
              <a:rPr lang="en-US" sz="1200" i="1" dirty="0">
                <a:solidFill>
                  <a:srgbClr val="5B6472"/>
                </a:solidFill>
                <a:latin typeface="Calibri" panose="020F0502020204030204" pitchFamily="34" charset="0"/>
                <a:ea typeface="Calibri" panose="020F0502020204030204" pitchFamily="34" charset="-122"/>
                <a:cs typeface="Calibri" panose="020F0502020204030204" pitchFamily="34" charset="-120"/>
              </a:rPr>
              <a:t>Western India led throughout 2016–17 to 2024–25; the North-East remained the lowest-performing region.</a:t>
            </a:r>
            <a:endParaRPr lang="en-US" sz="1200" dirty="0"/>
          </a:p>
        </p:txBody>
      </p:sp>
      <p:sp>
        <p:nvSpPr>
          <p:cNvPr id="6" name="Text 4"/>
          <p:cNvSpPr/>
          <p:nvPr/>
        </p:nvSpPr>
        <p:spPr>
          <a:xfrm>
            <a:off x="548640" y="1737360"/>
            <a:ext cx="6675120" cy="219456"/>
          </a:xfrm>
          <a:prstGeom prst="rect">
            <a:avLst/>
          </a:prstGeom>
          <a:noFill/>
        </p:spPr>
        <p:txBody>
          <a:bodyPr wrap="square" lIns="0" tIns="0" rIns="0" bIns="0" rtlCol="0" anchor="ctr"/>
          <a:lstStyle/>
          <a:p>
            <a:pPr marL="0" indent="0">
              <a:buNone/>
            </a:pPr>
            <a:r>
              <a:rPr lang="en-US" sz="1050" b="1" kern="0" spc="80" dirty="0">
                <a:solidFill>
                  <a:srgbClr val="16233F"/>
                </a:solidFill>
                <a:latin typeface="Calibri" panose="020F0502020204030204" pitchFamily="34" charset="0"/>
                <a:ea typeface="Calibri" panose="020F0502020204030204" pitchFamily="34" charset="-122"/>
                <a:cs typeface="Calibri" panose="020F0502020204030204" pitchFamily="34" charset="-120"/>
              </a:rPr>
              <a:t>AVERAGE FINANCIAL INCLUSION INDEX BY REGION, 2016–17 TO 2024–25</a:t>
            </a:r>
            <a:endParaRPr lang="en-US" sz="1050" dirty="0"/>
          </a:p>
        </p:txBody>
      </p:sp>
      <p:pic>
        <p:nvPicPr>
          <p:cNvPr id="7" name="Image 0" descr="/home/claude/build/slide7_assets/regional_trends.png"/>
          <p:cNvPicPr>
            <a:picLocks noChangeAspect="1"/>
          </p:cNvPicPr>
          <p:nvPr/>
        </p:nvPicPr>
        <p:blipFill>
          <a:blip r:embed="rId1"/>
          <a:stretch>
            <a:fillRect/>
          </a:stretch>
        </p:blipFill>
        <p:spPr>
          <a:xfrm>
            <a:off x="548640" y="1957070"/>
            <a:ext cx="6675120" cy="4553585"/>
          </a:xfrm>
          <a:prstGeom prst="rect">
            <a:avLst/>
          </a:prstGeom>
        </p:spPr>
      </p:pic>
      <p:grpSp>
        <p:nvGrpSpPr>
          <p:cNvPr id="40" name="Group 39"/>
          <p:cNvGrpSpPr/>
          <p:nvPr/>
        </p:nvGrpSpPr>
        <p:grpSpPr>
          <a:xfrm>
            <a:off x="7498080" y="1737360"/>
            <a:ext cx="2714625" cy="2606040"/>
            <a:chOff x="11808" y="2736"/>
            <a:chExt cx="6528" cy="4104"/>
          </a:xfrm>
        </p:grpSpPr>
        <p:sp>
          <p:nvSpPr>
            <p:cNvPr id="8" name="Shape 5"/>
            <p:cNvSpPr/>
            <p:nvPr/>
          </p:nvSpPr>
          <p:spPr>
            <a:xfrm>
              <a:off x="11808" y="2736"/>
              <a:ext cx="6528" cy="4104"/>
            </a:xfrm>
            <a:prstGeom prst="roundRect">
              <a:avLst>
                <a:gd name="adj" fmla="val 3158"/>
              </a:avLst>
            </a:prstGeom>
            <a:solidFill>
              <a:srgbClr val="F4F4F2"/>
            </a:solidFill>
            <a:ln w="12700">
              <a:solidFill>
                <a:srgbClr val="E1E1DD"/>
              </a:solidFill>
              <a:prstDash val="solid"/>
            </a:ln>
          </p:spPr>
        </p:sp>
        <p:sp>
          <p:nvSpPr>
            <p:cNvPr id="9" name="Text 6"/>
            <p:cNvSpPr/>
            <p:nvPr/>
          </p:nvSpPr>
          <p:spPr>
            <a:xfrm>
              <a:off x="12182" y="2952"/>
              <a:ext cx="5779" cy="346"/>
            </a:xfrm>
            <a:prstGeom prst="rect">
              <a:avLst/>
            </a:prstGeom>
            <a:noFill/>
          </p:spPr>
          <p:txBody>
            <a:bodyPr wrap="square" lIns="0" tIns="0" rIns="0" bIns="0" rtlCol="0" anchor="ctr"/>
            <a:lstStyle/>
            <a:p>
              <a:pPr marL="0" indent="0">
                <a:buNone/>
              </a:pPr>
              <a:r>
                <a:rPr lang="en-US" sz="1100" b="1" kern="0" spc="80" dirty="0">
                  <a:solidFill>
                    <a:srgbClr val="16233F"/>
                  </a:solidFill>
                  <a:latin typeface="Calibri" panose="020F0502020204030204" pitchFamily="34" charset="0"/>
                  <a:ea typeface="Calibri" panose="020F0502020204030204" pitchFamily="34" charset="-122"/>
                  <a:cs typeface="Calibri" panose="020F0502020204030204" pitchFamily="34" charset="-120"/>
                </a:rPr>
                <a:t>REGIONAL HIERARCHY, 2024–25</a:t>
              </a:r>
              <a:endParaRPr lang="en-US" sz="1100" dirty="0"/>
            </a:p>
          </p:txBody>
        </p:sp>
        <p:sp>
          <p:nvSpPr>
            <p:cNvPr id="10" name="Shape 7"/>
            <p:cNvSpPr/>
            <p:nvPr/>
          </p:nvSpPr>
          <p:spPr>
            <a:xfrm>
              <a:off x="12182" y="3370"/>
              <a:ext cx="5404" cy="0"/>
            </a:xfrm>
            <a:prstGeom prst="line">
              <a:avLst/>
            </a:prstGeom>
            <a:noFill/>
            <a:ln w="12700">
              <a:solidFill>
                <a:srgbClr val="E1E1DD"/>
              </a:solidFill>
              <a:prstDash val="solid"/>
            </a:ln>
          </p:spPr>
        </p:sp>
        <p:sp>
          <p:nvSpPr>
            <p:cNvPr id="11" name="Text 8"/>
            <p:cNvSpPr/>
            <p:nvPr/>
          </p:nvSpPr>
          <p:spPr>
            <a:xfrm>
              <a:off x="12154" y="3542"/>
              <a:ext cx="432" cy="518"/>
            </a:xfrm>
            <a:prstGeom prst="rect">
              <a:avLst/>
            </a:prstGeom>
            <a:noFill/>
          </p:spPr>
          <p:txBody>
            <a:bodyPr wrap="square" lIns="0" tIns="0" rIns="0" bIns="0" rtlCol="0" anchor="ctr"/>
            <a:lstStyle/>
            <a:p>
              <a:pPr marL="0" indent="0">
                <a:buNone/>
              </a:pPr>
              <a:r>
                <a:rPr lang="en-US" sz="1100" b="1" dirty="0">
                  <a:solidFill>
                    <a:srgbClr val="5B6472"/>
                  </a:solidFill>
                  <a:latin typeface="Calibri" panose="020F0502020204030204" pitchFamily="34" charset="0"/>
                  <a:ea typeface="Calibri" panose="020F0502020204030204" pitchFamily="34" charset="-122"/>
                  <a:cs typeface="Calibri" panose="020F0502020204030204" pitchFamily="34" charset="-120"/>
                </a:rPr>
                <a:t>1</a:t>
              </a:r>
              <a:endParaRPr lang="en-US" sz="1100" dirty="0"/>
            </a:p>
          </p:txBody>
        </p:sp>
        <p:sp>
          <p:nvSpPr>
            <p:cNvPr id="12" name="Shape 9"/>
            <p:cNvSpPr/>
            <p:nvPr/>
          </p:nvSpPr>
          <p:spPr>
            <a:xfrm>
              <a:off x="12643" y="3701"/>
              <a:ext cx="230" cy="230"/>
            </a:xfrm>
            <a:prstGeom prst="rect">
              <a:avLst/>
            </a:prstGeom>
            <a:solidFill>
              <a:srgbClr val="16233F"/>
            </a:solidFill>
          </p:spPr>
        </p:sp>
        <p:sp>
          <p:nvSpPr>
            <p:cNvPr id="13" name="Text 10"/>
            <p:cNvSpPr/>
            <p:nvPr/>
          </p:nvSpPr>
          <p:spPr>
            <a:xfrm>
              <a:off x="13018" y="3542"/>
              <a:ext cx="3648" cy="518"/>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Western</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Text 11"/>
            <p:cNvSpPr/>
            <p:nvPr/>
          </p:nvSpPr>
          <p:spPr>
            <a:xfrm>
              <a:off x="16752" y="3542"/>
              <a:ext cx="1224" cy="518"/>
            </a:xfrm>
            <a:prstGeom prst="rect">
              <a:avLst/>
            </a:prstGeom>
            <a:noFill/>
          </p:spPr>
          <p:txBody>
            <a:bodyPr wrap="square" lIns="0" tIns="0" rIns="0" bIns="0" rtlCol="0" anchor="ctr"/>
            <a:lstStyle/>
            <a:p>
              <a:pPr marL="0" indent="0" algn="r">
                <a:buNone/>
              </a:pPr>
              <a:r>
                <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8.70</a:t>
              </a:r>
              <a:endParaRPr lang="en-US" sz="1200" dirty="0"/>
            </a:p>
          </p:txBody>
        </p:sp>
        <p:sp>
          <p:nvSpPr>
            <p:cNvPr id="15" name="Text 12"/>
            <p:cNvSpPr/>
            <p:nvPr/>
          </p:nvSpPr>
          <p:spPr>
            <a:xfrm>
              <a:off x="12154" y="4061"/>
              <a:ext cx="432" cy="518"/>
            </a:xfrm>
            <a:prstGeom prst="rect">
              <a:avLst/>
            </a:prstGeom>
            <a:noFill/>
          </p:spPr>
          <p:txBody>
            <a:bodyPr wrap="square" lIns="0" tIns="0" rIns="0" bIns="0" rtlCol="0" anchor="ctr"/>
            <a:lstStyle/>
            <a:p>
              <a:pPr marL="0" indent="0">
                <a:buNone/>
              </a:pPr>
              <a:r>
                <a:rPr lang="en-US" sz="1100" b="1" dirty="0">
                  <a:solidFill>
                    <a:srgbClr val="5B6472"/>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
          <p:nvSpPr>
            <p:cNvPr id="16" name="Shape 13"/>
            <p:cNvSpPr/>
            <p:nvPr/>
          </p:nvSpPr>
          <p:spPr>
            <a:xfrm>
              <a:off x="12643" y="4219"/>
              <a:ext cx="230" cy="230"/>
            </a:xfrm>
            <a:prstGeom prst="rect">
              <a:avLst/>
            </a:prstGeom>
            <a:solidFill>
              <a:srgbClr val="3E5175"/>
            </a:solidFill>
          </p:spPr>
        </p:sp>
        <p:sp>
          <p:nvSpPr>
            <p:cNvPr id="17" name="Text 14"/>
            <p:cNvSpPr/>
            <p:nvPr/>
          </p:nvSpPr>
          <p:spPr>
            <a:xfrm>
              <a:off x="13018" y="4061"/>
              <a:ext cx="3648" cy="518"/>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Southern</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5"/>
            <p:cNvSpPr/>
            <p:nvPr/>
          </p:nvSpPr>
          <p:spPr>
            <a:xfrm>
              <a:off x="16752" y="4061"/>
              <a:ext cx="1224" cy="518"/>
            </a:xfrm>
            <a:prstGeom prst="rect">
              <a:avLst/>
            </a:prstGeom>
            <a:noFill/>
          </p:spPr>
          <p:txBody>
            <a:bodyPr wrap="square" lIns="0" tIns="0" rIns="0" bIns="0" rtlCol="0" anchor="ctr"/>
            <a:lstStyle/>
            <a:p>
              <a:pPr marL="0" indent="0" algn="r">
                <a:buNone/>
              </a:pPr>
              <a:r>
                <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6.45</a:t>
              </a:r>
              <a:endParaRPr lang="en-US" sz="1200" dirty="0"/>
            </a:p>
          </p:txBody>
        </p:sp>
        <p:sp>
          <p:nvSpPr>
            <p:cNvPr id="19" name="Text 16"/>
            <p:cNvSpPr/>
            <p:nvPr/>
          </p:nvSpPr>
          <p:spPr>
            <a:xfrm>
              <a:off x="12154" y="4579"/>
              <a:ext cx="432" cy="518"/>
            </a:xfrm>
            <a:prstGeom prst="rect">
              <a:avLst/>
            </a:prstGeom>
            <a:noFill/>
          </p:spPr>
          <p:txBody>
            <a:bodyPr wrap="square" lIns="0" tIns="0" rIns="0" bIns="0" rtlCol="0" anchor="ctr"/>
            <a:lstStyle/>
            <a:p>
              <a:pPr marL="0" indent="0">
                <a:buNone/>
              </a:pPr>
              <a:r>
                <a:rPr lang="en-US" sz="1100" b="1" dirty="0">
                  <a:solidFill>
                    <a:srgbClr val="5B6472"/>
                  </a:solidFill>
                  <a:latin typeface="Calibri" panose="020F0502020204030204" pitchFamily="34" charset="0"/>
                  <a:ea typeface="Calibri" panose="020F0502020204030204" pitchFamily="34" charset="-122"/>
                  <a:cs typeface="Calibri" panose="020F0502020204030204" pitchFamily="34" charset="-120"/>
                </a:rPr>
                <a:t>3</a:t>
              </a:r>
              <a:endParaRPr lang="en-US" sz="1100" dirty="0"/>
            </a:p>
          </p:txBody>
        </p:sp>
        <p:sp>
          <p:nvSpPr>
            <p:cNvPr id="20" name="Shape 17"/>
            <p:cNvSpPr/>
            <p:nvPr/>
          </p:nvSpPr>
          <p:spPr>
            <a:xfrm>
              <a:off x="12643" y="4738"/>
              <a:ext cx="230" cy="230"/>
            </a:xfrm>
            <a:prstGeom prst="rect">
              <a:avLst/>
            </a:prstGeom>
            <a:solidFill>
              <a:srgbClr val="63769A"/>
            </a:solidFill>
          </p:spPr>
        </p:sp>
        <p:sp>
          <p:nvSpPr>
            <p:cNvPr id="21" name="Text 18"/>
            <p:cNvSpPr/>
            <p:nvPr/>
          </p:nvSpPr>
          <p:spPr>
            <a:xfrm>
              <a:off x="13018" y="4579"/>
              <a:ext cx="3648" cy="518"/>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Northern</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19"/>
            <p:cNvSpPr/>
            <p:nvPr/>
          </p:nvSpPr>
          <p:spPr>
            <a:xfrm>
              <a:off x="16752" y="4579"/>
              <a:ext cx="1224" cy="518"/>
            </a:xfrm>
            <a:prstGeom prst="rect">
              <a:avLst/>
            </a:prstGeom>
            <a:noFill/>
          </p:spPr>
          <p:txBody>
            <a:bodyPr wrap="square" lIns="0" tIns="0" rIns="0" bIns="0" rtlCol="0" anchor="ctr"/>
            <a:lstStyle/>
            <a:p>
              <a:pPr marL="0" indent="0" algn="r">
                <a:buNone/>
              </a:pPr>
              <a:r>
                <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6.16</a:t>
              </a:r>
              <a:endParaRPr lang="en-US" sz="1200" dirty="0"/>
            </a:p>
          </p:txBody>
        </p:sp>
        <p:sp>
          <p:nvSpPr>
            <p:cNvPr id="23" name="Text 20"/>
            <p:cNvSpPr/>
            <p:nvPr/>
          </p:nvSpPr>
          <p:spPr>
            <a:xfrm>
              <a:off x="12154" y="5098"/>
              <a:ext cx="432" cy="518"/>
            </a:xfrm>
            <a:prstGeom prst="rect">
              <a:avLst/>
            </a:prstGeom>
            <a:noFill/>
          </p:spPr>
          <p:txBody>
            <a:bodyPr wrap="square" lIns="0" tIns="0" rIns="0" bIns="0" rtlCol="0" anchor="ctr"/>
            <a:lstStyle/>
            <a:p>
              <a:pPr marL="0" indent="0">
                <a:buNone/>
              </a:pPr>
              <a:r>
                <a:rPr lang="en-US" sz="1100" b="1" dirty="0">
                  <a:solidFill>
                    <a:srgbClr val="5B6472"/>
                  </a:solidFill>
                  <a:latin typeface="Calibri" panose="020F0502020204030204" pitchFamily="34" charset="0"/>
                  <a:ea typeface="Calibri" panose="020F0502020204030204" pitchFamily="34" charset="-122"/>
                  <a:cs typeface="Calibri" panose="020F0502020204030204" pitchFamily="34" charset="-120"/>
                </a:rPr>
                <a:t>4</a:t>
              </a:r>
              <a:endParaRPr lang="en-US" sz="1100" dirty="0"/>
            </a:p>
          </p:txBody>
        </p:sp>
        <p:sp>
          <p:nvSpPr>
            <p:cNvPr id="24" name="Shape 21"/>
            <p:cNvSpPr/>
            <p:nvPr/>
          </p:nvSpPr>
          <p:spPr>
            <a:xfrm>
              <a:off x="12643" y="5256"/>
              <a:ext cx="230" cy="230"/>
            </a:xfrm>
            <a:prstGeom prst="rect">
              <a:avLst/>
            </a:prstGeom>
            <a:solidFill>
              <a:srgbClr val="8D97AC"/>
            </a:solidFill>
          </p:spPr>
        </p:sp>
        <p:sp>
          <p:nvSpPr>
            <p:cNvPr id="25" name="Text 22"/>
            <p:cNvSpPr/>
            <p:nvPr/>
          </p:nvSpPr>
          <p:spPr>
            <a:xfrm>
              <a:off x="13018" y="5098"/>
              <a:ext cx="3648" cy="518"/>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Central</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Text 23"/>
            <p:cNvSpPr/>
            <p:nvPr/>
          </p:nvSpPr>
          <p:spPr>
            <a:xfrm>
              <a:off x="16752" y="5098"/>
              <a:ext cx="1224" cy="518"/>
            </a:xfrm>
            <a:prstGeom prst="rect">
              <a:avLst/>
            </a:prstGeom>
            <a:noFill/>
          </p:spPr>
          <p:txBody>
            <a:bodyPr wrap="square" lIns="0" tIns="0" rIns="0" bIns="0" rtlCol="0" anchor="ctr"/>
            <a:lstStyle/>
            <a:p>
              <a:pPr marL="0" indent="0" algn="r">
                <a:buNone/>
              </a:pPr>
              <a:r>
                <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4.27</a:t>
              </a:r>
              <a:endParaRPr lang="en-US" sz="1200" dirty="0"/>
            </a:p>
          </p:txBody>
        </p:sp>
        <p:sp>
          <p:nvSpPr>
            <p:cNvPr id="27" name="Text 24"/>
            <p:cNvSpPr/>
            <p:nvPr/>
          </p:nvSpPr>
          <p:spPr>
            <a:xfrm>
              <a:off x="12154" y="5616"/>
              <a:ext cx="432" cy="518"/>
            </a:xfrm>
            <a:prstGeom prst="rect">
              <a:avLst/>
            </a:prstGeom>
            <a:noFill/>
          </p:spPr>
          <p:txBody>
            <a:bodyPr wrap="square" lIns="0" tIns="0" rIns="0" bIns="0" rtlCol="0" anchor="ctr"/>
            <a:lstStyle/>
            <a:p>
              <a:pPr marL="0" indent="0">
                <a:buNone/>
              </a:pPr>
              <a:r>
                <a:rPr lang="en-US" sz="1100" b="1" dirty="0">
                  <a:solidFill>
                    <a:srgbClr val="5B6472"/>
                  </a:solidFill>
                  <a:latin typeface="Calibri" panose="020F0502020204030204" pitchFamily="34" charset="0"/>
                  <a:ea typeface="Calibri" panose="020F0502020204030204" pitchFamily="34" charset="-122"/>
                  <a:cs typeface="Calibri" panose="020F0502020204030204" pitchFamily="34" charset="-120"/>
                </a:rPr>
                <a:t>5</a:t>
              </a:r>
              <a:endParaRPr lang="en-US" sz="1100" dirty="0"/>
            </a:p>
          </p:txBody>
        </p:sp>
        <p:sp>
          <p:nvSpPr>
            <p:cNvPr id="28" name="Shape 25"/>
            <p:cNvSpPr/>
            <p:nvPr/>
          </p:nvSpPr>
          <p:spPr>
            <a:xfrm>
              <a:off x="12643" y="5774"/>
              <a:ext cx="230" cy="230"/>
            </a:xfrm>
            <a:prstGeom prst="rect">
              <a:avLst/>
            </a:prstGeom>
            <a:solidFill>
              <a:srgbClr val="AEB6C4"/>
            </a:solidFill>
          </p:spPr>
        </p:sp>
        <p:sp>
          <p:nvSpPr>
            <p:cNvPr id="29" name="Text 26"/>
            <p:cNvSpPr/>
            <p:nvPr/>
          </p:nvSpPr>
          <p:spPr>
            <a:xfrm>
              <a:off x="13018" y="5616"/>
              <a:ext cx="3648" cy="518"/>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Eastern</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Text 27"/>
            <p:cNvSpPr/>
            <p:nvPr/>
          </p:nvSpPr>
          <p:spPr>
            <a:xfrm>
              <a:off x="16752" y="5616"/>
              <a:ext cx="1224" cy="518"/>
            </a:xfrm>
            <a:prstGeom prst="rect">
              <a:avLst/>
            </a:prstGeom>
            <a:noFill/>
          </p:spPr>
          <p:txBody>
            <a:bodyPr wrap="square" lIns="0" tIns="0" rIns="0" bIns="0" rtlCol="0" anchor="ctr"/>
            <a:lstStyle/>
            <a:p>
              <a:pPr marL="0" indent="0" algn="r">
                <a:buNone/>
              </a:pPr>
              <a:r>
                <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4.07</a:t>
              </a:r>
              <a:endParaRPr lang="en-US" sz="1200" dirty="0"/>
            </a:p>
          </p:txBody>
        </p:sp>
        <p:sp>
          <p:nvSpPr>
            <p:cNvPr id="31" name="Text 28"/>
            <p:cNvSpPr/>
            <p:nvPr/>
          </p:nvSpPr>
          <p:spPr>
            <a:xfrm>
              <a:off x="12154" y="6134"/>
              <a:ext cx="432" cy="518"/>
            </a:xfrm>
            <a:prstGeom prst="rect">
              <a:avLst/>
            </a:prstGeom>
            <a:noFill/>
          </p:spPr>
          <p:txBody>
            <a:bodyPr wrap="square" lIns="0" tIns="0" rIns="0" bIns="0" rtlCol="0" anchor="ctr"/>
            <a:lstStyle/>
            <a:p>
              <a:pPr marL="0" indent="0">
                <a:buNone/>
              </a:pPr>
              <a:r>
                <a:rPr lang="en-US" sz="1100" b="1" dirty="0">
                  <a:solidFill>
                    <a:srgbClr val="5B6472"/>
                  </a:solidFill>
                  <a:latin typeface="Calibri" panose="020F0502020204030204" pitchFamily="34" charset="0"/>
                  <a:ea typeface="Calibri" panose="020F0502020204030204" pitchFamily="34" charset="-122"/>
                  <a:cs typeface="Calibri" panose="020F0502020204030204" pitchFamily="34" charset="-120"/>
                </a:rPr>
                <a:t>6</a:t>
              </a:r>
              <a:endParaRPr lang="en-US" sz="1100" dirty="0"/>
            </a:p>
          </p:txBody>
        </p:sp>
        <p:sp>
          <p:nvSpPr>
            <p:cNvPr id="32" name="Shape 29"/>
            <p:cNvSpPr/>
            <p:nvPr/>
          </p:nvSpPr>
          <p:spPr>
            <a:xfrm>
              <a:off x="12643" y="6293"/>
              <a:ext cx="230" cy="230"/>
            </a:xfrm>
            <a:prstGeom prst="rect">
              <a:avLst/>
            </a:prstGeom>
            <a:solidFill>
              <a:srgbClr val="CDD2DA"/>
            </a:solidFill>
          </p:spPr>
        </p:sp>
        <p:sp>
          <p:nvSpPr>
            <p:cNvPr id="33" name="Text 30"/>
            <p:cNvSpPr/>
            <p:nvPr/>
          </p:nvSpPr>
          <p:spPr>
            <a:xfrm>
              <a:off x="13018" y="6134"/>
              <a:ext cx="3648" cy="518"/>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North-Eastern</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Text 31"/>
            <p:cNvSpPr/>
            <p:nvPr/>
          </p:nvSpPr>
          <p:spPr>
            <a:xfrm>
              <a:off x="16752" y="6134"/>
              <a:ext cx="1224" cy="518"/>
            </a:xfrm>
            <a:prstGeom prst="rect">
              <a:avLst/>
            </a:prstGeom>
            <a:noFill/>
          </p:spPr>
          <p:txBody>
            <a:bodyPr wrap="square" lIns="0" tIns="0" rIns="0" bIns="0" rtlCol="0" anchor="ctr"/>
            <a:lstStyle/>
            <a:p>
              <a:pPr marL="0" indent="0" algn="r">
                <a:buNone/>
              </a:pPr>
              <a:r>
                <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3.33</a:t>
              </a:r>
              <a:endParaRPr lang="en-US" sz="1200" dirty="0"/>
            </a:p>
          </p:txBody>
        </p:sp>
      </p:grpSp>
      <p:grpSp>
        <p:nvGrpSpPr>
          <p:cNvPr id="54" name="Group 53"/>
          <p:cNvGrpSpPr/>
          <p:nvPr/>
        </p:nvGrpSpPr>
        <p:grpSpPr>
          <a:xfrm>
            <a:off x="7498080" y="4544695"/>
            <a:ext cx="4265295" cy="1874520"/>
            <a:chOff x="11808" y="7157"/>
            <a:chExt cx="6528" cy="2952"/>
          </a:xfrm>
        </p:grpSpPr>
        <p:sp>
          <p:nvSpPr>
            <p:cNvPr id="35" name="Shape 32"/>
            <p:cNvSpPr/>
            <p:nvPr/>
          </p:nvSpPr>
          <p:spPr>
            <a:xfrm>
              <a:off x="11808" y="7157"/>
              <a:ext cx="6528" cy="2952"/>
            </a:xfrm>
            <a:prstGeom prst="roundRect">
              <a:avLst>
                <a:gd name="adj" fmla="val 4390"/>
              </a:avLst>
            </a:prstGeom>
            <a:solidFill>
              <a:srgbClr val="16233F"/>
            </a:solidFill>
          </p:spPr>
        </p:sp>
        <p:sp>
          <p:nvSpPr>
            <p:cNvPr id="36" name="Text 33"/>
            <p:cNvSpPr/>
            <p:nvPr/>
          </p:nvSpPr>
          <p:spPr>
            <a:xfrm>
              <a:off x="12211" y="7402"/>
              <a:ext cx="5721" cy="374"/>
            </a:xfrm>
            <a:prstGeom prst="rect">
              <a:avLst/>
            </a:prstGeom>
            <a:noFill/>
          </p:spPr>
          <p:txBody>
            <a:bodyPr wrap="square" lIns="0" tIns="0" rIns="0" bIns="0" rtlCol="0" anchor="ctr"/>
            <a:lstStyle/>
            <a:p>
              <a:pPr marL="0" indent="0">
                <a:buNone/>
              </a:pPr>
              <a:r>
                <a:rPr lang="en-US" sz="1100" b="1" kern="0" spc="80" dirty="0">
                  <a:solidFill>
                    <a:srgbClr val="FFFFFF"/>
                  </a:solidFill>
                  <a:latin typeface="Calibri" panose="020F0502020204030204" pitchFamily="34" charset="0"/>
                  <a:ea typeface="Calibri" panose="020F0502020204030204" pitchFamily="34" charset="-122"/>
                  <a:cs typeface="Calibri" panose="020F0502020204030204" pitchFamily="34" charset="-120"/>
                </a:rPr>
                <a:t>WHAT THE TRENDS REVEAL</a:t>
              </a:r>
              <a:endParaRPr lang="en-US" sz="1100" dirty="0"/>
            </a:p>
          </p:txBody>
        </p:sp>
        <p:sp>
          <p:nvSpPr>
            <p:cNvPr id="37" name="Shape 34"/>
            <p:cNvSpPr/>
            <p:nvPr/>
          </p:nvSpPr>
          <p:spPr>
            <a:xfrm>
              <a:off x="12211" y="7834"/>
              <a:ext cx="648" cy="0"/>
            </a:xfrm>
            <a:prstGeom prst="line">
              <a:avLst/>
            </a:prstGeom>
            <a:noFill/>
            <a:ln w="15875">
              <a:solidFill>
                <a:srgbClr val="AEB9CE"/>
              </a:solidFill>
              <a:prstDash val="solid"/>
            </a:ln>
          </p:spPr>
        </p:sp>
        <p:sp>
          <p:nvSpPr>
            <p:cNvPr id="38" name="Text 35"/>
            <p:cNvSpPr/>
            <p:nvPr/>
          </p:nvSpPr>
          <p:spPr>
            <a:xfrm>
              <a:off x="12211" y="7945"/>
              <a:ext cx="5721" cy="2010"/>
            </a:xfrm>
            <a:prstGeom prst="rect">
              <a:avLst/>
            </a:prstGeom>
            <a:noFill/>
          </p:spPr>
          <p:txBody>
            <a:bodyPr wrap="square" lIns="0" tIns="0" rIns="0" bIns="0" rtlCol="0" anchor="ctr"/>
            <a:lstStyle/>
            <a:p>
              <a:pPr marL="177800" indent="-177800">
                <a:lnSpc>
                  <a:spcPct val="114000"/>
                </a:lnSpc>
                <a:buSzPct val="100000"/>
                <a:buChar char="•"/>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Every region recorded sustained improvement over the study period.
</a:t>
              </a:r>
              <a:endParaRPr lang="en-US" sz="1000" dirty="0"/>
            </a:p>
            <a:p>
              <a:pPr marL="177800" indent="-177800">
                <a:lnSpc>
                  <a:spcPct val="114000"/>
                </a:lnSpc>
                <a:buSzPct val="100000"/>
                <a:buChar char="•"/>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Western India remained the consistent leader; </a:t>
              </a:r>
              <a:r>
                <a:rPr lang="en-US" alt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while the North-East remained the lowest-performing region</a:t>
              </a: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endParaRPr lang="en-US" sz="1000" dirty="0"/>
            </a:p>
            <a:p>
              <a:pPr marL="177800" indent="-177800">
                <a:lnSpc>
                  <a:spcPct val="114000"/>
                </a:lnSpc>
                <a:buSzPct val="100000"/>
                <a:buChar char="•"/>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Despite broad-based progress, the regional hierarchy changed very little.</a:t>
              </a:r>
              <a:endPar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39" name="Text 36"/>
          <p:cNvSpPr/>
          <p:nvPr/>
        </p:nvSpPr>
        <p:spPr>
          <a:xfrm>
            <a:off x="548640" y="6510528"/>
            <a:ext cx="7315200" cy="256032"/>
          </a:xfrm>
          <a:prstGeom prst="rect">
            <a:avLst/>
          </a:prstGeom>
          <a:noFill/>
        </p:spPr>
        <p:txBody>
          <a:bodyPr wrap="square" lIns="0" tIns="0" rIns="0" bIns="0" rtlCol="0" anchor="ctr"/>
          <a:lstStyle/>
          <a:p>
            <a:pPr marL="0" indent="0">
              <a:buNone/>
            </a:pPr>
            <a:r>
              <a:rPr lang="en-US" sz="95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950" dirty="0"/>
          </a:p>
        </p:txBody>
      </p:sp>
      <p:grpSp>
        <p:nvGrpSpPr>
          <p:cNvPr id="53" name="Group 52"/>
          <p:cNvGrpSpPr/>
          <p:nvPr/>
        </p:nvGrpSpPr>
        <p:grpSpPr>
          <a:xfrm>
            <a:off x="10330815" y="1709420"/>
            <a:ext cx="1431925" cy="2635876"/>
            <a:chOff x="16269" y="2634"/>
            <a:chExt cx="2255" cy="4209"/>
          </a:xfrm>
        </p:grpSpPr>
        <p:sp>
          <p:nvSpPr>
            <p:cNvPr id="42" name="Shape 7"/>
            <p:cNvSpPr/>
            <p:nvPr/>
          </p:nvSpPr>
          <p:spPr>
            <a:xfrm>
              <a:off x="16269" y="2634"/>
              <a:ext cx="2255" cy="4209"/>
            </a:xfrm>
            <a:prstGeom prst="roundRect">
              <a:avLst>
                <a:gd name="adj" fmla="val 4390"/>
              </a:avLst>
            </a:prstGeom>
            <a:solidFill>
              <a:srgbClr val="F4F4F2"/>
            </a:solidFill>
            <a:ln w="12700">
              <a:solidFill>
                <a:srgbClr val="E1E1DD"/>
              </a:solidFill>
              <a:prstDash val="solid"/>
            </a:ln>
          </p:spPr>
        </p:sp>
        <p:sp>
          <p:nvSpPr>
            <p:cNvPr id="43" name="Text 8"/>
            <p:cNvSpPr/>
            <p:nvPr/>
          </p:nvSpPr>
          <p:spPr>
            <a:xfrm>
              <a:off x="16406" y="2952"/>
              <a:ext cx="1981" cy="543"/>
            </a:xfrm>
            <a:prstGeom prst="rect">
              <a:avLst/>
            </a:prstGeom>
            <a:noFill/>
          </p:spPr>
          <p:txBody>
            <a:bodyPr wrap="square" lIns="0" tIns="0" rIns="0" bIns="0" rtlCol="0" anchor="ctr"/>
            <a:lstStyle/>
            <a:p>
              <a:pPr marL="0" indent="0">
                <a:buNone/>
              </a:pPr>
              <a:r>
                <a:rPr lang="en-US" altLang="en-US" sz="1150" b="1" kern="0" spc="100" dirty="0">
                  <a:solidFill>
                    <a:srgbClr val="16233F"/>
                  </a:solidFill>
                  <a:latin typeface="Calibri" panose="020F0502020204030204" pitchFamily="34" charset="0"/>
                  <a:ea typeface="Calibri" panose="020F0502020204030204" pitchFamily="34" charset="-122"/>
                  <a:cs typeface="Calibri" panose="020F0502020204030204" pitchFamily="34" charset="-120"/>
                </a:rPr>
                <a:t>STATISTICAL EVIDENCE</a:t>
              </a:r>
              <a:endParaRPr lang="en-US" altLang="en-US" sz="1150" b="1" kern="0" spc="100"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44" name="Shape 9"/>
            <p:cNvSpPr/>
            <p:nvPr/>
          </p:nvSpPr>
          <p:spPr>
            <a:xfrm>
              <a:off x="16406" y="3619"/>
              <a:ext cx="1845" cy="0"/>
            </a:xfrm>
            <a:prstGeom prst="line">
              <a:avLst/>
            </a:prstGeom>
            <a:noFill/>
            <a:ln w="12700">
              <a:solidFill>
                <a:srgbClr val="E1E1DD"/>
              </a:solidFill>
              <a:prstDash val="solid"/>
            </a:ln>
          </p:spPr>
        </p:sp>
        <p:grpSp>
          <p:nvGrpSpPr>
            <p:cNvPr id="51" name="Group 50"/>
            <p:cNvGrpSpPr/>
            <p:nvPr/>
          </p:nvGrpSpPr>
          <p:grpSpPr>
            <a:xfrm>
              <a:off x="16406" y="3754"/>
              <a:ext cx="1995" cy="1482"/>
              <a:chOff x="16406" y="3754"/>
              <a:chExt cx="1995" cy="1482"/>
            </a:xfrm>
          </p:grpSpPr>
          <p:sp>
            <p:nvSpPr>
              <p:cNvPr id="45" name="Text 10"/>
              <p:cNvSpPr/>
              <p:nvPr/>
            </p:nvSpPr>
            <p:spPr>
              <a:xfrm>
                <a:off x="16406" y="3754"/>
                <a:ext cx="1994" cy="662"/>
              </a:xfrm>
              <a:prstGeom prst="rect">
                <a:avLst/>
              </a:prstGeom>
              <a:noFill/>
            </p:spPr>
            <p:txBody>
              <a:bodyPr wrap="square" lIns="0" tIns="0" rIns="0" bIns="0" rtlCol="0" anchor="ctr"/>
              <a:lstStyle/>
              <a:p>
                <a:pPr marL="0" indent="0">
                  <a:buNone/>
                </a:pPr>
                <a:r>
                  <a:rPr lang="en-US" alt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Kruskal–Wallis</a:t>
                </a:r>
                <a:endParaRPr lang="en-US" alt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alt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χ² = 12.52  p = 0.028</a:t>
                </a:r>
                <a:endParaRPr lang="en-US" alt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46" name="Text 11"/>
              <p:cNvSpPr/>
              <p:nvPr/>
            </p:nvSpPr>
            <p:spPr>
              <a:xfrm>
                <a:off x="16420" y="4579"/>
                <a:ext cx="1981" cy="657"/>
              </a:xfrm>
              <a:prstGeom prst="rect">
                <a:avLst/>
              </a:prstGeom>
              <a:noFill/>
            </p:spPr>
            <p:txBody>
              <a:bodyPr wrap="square" lIns="0" tIns="0" rIns="0" bIns="0" rtlCol="0" anchor="ctr"/>
              <a:lstStyle/>
              <a:p>
                <a:pPr marL="0" indent="0">
                  <a:lnSpc>
                    <a:spcPct val="110000"/>
                  </a:lnSpc>
                  <a:buNone/>
                </a:pPr>
                <a:r>
                  <a:rPr lang="en-US" alt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 Significant regional differences</a:t>
                </a:r>
                <a:endParaRPr lang="en-US" alt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48" name="Text 13"/>
            <p:cNvSpPr/>
            <p:nvPr/>
          </p:nvSpPr>
          <p:spPr>
            <a:xfrm>
              <a:off x="16420" y="5866"/>
              <a:ext cx="1981" cy="657"/>
            </a:xfrm>
            <a:prstGeom prst="rect">
              <a:avLst/>
            </a:prstGeom>
            <a:noFill/>
          </p:spPr>
          <p:txBody>
            <a:bodyPr wrap="square" lIns="0" tIns="0" rIns="0" bIns="0" rtlCol="0" anchor="ctr"/>
            <a:lstStyle/>
            <a:p>
              <a:pPr marL="0" indent="0">
                <a:lnSpc>
                  <a:spcPct val="110000"/>
                </a:lnSpc>
                <a:buNone/>
              </a:pPr>
              <a:r>
                <a:rPr lang="en-US" alt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 Same conclusion</a:t>
              </a:r>
              <a:endParaRPr lang="en-US" alt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52" name="Text 10"/>
            <p:cNvSpPr/>
            <p:nvPr/>
          </p:nvSpPr>
          <p:spPr>
            <a:xfrm>
              <a:off x="16420" y="5400"/>
              <a:ext cx="1981" cy="533"/>
            </a:xfrm>
            <a:prstGeom prst="rect">
              <a:avLst/>
            </a:prstGeom>
            <a:noFill/>
          </p:spPr>
          <p:txBody>
            <a:bodyPr wrap="square" lIns="0" tIns="0" rIns="0" bIns="0" rtlCol="0" anchor="ctr"/>
            <a:lstStyle/>
            <a:p>
              <a:pPr marL="0" indent="0">
                <a:buNone/>
              </a:pPr>
              <a:r>
                <a:rPr lang="en-US" alt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ANOVA</a:t>
              </a:r>
              <a:endParaRPr lang="en-US" alt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alt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F = 4.28 p = 0.007</a:t>
              </a:r>
              <a:endParaRPr lang="en-US" alt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548640" y="274320"/>
            <a:ext cx="8229600" cy="219456"/>
          </a:xfrm>
          <a:prstGeom prst="rect">
            <a:avLst/>
          </a:prstGeom>
          <a:noFill/>
        </p:spPr>
        <p:txBody>
          <a:bodyPr wrap="square" lIns="0" tIns="0" rIns="0" bIns="0" rtlCol="0" anchor="ctr"/>
          <a:lstStyle/>
          <a:p>
            <a:pPr marL="0" indent="0">
              <a:buNone/>
            </a:pPr>
            <a:r>
              <a:rPr lang="en-US" sz="105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09  ·  REGIONAL ANALYSIS</a:t>
            </a:r>
            <a:endParaRPr lang="en-US" sz="1050" dirty="0"/>
          </a:p>
        </p:txBody>
      </p:sp>
      <p:sp>
        <p:nvSpPr>
          <p:cNvPr id="3" name="Shape 1"/>
          <p:cNvSpPr/>
          <p:nvPr/>
        </p:nvSpPr>
        <p:spPr>
          <a:xfrm>
            <a:off x="548640" y="512064"/>
            <a:ext cx="502920" cy="0"/>
          </a:xfrm>
          <a:prstGeom prst="line">
            <a:avLst/>
          </a:prstGeom>
          <a:noFill/>
          <a:ln w="28575">
            <a:solidFill>
              <a:srgbClr val="16233F"/>
            </a:solidFill>
            <a:prstDash val="solid"/>
          </a:ln>
        </p:spPr>
      </p:sp>
      <p:sp>
        <p:nvSpPr>
          <p:cNvPr id="4" name="Text 2"/>
          <p:cNvSpPr/>
          <p:nvPr/>
        </p:nvSpPr>
        <p:spPr>
          <a:xfrm>
            <a:off x="548640" y="548640"/>
            <a:ext cx="11094415" cy="530352"/>
          </a:xfrm>
          <a:prstGeom prst="rect">
            <a:avLst/>
          </a:prstGeom>
          <a:noFill/>
        </p:spPr>
        <p:txBody>
          <a:bodyPr wrap="square" lIns="0" tIns="0" rIns="0" bIns="0" rtlCol="0" anchor="t"/>
          <a:lstStyle/>
          <a:p>
            <a:pPr marL="0" indent="0">
              <a:lnSpc>
                <a:spcPct val="106000"/>
              </a:lnSpc>
              <a:buNone/>
            </a:pPr>
            <a:r>
              <a:rPr lang="en-US" sz="1800" b="1" dirty="0">
                <a:solidFill>
                  <a:srgbClr val="16233F"/>
                </a:solidFill>
                <a:latin typeface="Cambria" panose="02040503050406030204" pitchFamily="34" charset="0"/>
                <a:ea typeface="Cambria" panose="02040503050406030204" pitchFamily="34" charset="-122"/>
                <a:cs typeface="Cambria" panose="02040503050406030204" pitchFamily="34" charset="-120"/>
              </a:rPr>
              <a:t>Regional Financial Inclusion Differs in Internal Dispersion</a:t>
            </a:r>
            <a:endParaRPr lang="en-US" sz="1800" dirty="0"/>
          </a:p>
        </p:txBody>
      </p:sp>
      <p:sp>
        <p:nvSpPr>
          <p:cNvPr id="5" name="Text 3"/>
          <p:cNvSpPr/>
          <p:nvPr/>
        </p:nvSpPr>
        <p:spPr>
          <a:xfrm>
            <a:off x="548640" y="1097280"/>
            <a:ext cx="11094415" cy="201168"/>
          </a:xfrm>
          <a:prstGeom prst="rect">
            <a:avLst/>
          </a:prstGeom>
          <a:noFill/>
        </p:spPr>
        <p:txBody>
          <a:bodyPr wrap="square" lIns="0" tIns="0" rIns="0" bIns="0" rtlCol="0" anchor="ctr"/>
          <a:lstStyle/>
          <a:p>
            <a:pPr marL="0" indent="0">
              <a:buNone/>
            </a:pPr>
            <a:r>
              <a:rPr lang="en-US" sz="1030" i="1" dirty="0">
                <a:solidFill>
                  <a:srgbClr val="5B6472"/>
                </a:solidFill>
                <a:latin typeface="Calibri" panose="020F0502020204030204" pitchFamily="34" charset="0"/>
                <a:ea typeface="Calibri" panose="020F0502020204030204" pitchFamily="34" charset="-122"/>
                <a:cs typeface="Calibri" panose="020F0502020204030204" pitchFamily="34" charset="-120"/>
              </a:rPr>
              <a:t>How evenly is financial inclusion distributed among states within each region (2024–25)?</a:t>
            </a:r>
            <a:endParaRPr lang="en-US" sz="1030" dirty="0"/>
          </a:p>
        </p:txBody>
      </p:sp>
      <p:sp>
        <p:nvSpPr>
          <p:cNvPr id="6" name="Shape 4"/>
          <p:cNvSpPr/>
          <p:nvPr/>
        </p:nvSpPr>
        <p:spPr>
          <a:xfrm>
            <a:off x="548640" y="1417320"/>
            <a:ext cx="3794760" cy="3611880"/>
          </a:xfrm>
          <a:prstGeom prst="roundRect">
            <a:avLst>
              <a:gd name="adj" fmla="val 1519"/>
            </a:avLst>
          </a:prstGeom>
          <a:solidFill>
            <a:srgbClr val="FFFFFF"/>
          </a:solidFill>
          <a:ln w="12700">
            <a:solidFill>
              <a:srgbClr val="E3E3E0"/>
            </a:solidFill>
            <a:prstDash val="solid"/>
          </a:ln>
        </p:spPr>
      </p:sp>
      <p:sp>
        <p:nvSpPr>
          <p:cNvPr id="7" name="Text 5"/>
          <p:cNvSpPr/>
          <p:nvPr/>
        </p:nvSpPr>
        <p:spPr>
          <a:xfrm>
            <a:off x="731520" y="1545590"/>
            <a:ext cx="3429000" cy="292735"/>
          </a:xfrm>
          <a:prstGeom prst="rect">
            <a:avLst/>
          </a:prstGeom>
          <a:noFill/>
        </p:spPr>
        <p:txBody>
          <a:bodyPr wrap="square" lIns="0" tIns="0" rIns="0" bIns="0" rtlCol="0" anchor="ctr"/>
          <a:lstStyle/>
          <a:p>
            <a:pPr marL="0" indent="0">
              <a:lnSpc>
                <a:spcPct val="110000"/>
              </a:lnSpc>
              <a:buNone/>
            </a:pPr>
            <a:r>
              <a:rPr lang="en-US" sz="1200" b="1" kern="0" spc="60" dirty="0">
                <a:solidFill>
                  <a:srgbClr val="16233F"/>
                </a:solidFill>
                <a:latin typeface="Calibri" panose="020F0502020204030204" pitchFamily="34" charset="0"/>
                <a:ea typeface="Calibri" panose="020F0502020204030204" pitchFamily="34" charset="-122"/>
                <a:cs typeface="Calibri" panose="020F0502020204030204" pitchFamily="34" charset="-120"/>
              </a:rPr>
              <a:t>REGIONAL DISPERSION SUMMARY (2024–25)</a:t>
            </a:r>
            <a:endParaRPr lang="en-US" sz="1200" b="1" kern="0" spc="60"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92" name="Group 91"/>
          <p:cNvGrpSpPr/>
          <p:nvPr/>
        </p:nvGrpSpPr>
        <p:grpSpPr>
          <a:xfrm>
            <a:off x="731520" y="2009140"/>
            <a:ext cx="3429000" cy="2567305"/>
            <a:chOff x="1152" y="3038"/>
            <a:chExt cx="5400" cy="3269"/>
          </a:xfrm>
        </p:grpSpPr>
        <p:sp>
          <p:nvSpPr>
            <p:cNvPr id="8" name="Shape 6"/>
            <p:cNvSpPr/>
            <p:nvPr/>
          </p:nvSpPr>
          <p:spPr>
            <a:xfrm>
              <a:off x="1152" y="3038"/>
              <a:ext cx="5400" cy="374"/>
            </a:xfrm>
            <a:prstGeom prst="rect">
              <a:avLst/>
            </a:prstGeom>
            <a:solidFill>
              <a:srgbClr val="F4F4F2"/>
            </a:solidFill>
          </p:spPr>
        </p:sp>
        <p:sp>
          <p:nvSpPr>
            <p:cNvPr id="9" name="Text 7"/>
            <p:cNvSpPr/>
            <p:nvPr/>
          </p:nvSpPr>
          <p:spPr>
            <a:xfrm>
              <a:off x="1267" y="3038"/>
              <a:ext cx="2376" cy="374"/>
            </a:xfrm>
            <a:prstGeom prst="rect">
              <a:avLst/>
            </a:prstGeom>
            <a:noFill/>
          </p:spPr>
          <p:txBody>
            <a:bodyPr wrap="square" lIns="0" tIns="0" rIns="0" bIns="0" rtlCol="0" anchor="ctr"/>
            <a:lstStyle/>
            <a:p>
              <a:pPr marL="0" indent="0">
                <a:buNone/>
              </a:pPr>
              <a:r>
                <a:rPr lang="en-US" sz="1060" b="1" dirty="0">
                  <a:solidFill>
                    <a:srgbClr val="5B6472"/>
                  </a:solidFill>
                  <a:latin typeface="Calibri" panose="020F0502020204030204" pitchFamily="34" charset="0"/>
                  <a:ea typeface="Calibri" panose="020F0502020204030204" pitchFamily="34" charset="-122"/>
                  <a:cs typeface="Calibri" panose="020F0502020204030204" pitchFamily="34" charset="-120"/>
                </a:rPr>
                <a:t>Region</a:t>
              </a:r>
              <a:endParaRPr lang="en-US" sz="1060" b="1"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p:nvPr/>
          </p:nvSpPr>
          <p:spPr>
            <a:xfrm>
              <a:off x="3528" y="3038"/>
              <a:ext cx="1512" cy="374"/>
            </a:xfrm>
            <a:prstGeom prst="rect">
              <a:avLst/>
            </a:prstGeom>
            <a:noFill/>
          </p:spPr>
          <p:txBody>
            <a:bodyPr wrap="square" lIns="0" tIns="0" rIns="0" bIns="0" rtlCol="0" anchor="ctr"/>
            <a:lstStyle/>
            <a:p>
              <a:pPr marL="0" indent="0" algn="ctr">
                <a:buNone/>
              </a:pPr>
              <a:r>
                <a:rPr lang="en-US" sz="1060" b="1" dirty="0">
                  <a:solidFill>
                    <a:srgbClr val="5B6472"/>
                  </a:solidFill>
                  <a:latin typeface="Calibri" panose="020F0502020204030204" pitchFamily="34" charset="0"/>
                  <a:ea typeface="Calibri" panose="020F0502020204030204" pitchFamily="34" charset="-122"/>
                  <a:cs typeface="Calibri" panose="020F0502020204030204" pitchFamily="34" charset="-120"/>
                </a:rPr>
                <a:t>Mean FII</a:t>
              </a:r>
              <a:endParaRPr lang="en-US" sz="1060" b="1"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p:nvPr/>
          </p:nvSpPr>
          <p:spPr>
            <a:xfrm>
              <a:off x="5040" y="3038"/>
              <a:ext cx="1512" cy="374"/>
            </a:xfrm>
            <a:prstGeom prst="rect">
              <a:avLst/>
            </a:prstGeom>
            <a:noFill/>
          </p:spPr>
          <p:txBody>
            <a:bodyPr wrap="square" lIns="0" tIns="0" rIns="0" bIns="0" rtlCol="0" anchor="ctr"/>
            <a:lstStyle/>
            <a:p>
              <a:pPr marL="0" indent="0" algn="ctr">
                <a:buNone/>
              </a:pPr>
              <a:r>
                <a:rPr lang="en-US" sz="1060" b="1" dirty="0">
                  <a:solidFill>
                    <a:srgbClr val="FFFFFF"/>
                  </a:solidFill>
                  <a:latin typeface="Calibri" panose="020F0502020204030204" pitchFamily="34" charset="0"/>
                  <a:ea typeface="Calibri" panose="020F0502020204030204" pitchFamily="34" charset="-122"/>
                  <a:cs typeface="Calibri" panose="020F0502020204030204" pitchFamily="34" charset="-120"/>
                </a:rPr>
                <a:t>SD</a:t>
              </a:r>
              <a:endParaRPr lang="en-US" sz="106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5040" y="3038"/>
              <a:ext cx="1512" cy="374"/>
            </a:xfrm>
            <a:prstGeom prst="rect">
              <a:avLst/>
            </a:prstGeom>
            <a:solidFill>
              <a:srgbClr val="16233F"/>
            </a:solidFill>
          </p:spPr>
        </p:sp>
        <p:sp>
          <p:nvSpPr>
            <p:cNvPr id="13" name="Text 11"/>
            <p:cNvSpPr/>
            <p:nvPr/>
          </p:nvSpPr>
          <p:spPr>
            <a:xfrm>
              <a:off x="5040" y="3038"/>
              <a:ext cx="1512" cy="374"/>
            </a:xfrm>
            <a:prstGeom prst="rect">
              <a:avLst/>
            </a:prstGeom>
            <a:noFill/>
          </p:spPr>
          <p:txBody>
            <a:bodyPr wrap="square" lIns="0" tIns="0" rIns="0" bIns="0" rtlCol="0" anchor="ctr"/>
            <a:lstStyle/>
            <a:p>
              <a:pPr marL="0" indent="0" algn="ctr">
                <a:buNone/>
              </a:pPr>
              <a:r>
                <a:rPr lang="en-US" sz="1060" b="1" dirty="0">
                  <a:solidFill>
                    <a:srgbClr val="FFFFFF"/>
                  </a:solidFill>
                  <a:latin typeface="Calibri" panose="020F0502020204030204" pitchFamily="34" charset="0"/>
                  <a:ea typeface="Calibri" panose="020F0502020204030204" pitchFamily="34" charset="-122"/>
                  <a:cs typeface="Calibri" panose="020F0502020204030204" pitchFamily="34" charset="-120"/>
                </a:rPr>
                <a:t>SD</a:t>
              </a:r>
              <a:endParaRPr lang="en-US" sz="106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Text 12"/>
            <p:cNvSpPr/>
            <p:nvPr/>
          </p:nvSpPr>
          <p:spPr>
            <a:xfrm>
              <a:off x="1267" y="3413"/>
              <a:ext cx="2376" cy="482"/>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Western</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3528" y="3413"/>
              <a:ext cx="1512" cy="482"/>
            </a:xfrm>
            <a:prstGeom prst="rect">
              <a:avLst/>
            </a:prstGeom>
            <a:noFill/>
          </p:spPr>
          <p:txBody>
            <a:bodyPr wrap="square" lIns="0" tIns="0" rIns="0" bIns="0" rtlCol="0" anchor="ctr"/>
            <a:lstStyle/>
            <a:p>
              <a:pPr marL="0" indent="0" algn="ctr">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8.71</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5040" y="3413"/>
              <a:ext cx="1512" cy="482"/>
            </a:xfrm>
            <a:prstGeom prst="rect">
              <a:avLst/>
            </a:prstGeom>
            <a:solidFill>
              <a:srgbClr val="C9D3EA"/>
            </a:solidFill>
          </p:spPr>
        </p:sp>
        <p:sp>
          <p:nvSpPr>
            <p:cNvPr id="17" name="Text 15"/>
            <p:cNvSpPr/>
            <p:nvPr/>
          </p:nvSpPr>
          <p:spPr>
            <a:xfrm>
              <a:off x="5040" y="3413"/>
              <a:ext cx="1512" cy="482"/>
            </a:xfrm>
            <a:prstGeom prst="rect">
              <a:avLst/>
            </a:prstGeom>
            <a:noFill/>
          </p:spPr>
          <p:txBody>
            <a:bodyPr wrap="square" lIns="0" tIns="0" rIns="0" bIns="0" rtlCol="0" anchor="ctr"/>
            <a:lstStyle/>
            <a:p>
              <a:pPr marL="0" indent="0" algn="ctr">
                <a:buNone/>
              </a:pPr>
              <a:r>
                <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4.46</a:t>
              </a:r>
              <a:endPar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6"/>
            <p:cNvSpPr/>
            <p:nvPr/>
          </p:nvSpPr>
          <p:spPr>
            <a:xfrm>
              <a:off x="1152" y="3895"/>
              <a:ext cx="5400" cy="482"/>
            </a:xfrm>
            <a:prstGeom prst="rect">
              <a:avLst/>
            </a:prstGeom>
            <a:solidFill>
              <a:srgbClr val="FAFAF9"/>
            </a:solidFill>
          </p:spPr>
        </p:sp>
        <p:sp>
          <p:nvSpPr>
            <p:cNvPr id="19" name="Text 17"/>
            <p:cNvSpPr/>
            <p:nvPr/>
          </p:nvSpPr>
          <p:spPr>
            <a:xfrm>
              <a:off x="1267" y="3895"/>
              <a:ext cx="2376" cy="482"/>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Southern</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Text 18"/>
            <p:cNvSpPr/>
            <p:nvPr/>
          </p:nvSpPr>
          <p:spPr>
            <a:xfrm>
              <a:off x="3528" y="3895"/>
              <a:ext cx="1512" cy="482"/>
            </a:xfrm>
            <a:prstGeom prst="rect">
              <a:avLst/>
            </a:prstGeom>
            <a:noFill/>
          </p:spPr>
          <p:txBody>
            <a:bodyPr wrap="square" lIns="0" tIns="0" rIns="0" bIns="0" rtlCol="0" anchor="ctr"/>
            <a:lstStyle/>
            <a:p>
              <a:pPr marL="0" indent="0" algn="ctr">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6.45</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Shape 19"/>
            <p:cNvSpPr/>
            <p:nvPr/>
          </p:nvSpPr>
          <p:spPr>
            <a:xfrm>
              <a:off x="5040" y="3895"/>
              <a:ext cx="1512" cy="482"/>
            </a:xfrm>
            <a:prstGeom prst="rect">
              <a:avLst/>
            </a:prstGeom>
            <a:solidFill>
              <a:srgbClr val="C9D3EA"/>
            </a:solidFill>
          </p:spPr>
        </p:sp>
        <p:sp>
          <p:nvSpPr>
            <p:cNvPr id="22" name="Text 20"/>
            <p:cNvSpPr/>
            <p:nvPr/>
          </p:nvSpPr>
          <p:spPr>
            <a:xfrm>
              <a:off x="5040" y="3895"/>
              <a:ext cx="1512" cy="482"/>
            </a:xfrm>
            <a:prstGeom prst="rect">
              <a:avLst/>
            </a:prstGeom>
            <a:noFill/>
          </p:spPr>
          <p:txBody>
            <a:bodyPr wrap="square" lIns="0" tIns="0" rIns="0" bIns="0" rtlCol="0" anchor="ctr"/>
            <a:lstStyle/>
            <a:p>
              <a:pPr marL="0" indent="0" algn="ctr">
                <a:buNone/>
              </a:pPr>
              <a:r>
                <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0.63</a:t>
              </a:r>
              <a:endPar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p:nvPr/>
          </p:nvSpPr>
          <p:spPr>
            <a:xfrm>
              <a:off x="1267" y="4378"/>
              <a:ext cx="2376" cy="482"/>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Northern</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2"/>
            <p:cNvSpPr/>
            <p:nvPr/>
          </p:nvSpPr>
          <p:spPr>
            <a:xfrm>
              <a:off x="3528" y="4378"/>
              <a:ext cx="1512" cy="482"/>
            </a:xfrm>
            <a:prstGeom prst="rect">
              <a:avLst/>
            </a:prstGeom>
            <a:noFill/>
          </p:spPr>
          <p:txBody>
            <a:bodyPr wrap="square" lIns="0" tIns="0" rIns="0" bIns="0" rtlCol="0" anchor="ctr"/>
            <a:lstStyle/>
            <a:p>
              <a:pPr marL="0" indent="0" algn="ctr">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6.16</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Shape 23"/>
            <p:cNvSpPr/>
            <p:nvPr/>
          </p:nvSpPr>
          <p:spPr>
            <a:xfrm>
              <a:off x="5040" y="4378"/>
              <a:ext cx="1512" cy="482"/>
            </a:xfrm>
            <a:prstGeom prst="rect">
              <a:avLst/>
            </a:prstGeom>
            <a:solidFill>
              <a:srgbClr val="C9D3EA"/>
            </a:solidFill>
          </p:spPr>
        </p:sp>
        <p:sp>
          <p:nvSpPr>
            <p:cNvPr id="26" name="Text 24"/>
            <p:cNvSpPr/>
            <p:nvPr/>
          </p:nvSpPr>
          <p:spPr>
            <a:xfrm>
              <a:off x="5040" y="4378"/>
              <a:ext cx="1512" cy="482"/>
            </a:xfrm>
            <a:prstGeom prst="rect">
              <a:avLst/>
            </a:prstGeom>
            <a:noFill/>
          </p:spPr>
          <p:txBody>
            <a:bodyPr wrap="square" lIns="0" tIns="0" rIns="0" bIns="0" rtlCol="0" anchor="ctr"/>
            <a:lstStyle/>
            <a:p>
              <a:pPr marL="0" indent="0" algn="ctr">
                <a:buNone/>
              </a:pPr>
              <a:r>
                <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2.10</a:t>
              </a:r>
              <a:endPar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Shape 25"/>
            <p:cNvSpPr/>
            <p:nvPr/>
          </p:nvSpPr>
          <p:spPr>
            <a:xfrm>
              <a:off x="1152" y="4860"/>
              <a:ext cx="5400" cy="482"/>
            </a:xfrm>
            <a:prstGeom prst="rect">
              <a:avLst/>
            </a:prstGeom>
            <a:solidFill>
              <a:srgbClr val="FAFAF9"/>
            </a:solidFill>
          </p:spPr>
        </p:sp>
        <p:sp>
          <p:nvSpPr>
            <p:cNvPr id="28" name="Text 26"/>
            <p:cNvSpPr/>
            <p:nvPr/>
          </p:nvSpPr>
          <p:spPr>
            <a:xfrm>
              <a:off x="1267" y="4860"/>
              <a:ext cx="2376" cy="482"/>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Central</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Text 27"/>
            <p:cNvSpPr/>
            <p:nvPr/>
          </p:nvSpPr>
          <p:spPr>
            <a:xfrm>
              <a:off x="3528" y="4860"/>
              <a:ext cx="1512" cy="482"/>
            </a:xfrm>
            <a:prstGeom prst="rect">
              <a:avLst/>
            </a:prstGeom>
            <a:noFill/>
          </p:spPr>
          <p:txBody>
            <a:bodyPr wrap="square" lIns="0" tIns="0" rIns="0" bIns="0" rtlCol="0" anchor="ctr"/>
            <a:lstStyle/>
            <a:p>
              <a:pPr marL="0" indent="0" algn="ctr">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4.27</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Shape 28"/>
            <p:cNvSpPr/>
            <p:nvPr/>
          </p:nvSpPr>
          <p:spPr>
            <a:xfrm>
              <a:off x="5040" y="4860"/>
              <a:ext cx="1512" cy="482"/>
            </a:xfrm>
            <a:prstGeom prst="rect">
              <a:avLst/>
            </a:prstGeom>
            <a:solidFill>
              <a:srgbClr val="C9D3EA"/>
            </a:solidFill>
          </p:spPr>
        </p:sp>
        <p:sp>
          <p:nvSpPr>
            <p:cNvPr id="31" name="Text 29"/>
            <p:cNvSpPr/>
            <p:nvPr/>
          </p:nvSpPr>
          <p:spPr>
            <a:xfrm>
              <a:off x="5040" y="4860"/>
              <a:ext cx="1512" cy="482"/>
            </a:xfrm>
            <a:prstGeom prst="rect">
              <a:avLst/>
            </a:prstGeom>
            <a:noFill/>
          </p:spPr>
          <p:txBody>
            <a:bodyPr wrap="square" lIns="0" tIns="0" rIns="0" bIns="0" rtlCol="0" anchor="ctr"/>
            <a:lstStyle/>
            <a:p>
              <a:pPr marL="0" indent="0" algn="ctr">
                <a:buNone/>
              </a:pPr>
              <a:r>
                <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2.21</a:t>
              </a:r>
              <a:endPar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32" name="Text 30"/>
            <p:cNvSpPr/>
            <p:nvPr/>
          </p:nvSpPr>
          <p:spPr>
            <a:xfrm>
              <a:off x="1267" y="5342"/>
              <a:ext cx="2376" cy="482"/>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Eastern</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Text 31"/>
            <p:cNvSpPr/>
            <p:nvPr/>
          </p:nvSpPr>
          <p:spPr>
            <a:xfrm>
              <a:off x="3528" y="5342"/>
              <a:ext cx="1512" cy="482"/>
            </a:xfrm>
            <a:prstGeom prst="rect">
              <a:avLst/>
            </a:prstGeom>
            <a:noFill/>
          </p:spPr>
          <p:txBody>
            <a:bodyPr wrap="square" lIns="0" tIns="0" rIns="0" bIns="0" rtlCol="0" anchor="ctr"/>
            <a:lstStyle/>
            <a:p>
              <a:pPr marL="0" indent="0" algn="ctr">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4.07</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Shape 32"/>
            <p:cNvSpPr/>
            <p:nvPr/>
          </p:nvSpPr>
          <p:spPr>
            <a:xfrm>
              <a:off x="5040" y="5342"/>
              <a:ext cx="1512" cy="482"/>
            </a:xfrm>
            <a:prstGeom prst="rect">
              <a:avLst/>
            </a:prstGeom>
            <a:solidFill>
              <a:srgbClr val="C9D3EA"/>
            </a:solidFill>
          </p:spPr>
        </p:sp>
        <p:sp>
          <p:nvSpPr>
            <p:cNvPr id="35" name="Text 33"/>
            <p:cNvSpPr/>
            <p:nvPr/>
          </p:nvSpPr>
          <p:spPr>
            <a:xfrm>
              <a:off x="5040" y="5342"/>
              <a:ext cx="1512" cy="482"/>
            </a:xfrm>
            <a:prstGeom prst="rect">
              <a:avLst/>
            </a:prstGeom>
            <a:noFill/>
          </p:spPr>
          <p:txBody>
            <a:bodyPr wrap="square" lIns="0" tIns="0" rIns="0" bIns="0" rtlCol="0" anchor="ctr"/>
            <a:lstStyle/>
            <a:p>
              <a:pPr marL="0" indent="0" algn="ctr">
                <a:buNone/>
              </a:pPr>
              <a:r>
                <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1.78</a:t>
              </a:r>
              <a:endPar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36" name="Shape 34"/>
            <p:cNvSpPr/>
            <p:nvPr/>
          </p:nvSpPr>
          <p:spPr>
            <a:xfrm>
              <a:off x="1152" y="5825"/>
              <a:ext cx="5400" cy="482"/>
            </a:xfrm>
            <a:prstGeom prst="rect">
              <a:avLst/>
            </a:prstGeom>
            <a:solidFill>
              <a:srgbClr val="FAFAF9"/>
            </a:solidFill>
          </p:spPr>
        </p:sp>
        <p:sp>
          <p:nvSpPr>
            <p:cNvPr id="37" name="Text 35"/>
            <p:cNvSpPr/>
            <p:nvPr/>
          </p:nvSpPr>
          <p:spPr>
            <a:xfrm>
              <a:off x="1267" y="5825"/>
              <a:ext cx="2376" cy="482"/>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North-Eastern</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38" name="Text 36"/>
            <p:cNvSpPr/>
            <p:nvPr/>
          </p:nvSpPr>
          <p:spPr>
            <a:xfrm>
              <a:off x="3528" y="5825"/>
              <a:ext cx="1512" cy="482"/>
            </a:xfrm>
            <a:prstGeom prst="rect">
              <a:avLst/>
            </a:prstGeom>
            <a:noFill/>
          </p:spPr>
          <p:txBody>
            <a:bodyPr wrap="square" lIns="0" tIns="0" rIns="0" bIns="0" rtlCol="0" anchor="ctr"/>
            <a:lstStyle/>
            <a:p>
              <a:pPr marL="0" indent="0" algn="ctr">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3.33</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39" name="Shape 37"/>
            <p:cNvSpPr/>
            <p:nvPr/>
          </p:nvSpPr>
          <p:spPr>
            <a:xfrm>
              <a:off x="5040" y="5825"/>
              <a:ext cx="1512" cy="482"/>
            </a:xfrm>
            <a:prstGeom prst="rect">
              <a:avLst/>
            </a:prstGeom>
            <a:solidFill>
              <a:srgbClr val="C9D3EA"/>
            </a:solidFill>
          </p:spPr>
        </p:sp>
        <p:sp>
          <p:nvSpPr>
            <p:cNvPr id="40" name="Text 38"/>
            <p:cNvSpPr/>
            <p:nvPr/>
          </p:nvSpPr>
          <p:spPr>
            <a:xfrm>
              <a:off x="5040" y="5825"/>
              <a:ext cx="1512" cy="482"/>
            </a:xfrm>
            <a:prstGeom prst="rect">
              <a:avLst/>
            </a:prstGeom>
            <a:noFill/>
          </p:spPr>
          <p:txBody>
            <a:bodyPr wrap="square" lIns="0" tIns="0" rIns="0" bIns="0" rtlCol="0" anchor="ctr"/>
            <a:lstStyle/>
            <a:p>
              <a:pPr marL="0" indent="0" algn="ctr">
                <a:buNone/>
              </a:pPr>
              <a:r>
                <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0.73</a:t>
              </a:r>
              <a:endPar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41" name="Shape 39"/>
          <p:cNvSpPr/>
          <p:nvPr/>
        </p:nvSpPr>
        <p:spPr>
          <a:xfrm>
            <a:off x="4617720" y="1417320"/>
            <a:ext cx="3439516" cy="1106424"/>
          </a:xfrm>
          <a:prstGeom prst="roundRect">
            <a:avLst>
              <a:gd name="adj" fmla="val 4959"/>
            </a:avLst>
          </a:prstGeom>
          <a:solidFill>
            <a:srgbClr val="F4F4F2"/>
          </a:solidFill>
          <a:ln w="12700">
            <a:solidFill>
              <a:srgbClr val="E1E1DD"/>
            </a:solidFill>
            <a:prstDash val="solid"/>
          </a:ln>
        </p:spPr>
      </p:sp>
      <p:sp>
        <p:nvSpPr>
          <p:cNvPr id="42" name="Text 40"/>
          <p:cNvSpPr/>
          <p:nvPr/>
        </p:nvSpPr>
        <p:spPr>
          <a:xfrm>
            <a:off x="4764024" y="1490472"/>
            <a:ext cx="3146908" cy="182880"/>
          </a:xfrm>
          <a:prstGeom prst="rect">
            <a:avLst/>
          </a:prstGeom>
          <a:noFill/>
        </p:spPr>
        <p:txBody>
          <a:bodyPr wrap="square" lIns="0" tIns="0" rIns="0" bIns="0" rtlCol="0" anchor="ctr"/>
          <a:lstStyle/>
          <a:p>
            <a:pPr marL="0" indent="0">
              <a:buNone/>
            </a:pPr>
            <a:r>
              <a:rPr lang="en-US" sz="1000" b="1" dirty="0">
                <a:solidFill>
                  <a:srgbClr val="16233F"/>
                </a:solidFill>
                <a:latin typeface="Calibri" panose="020F0502020204030204" pitchFamily="34" charset="0"/>
                <a:ea typeface="Calibri" panose="020F0502020204030204" pitchFamily="34" charset="-122"/>
                <a:cs typeface="Calibri" panose="020F0502020204030204" pitchFamily="34" charset="-120"/>
              </a:rPr>
              <a:t>Western</a:t>
            </a:r>
            <a:endParaRPr lang="en-US" sz="1000" dirty="0"/>
          </a:p>
        </p:txBody>
      </p:sp>
      <p:sp>
        <p:nvSpPr>
          <p:cNvPr id="43" name="Text 41"/>
          <p:cNvSpPr/>
          <p:nvPr/>
        </p:nvSpPr>
        <p:spPr>
          <a:xfrm>
            <a:off x="4764024" y="1691640"/>
            <a:ext cx="128016" cy="252984"/>
          </a:xfrm>
          <a:prstGeom prst="rect">
            <a:avLst/>
          </a:prstGeom>
          <a:noFill/>
        </p:spPr>
        <p:txBody>
          <a:bodyPr wrap="square" lIns="0" tIns="0" rIns="0" bIns="0" rtlCol="0" anchor="ctr"/>
          <a:lstStyle/>
          <a:p>
            <a:pPr marL="0" indent="0">
              <a:buNone/>
            </a:pPr>
            <a:r>
              <a:rPr lang="en-US" sz="8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44" name="Text 42"/>
          <p:cNvSpPr/>
          <p:nvPr/>
        </p:nvSpPr>
        <p:spPr>
          <a:xfrm>
            <a:off x="4892040" y="1722120"/>
            <a:ext cx="3018892" cy="252984"/>
          </a:xfrm>
          <a:prstGeom prst="rect">
            <a:avLst/>
          </a:prstGeom>
          <a:noFill/>
        </p:spPr>
        <p:txBody>
          <a:bodyPr wrap="square" lIns="0" tIns="0" rIns="0" bIns="0" rtlCol="0" anchor="t"/>
          <a:lstStyle/>
          <a:p>
            <a:pPr marL="0" indent="0">
              <a:lnSpc>
                <a:spcPct val="100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Highest average financial inclusion.</a:t>
            </a:r>
            <a:endPar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45" name="Text 43"/>
          <p:cNvSpPr/>
          <p:nvPr/>
        </p:nvSpPr>
        <p:spPr>
          <a:xfrm>
            <a:off x="4764024" y="1944624"/>
            <a:ext cx="128016" cy="252984"/>
          </a:xfrm>
          <a:prstGeom prst="rect">
            <a:avLst/>
          </a:prstGeom>
          <a:noFill/>
        </p:spPr>
        <p:txBody>
          <a:bodyPr wrap="square" lIns="0" tIns="0" rIns="0" bIns="0" rtlCol="0" anchor="ctr"/>
          <a:lstStyle/>
          <a:p>
            <a:pPr marL="0" indent="0">
              <a:buNone/>
            </a:pPr>
            <a:r>
              <a:rPr lang="en-US" sz="8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46" name="Text 44"/>
          <p:cNvSpPr/>
          <p:nvPr/>
        </p:nvSpPr>
        <p:spPr>
          <a:xfrm>
            <a:off x="4892040" y="1975104"/>
            <a:ext cx="3018892" cy="252984"/>
          </a:xfrm>
          <a:prstGeom prst="rect">
            <a:avLst/>
          </a:prstGeom>
          <a:noFill/>
        </p:spPr>
        <p:txBody>
          <a:bodyPr wrap="square" lIns="0" tIns="0" rIns="0" bIns="0" rtlCol="0" anchor="t"/>
          <a:lstStyle/>
          <a:p>
            <a:pPr marL="0" indent="0">
              <a:lnSpc>
                <a:spcPct val="100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Highest internal dispersion (SD = 4.46).</a:t>
            </a:r>
            <a:endPar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47" name="Text 45"/>
          <p:cNvSpPr/>
          <p:nvPr/>
        </p:nvSpPr>
        <p:spPr>
          <a:xfrm>
            <a:off x="4764024" y="2197608"/>
            <a:ext cx="128016" cy="252984"/>
          </a:xfrm>
          <a:prstGeom prst="rect">
            <a:avLst/>
          </a:prstGeom>
          <a:noFill/>
        </p:spPr>
        <p:txBody>
          <a:bodyPr wrap="square" lIns="0" tIns="0" rIns="0" bIns="0" rtlCol="0" anchor="ctr"/>
          <a:lstStyle/>
          <a:p>
            <a:pPr marL="0" indent="0">
              <a:buNone/>
            </a:pPr>
            <a:r>
              <a:rPr lang="en-US" sz="8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48" name="Text 46"/>
          <p:cNvSpPr/>
          <p:nvPr/>
        </p:nvSpPr>
        <p:spPr>
          <a:xfrm>
            <a:off x="4892040" y="2228215"/>
            <a:ext cx="2999740" cy="252730"/>
          </a:xfrm>
          <a:prstGeom prst="rect">
            <a:avLst/>
          </a:prstGeom>
          <a:noFill/>
        </p:spPr>
        <p:txBody>
          <a:bodyPr wrap="square" lIns="0" tIns="0" rIns="0" bIns="0" rtlCol="0" anchor="t"/>
          <a:lstStyle/>
          <a:p>
            <a:pPr marL="0" indent="0">
              <a:lnSpc>
                <a:spcPct val="100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Goa outperformed Gujarat and Maharashtra.</a:t>
            </a:r>
            <a:endPar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49" name="Shape 47"/>
          <p:cNvSpPr/>
          <p:nvPr/>
        </p:nvSpPr>
        <p:spPr>
          <a:xfrm>
            <a:off x="8203540" y="1417320"/>
            <a:ext cx="3439516" cy="1106424"/>
          </a:xfrm>
          <a:prstGeom prst="roundRect">
            <a:avLst>
              <a:gd name="adj" fmla="val 4959"/>
            </a:avLst>
          </a:prstGeom>
          <a:solidFill>
            <a:srgbClr val="F4F4F2"/>
          </a:solidFill>
          <a:ln w="12700">
            <a:solidFill>
              <a:srgbClr val="E1E1DD"/>
            </a:solidFill>
            <a:prstDash val="solid"/>
          </a:ln>
        </p:spPr>
      </p:sp>
      <p:sp>
        <p:nvSpPr>
          <p:cNvPr id="50" name="Text 48"/>
          <p:cNvSpPr/>
          <p:nvPr/>
        </p:nvSpPr>
        <p:spPr>
          <a:xfrm>
            <a:off x="8349844" y="1490472"/>
            <a:ext cx="3146908" cy="182880"/>
          </a:xfrm>
          <a:prstGeom prst="rect">
            <a:avLst/>
          </a:prstGeom>
          <a:noFill/>
        </p:spPr>
        <p:txBody>
          <a:bodyPr wrap="square" lIns="0" tIns="0" rIns="0" bIns="0" rtlCol="0" anchor="ctr"/>
          <a:lstStyle/>
          <a:p>
            <a:pPr marL="0" indent="0">
              <a:buNone/>
            </a:pPr>
            <a:r>
              <a:rPr lang="en-US" sz="1000" b="1" dirty="0">
                <a:solidFill>
                  <a:srgbClr val="16233F"/>
                </a:solidFill>
                <a:latin typeface="Calibri" panose="020F0502020204030204" pitchFamily="34" charset="0"/>
                <a:ea typeface="Calibri" panose="020F0502020204030204" pitchFamily="34" charset="-122"/>
                <a:cs typeface="Calibri" panose="020F0502020204030204" pitchFamily="34" charset="-120"/>
              </a:rPr>
              <a:t>Southern</a:t>
            </a:r>
            <a:endParaRPr lang="en-US" sz="1000" dirty="0"/>
          </a:p>
        </p:txBody>
      </p:sp>
      <p:sp>
        <p:nvSpPr>
          <p:cNvPr id="51" name="Text 49"/>
          <p:cNvSpPr/>
          <p:nvPr/>
        </p:nvSpPr>
        <p:spPr>
          <a:xfrm>
            <a:off x="8349844" y="1691640"/>
            <a:ext cx="128016" cy="379476"/>
          </a:xfrm>
          <a:prstGeom prst="rect">
            <a:avLst/>
          </a:prstGeom>
          <a:noFill/>
        </p:spPr>
        <p:txBody>
          <a:bodyPr wrap="square" lIns="0" tIns="0" rIns="0" bIns="0" rtlCol="0" anchor="ctr"/>
          <a:lstStyle/>
          <a:p>
            <a:pPr marL="0" indent="0">
              <a:buNone/>
            </a:pPr>
            <a:r>
              <a:rPr lang="en-US" sz="8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52" name="Text 50"/>
          <p:cNvSpPr/>
          <p:nvPr/>
        </p:nvSpPr>
        <p:spPr>
          <a:xfrm>
            <a:off x="8477860" y="1780540"/>
            <a:ext cx="3018892" cy="379476"/>
          </a:xfrm>
          <a:prstGeom prst="rect">
            <a:avLst/>
          </a:prstGeom>
          <a:noFill/>
        </p:spPr>
        <p:txBody>
          <a:bodyPr wrap="square" lIns="0" tIns="0" rIns="0" bIns="0" rtlCol="0" anchor="t"/>
          <a:lstStyle/>
          <a:p>
            <a:pPr marL="0" indent="0">
              <a:lnSpc>
                <a:spcPct val="100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High financial inclusion with the lowest dispersion (SD = 0.63).</a:t>
            </a:r>
            <a:endPar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53" name="Text 51"/>
          <p:cNvSpPr/>
          <p:nvPr/>
        </p:nvSpPr>
        <p:spPr>
          <a:xfrm>
            <a:off x="8349844" y="2071116"/>
            <a:ext cx="128016" cy="379476"/>
          </a:xfrm>
          <a:prstGeom prst="rect">
            <a:avLst/>
          </a:prstGeom>
          <a:noFill/>
        </p:spPr>
        <p:txBody>
          <a:bodyPr wrap="square" lIns="0" tIns="0" rIns="0" bIns="0" rtlCol="0" anchor="ctr"/>
          <a:lstStyle/>
          <a:p>
            <a:pPr marL="0" indent="0">
              <a:buNone/>
            </a:pPr>
            <a:r>
              <a:rPr lang="en-US" sz="8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54" name="Text 52"/>
          <p:cNvSpPr/>
          <p:nvPr/>
        </p:nvSpPr>
        <p:spPr>
          <a:xfrm>
            <a:off x="8477885" y="2160270"/>
            <a:ext cx="3018790" cy="212090"/>
          </a:xfrm>
          <a:prstGeom prst="rect">
            <a:avLst/>
          </a:prstGeom>
          <a:noFill/>
        </p:spPr>
        <p:txBody>
          <a:bodyPr wrap="square" lIns="0" tIns="0" rIns="0" bIns="0" rtlCol="0" anchor="t"/>
          <a:lstStyle/>
          <a:p>
            <a:pPr marL="0" indent="0">
              <a:lnSpc>
                <a:spcPct val="100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Most balanced regional development.</a:t>
            </a:r>
            <a:endPar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55" name="Shape 53"/>
          <p:cNvSpPr/>
          <p:nvPr/>
        </p:nvSpPr>
        <p:spPr>
          <a:xfrm>
            <a:off x="4617720" y="2670048"/>
            <a:ext cx="3439516" cy="1106424"/>
          </a:xfrm>
          <a:prstGeom prst="roundRect">
            <a:avLst>
              <a:gd name="adj" fmla="val 4959"/>
            </a:avLst>
          </a:prstGeom>
          <a:solidFill>
            <a:srgbClr val="F4F4F2"/>
          </a:solidFill>
          <a:ln w="12700">
            <a:solidFill>
              <a:srgbClr val="E1E1DD"/>
            </a:solidFill>
            <a:prstDash val="solid"/>
          </a:ln>
        </p:spPr>
      </p:sp>
      <p:sp>
        <p:nvSpPr>
          <p:cNvPr id="56" name="Text 54"/>
          <p:cNvSpPr/>
          <p:nvPr/>
        </p:nvSpPr>
        <p:spPr>
          <a:xfrm>
            <a:off x="4764024" y="2743200"/>
            <a:ext cx="3146908" cy="182880"/>
          </a:xfrm>
          <a:prstGeom prst="rect">
            <a:avLst/>
          </a:prstGeom>
          <a:noFill/>
        </p:spPr>
        <p:txBody>
          <a:bodyPr wrap="square" lIns="0" tIns="0" rIns="0" bIns="0" rtlCol="0" anchor="ctr"/>
          <a:lstStyle/>
          <a:p>
            <a:pPr marL="0" indent="0">
              <a:buNone/>
            </a:pPr>
            <a:r>
              <a:rPr lang="en-US" sz="1000" b="1" dirty="0">
                <a:solidFill>
                  <a:srgbClr val="3E5175"/>
                </a:solidFill>
                <a:latin typeface="Calibri" panose="020F0502020204030204" pitchFamily="34" charset="0"/>
                <a:ea typeface="Calibri" panose="020F0502020204030204" pitchFamily="34" charset="-122"/>
                <a:cs typeface="Calibri" panose="020F0502020204030204" pitchFamily="34" charset="-120"/>
              </a:rPr>
              <a:t>Northern</a:t>
            </a:r>
            <a:endParaRPr lang="en-US" sz="1000" dirty="0"/>
          </a:p>
        </p:txBody>
      </p:sp>
      <p:sp>
        <p:nvSpPr>
          <p:cNvPr id="57" name="Text 55"/>
          <p:cNvSpPr/>
          <p:nvPr/>
        </p:nvSpPr>
        <p:spPr>
          <a:xfrm>
            <a:off x="4764024" y="2944368"/>
            <a:ext cx="128016" cy="379476"/>
          </a:xfrm>
          <a:prstGeom prst="rect">
            <a:avLst/>
          </a:prstGeom>
          <a:noFill/>
        </p:spPr>
        <p:txBody>
          <a:bodyPr wrap="square" lIns="0" tIns="0" rIns="0" bIns="0" rtlCol="0" anchor="ctr"/>
          <a:lstStyle/>
          <a:p>
            <a:pPr marL="0" indent="0">
              <a:buNone/>
            </a:pPr>
            <a:r>
              <a:rPr lang="en-US" sz="8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59" name="Text 57"/>
          <p:cNvSpPr/>
          <p:nvPr/>
        </p:nvSpPr>
        <p:spPr>
          <a:xfrm>
            <a:off x="4764024" y="3323844"/>
            <a:ext cx="128016" cy="379476"/>
          </a:xfrm>
          <a:prstGeom prst="rect">
            <a:avLst/>
          </a:prstGeom>
          <a:noFill/>
        </p:spPr>
        <p:txBody>
          <a:bodyPr wrap="square" lIns="0" tIns="0" rIns="0" bIns="0" rtlCol="0" anchor="ctr"/>
          <a:lstStyle/>
          <a:p>
            <a:pPr marL="0" indent="0">
              <a:buNone/>
            </a:pPr>
            <a:r>
              <a:rPr lang="en-US" sz="8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grpSp>
        <p:nvGrpSpPr>
          <p:cNvPr id="93" name="Group 92"/>
          <p:cNvGrpSpPr/>
          <p:nvPr/>
        </p:nvGrpSpPr>
        <p:grpSpPr>
          <a:xfrm>
            <a:off x="4892040" y="3060065"/>
            <a:ext cx="3018790" cy="716280"/>
            <a:chOff x="7704" y="4637"/>
            <a:chExt cx="4754" cy="1195"/>
          </a:xfrm>
        </p:grpSpPr>
        <p:sp>
          <p:nvSpPr>
            <p:cNvPr id="58" name="Text 56"/>
            <p:cNvSpPr/>
            <p:nvPr/>
          </p:nvSpPr>
          <p:spPr>
            <a:xfrm>
              <a:off x="7704" y="4637"/>
              <a:ext cx="4754" cy="598"/>
            </a:xfrm>
            <a:prstGeom prst="rect">
              <a:avLst/>
            </a:prstGeom>
            <a:noFill/>
          </p:spPr>
          <p:txBody>
            <a:bodyPr wrap="square" lIns="0" tIns="0" rIns="0" bIns="0" rtlCol="0" anchor="t"/>
            <a:lstStyle/>
            <a:p>
              <a:pPr marL="0" indent="0">
                <a:lnSpc>
                  <a:spcPct val="100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Strong regional performance with moderate dispersion.</a:t>
              </a:r>
              <a:endPar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60" name="Text 58"/>
            <p:cNvSpPr/>
            <p:nvPr/>
          </p:nvSpPr>
          <p:spPr>
            <a:xfrm>
              <a:off x="7704" y="5234"/>
              <a:ext cx="4754" cy="598"/>
            </a:xfrm>
            <a:prstGeom prst="rect">
              <a:avLst/>
            </a:prstGeom>
            <a:noFill/>
          </p:spPr>
          <p:txBody>
            <a:bodyPr wrap="square" lIns="0" tIns="0" rIns="0" bIns="0" rtlCol="0" anchor="t"/>
            <a:lstStyle/>
            <a:p>
              <a:pPr marL="0" indent="0">
                <a:lnSpc>
                  <a:spcPct val="100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Haryana emerged as the regional leader.</a:t>
              </a:r>
              <a:endPar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61" name="Shape 59"/>
          <p:cNvSpPr/>
          <p:nvPr/>
        </p:nvSpPr>
        <p:spPr>
          <a:xfrm>
            <a:off x="8203540" y="2670048"/>
            <a:ext cx="3439516" cy="1106424"/>
          </a:xfrm>
          <a:prstGeom prst="roundRect">
            <a:avLst>
              <a:gd name="adj" fmla="val 4959"/>
            </a:avLst>
          </a:prstGeom>
          <a:solidFill>
            <a:srgbClr val="F4F4F2"/>
          </a:solidFill>
          <a:ln w="12700">
            <a:solidFill>
              <a:srgbClr val="E1E1DD"/>
            </a:solidFill>
            <a:prstDash val="solid"/>
          </a:ln>
        </p:spPr>
      </p:sp>
      <p:sp>
        <p:nvSpPr>
          <p:cNvPr id="62" name="Text 60"/>
          <p:cNvSpPr/>
          <p:nvPr/>
        </p:nvSpPr>
        <p:spPr>
          <a:xfrm>
            <a:off x="8349844" y="2743200"/>
            <a:ext cx="3146908" cy="182880"/>
          </a:xfrm>
          <a:prstGeom prst="rect">
            <a:avLst/>
          </a:prstGeom>
          <a:noFill/>
        </p:spPr>
        <p:txBody>
          <a:bodyPr wrap="square" lIns="0" tIns="0" rIns="0" bIns="0" rtlCol="0" anchor="ctr"/>
          <a:lstStyle/>
          <a:p>
            <a:pPr marL="0" indent="0">
              <a:buNone/>
            </a:pPr>
            <a:r>
              <a:rPr lang="en-US" sz="1000" b="1" dirty="0">
                <a:solidFill>
                  <a:srgbClr val="3E5175"/>
                </a:solidFill>
                <a:latin typeface="Calibri" panose="020F0502020204030204" pitchFamily="34" charset="0"/>
                <a:ea typeface="Calibri" panose="020F0502020204030204" pitchFamily="34" charset="-122"/>
                <a:cs typeface="Calibri" panose="020F0502020204030204" pitchFamily="34" charset="-120"/>
              </a:rPr>
              <a:t>Central</a:t>
            </a:r>
            <a:endParaRPr lang="en-US" sz="1000" dirty="0"/>
          </a:p>
        </p:txBody>
      </p:sp>
      <p:sp>
        <p:nvSpPr>
          <p:cNvPr id="63" name="Text 61"/>
          <p:cNvSpPr/>
          <p:nvPr/>
        </p:nvSpPr>
        <p:spPr>
          <a:xfrm>
            <a:off x="8349844" y="2897378"/>
            <a:ext cx="128016" cy="379476"/>
          </a:xfrm>
          <a:prstGeom prst="rect">
            <a:avLst/>
          </a:prstGeom>
          <a:noFill/>
        </p:spPr>
        <p:txBody>
          <a:bodyPr wrap="square" lIns="0" tIns="0" rIns="0" bIns="0" rtlCol="0" anchor="ctr"/>
          <a:lstStyle/>
          <a:p>
            <a:pPr marL="0" indent="0">
              <a:buNone/>
            </a:pPr>
            <a:r>
              <a:rPr lang="en-US" sz="8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64" name="Text 62"/>
          <p:cNvSpPr/>
          <p:nvPr/>
        </p:nvSpPr>
        <p:spPr>
          <a:xfrm>
            <a:off x="8477860" y="2978658"/>
            <a:ext cx="3018892" cy="379476"/>
          </a:xfrm>
          <a:prstGeom prst="rect">
            <a:avLst/>
          </a:prstGeom>
          <a:noFill/>
        </p:spPr>
        <p:txBody>
          <a:bodyPr wrap="square" lIns="0" tIns="0" rIns="0" bIns="0" rtlCol="0" anchor="t"/>
          <a:lstStyle/>
          <a:p>
            <a:pPr marL="0" indent="0">
              <a:lnSpc>
                <a:spcPct val="100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Moderate financial inclusion but relatively high dispersion.</a:t>
            </a:r>
            <a:endPar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65" name="Text 63"/>
          <p:cNvSpPr/>
          <p:nvPr/>
        </p:nvSpPr>
        <p:spPr>
          <a:xfrm>
            <a:off x="8349844" y="3239389"/>
            <a:ext cx="128016" cy="379476"/>
          </a:xfrm>
          <a:prstGeom prst="rect">
            <a:avLst/>
          </a:prstGeom>
          <a:noFill/>
        </p:spPr>
        <p:txBody>
          <a:bodyPr wrap="square" lIns="0" tIns="0" rIns="0" bIns="0" rtlCol="0" anchor="ctr"/>
          <a:lstStyle/>
          <a:p>
            <a:pPr marL="0" indent="0">
              <a:buNone/>
            </a:pPr>
            <a:r>
              <a:rPr lang="en-US" sz="8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66" name="Text 64"/>
          <p:cNvSpPr/>
          <p:nvPr/>
        </p:nvSpPr>
        <p:spPr>
          <a:xfrm>
            <a:off x="8477885" y="3358515"/>
            <a:ext cx="3018790" cy="309880"/>
          </a:xfrm>
          <a:prstGeom prst="rect">
            <a:avLst/>
          </a:prstGeom>
          <a:noFill/>
        </p:spPr>
        <p:txBody>
          <a:bodyPr wrap="square" lIns="0" tIns="0" rIns="0" bIns="0" rtlCol="0" anchor="t"/>
          <a:lstStyle/>
          <a:p>
            <a:pPr marL="0" indent="0">
              <a:lnSpc>
                <a:spcPct val="100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Uttarakhand increasingly outpaced neighbouring states.</a:t>
            </a:r>
            <a:endPar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67" name="Shape 65"/>
          <p:cNvSpPr/>
          <p:nvPr/>
        </p:nvSpPr>
        <p:spPr>
          <a:xfrm>
            <a:off x="4617720" y="3922776"/>
            <a:ext cx="3439516" cy="1106424"/>
          </a:xfrm>
          <a:prstGeom prst="roundRect">
            <a:avLst>
              <a:gd name="adj" fmla="val 4959"/>
            </a:avLst>
          </a:prstGeom>
          <a:solidFill>
            <a:srgbClr val="F4F4F2"/>
          </a:solidFill>
          <a:ln w="12700">
            <a:solidFill>
              <a:srgbClr val="E1E1DD"/>
            </a:solidFill>
            <a:prstDash val="solid"/>
          </a:ln>
        </p:spPr>
      </p:sp>
      <p:sp>
        <p:nvSpPr>
          <p:cNvPr id="68" name="Text 66"/>
          <p:cNvSpPr/>
          <p:nvPr/>
        </p:nvSpPr>
        <p:spPr>
          <a:xfrm>
            <a:off x="4764024" y="3995928"/>
            <a:ext cx="3146908" cy="182880"/>
          </a:xfrm>
          <a:prstGeom prst="rect">
            <a:avLst/>
          </a:prstGeom>
          <a:noFill/>
        </p:spPr>
        <p:txBody>
          <a:bodyPr wrap="square" lIns="0" tIns="0" rIns="0" bIns="0" rtlCol="0" anchor="ctr"/>
          <a:lstStyle/>
          <a:p>
            <a:pPr marL="0" indent="0">
              <a:buNone/>
            </a:pPr>
            <a:r>
              <a:rPr lang="en-US" sz="1000" b="1" dirty="0">
                <a:solidFill>
                  <a:srgbClr val="3E5175"/>
                </a:solidFill>
                <a:latin typeface="Calibri" panose="020F0502020204030204" pitchFamily="34" charset="0"/>
                <a:ea typeface="Calibri" panose="020F0502020204030204" pitchFamily="34" charset="-122"/>
                <a:cs typeface="Calibri" panose="020F0502020204030204" pitchFamily="34" charset="-120"/>
              </a:rPr>
              <a:t>Eastern</a:t>
            </a:r>
            <a:endParaRPr lang="en-US" sz="1000" dirty="0"/>
          </a:p>
        </p:txBody>
      </p:sp>
      <p:sp>
        <p:nvSpPr>
          <p:cNvPr id="69" name="Text 67"/>
          <p:cNvSpPr/>
          <p:nvPr/>
        </p:nvSpPr>
        <p:spPr>
          <a:xfrm>
            <a:off x="4764024" y="4197096"/>
            <a:ext cx="128016" cy="379476"/>
          </a:xfrm>
          <a:prstGeom prst="rect">
            <a:avLst/>
          </a:prstGeom>
          <a:noFill/>
        </p:spPr>
        <p:txBody>
          <a:bodyPr wrap="square" lIns="0" tIns="0" rIns="0" bIns="0" rtlCol="0" anchor="ctr"/>
          <a:lstStyle/>
          <a:p>
            <a:pPr marL="0" indent="0">
              <a:buNone/>
            </a:pPr>
            <a:r>
              <a:rPr lang="en-US" sz="8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70" name="Text 68"/>
          <p:cNvSpPr/>
          <p:nvPr/>
        </p:nvSpPr>
        <p:spPr>
          <a:xfrm>
            <a:off x="4892040" y="4295140"/>
            <a:ext cx="3018790" cy="204470"/>
          </a:xfrm>
          <a:prstGeom prst="rect">
            <a:avLst/>
          </a:prstGeom>
          <a:noFill/>
        </p:spPr>
        <p:txBody>
          <a:bodyPr wrap="square" lIns="0" tIns="0" rIns="0" bIns="0" rtlCol="0" anchor="t"/>
          <a:lstStyle/>
          <a:p>
            <a:pPr marL="0" indent="0">
              <a:lnSpc>
                <a:spcPct val="100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Moderate regional performance.</a:t>
            </a:r>
            <a:endPar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71" name="Text 69"/>
          <p:cNvSpPr/>
          <p:nvPr/>
        </p:nvSpPr>
        <p:spPr>
          <a:xfrm>
            <a:off x="4764024" y="4499737"/>
            <a:ext cx="128016" cy="379476"/>
          </a:xfrm>
          <a:prstGeom prst="rect">
            <a:avLst/>
          </a:prstGeom>
          <a:noFill/>
        </p:spPr>
        <p:txBody>
          <a:bodyPr wrap="square" lIns="0" tIns="0" rIns="0" bIns="0" rtlCol="0" anchor="ctr"/>
          <a:lstStyle/>
          <a:p>
            <a:pPr marL="0" indent="0">
              <a:buNone/>
            </a:pPr>
            <a:r>
              <a:rPr lang="en-US" sz="8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72" name="Text 70"/>
          <p:cNvSpPr/>
          <p:nvPr/>
        </p:nvSpPr>
        <p:spPr>
          <a:xfrm>
            <a:off x="4892040" y="4605147"/>
            <a:ext cx="3018892" cy="379476"/>
          </a:xfrm>
          <a:prstGeom prst="rect">
            <a:avLst/>
          </a:prstGeom>
          <a:noFill/>
        </p:spPr>
        <p:txBody>
          <a:bodyPr wrap="square" lIns="0" tIns="0" rIns="0" bIns="0" rtlCol="0" anchor="t"/>
          <a:lstStyle/>
          <a:p>
            <a:pPr marL="0" indent="0">
              <a:lnSpc>
                <a:spcPct val="100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Sikkim remained ahead of the remaining Eastern states.</a:t>
            </a:r>
            <a:endPar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73" name="Shape 71"/>
          <p:cNvSpPr/>
          <p:nvPr/>
        </p:nvSpPr>
        <p:spPr>
          <a:xfrm>
            <a:off x="8203540" y="3922776"/>
            <a:ext cx="3439516" cy="1106424"/>
          </a:xfrm>
          <a:prstGeom prst="roundRect">
            <a:avLst>
              <a:gd name="adj" fmla="val 4959"/>
            </a:avLst>
          </a:prstGeom>
          <a:solidFill>
            <a:srgbClr val="F4F4F2"/>
          </a:solidFill>
          <a:ln w="12700">
            <a:solidFill>
              <a:srgbClr val="E1E1DD"/>
            </a:solidFill>
            <a:prstDash val="solid"/>
          </a:ln>
        </p:spPr>
      </p:sp>
      <p:sp>
        <p:nvSpPr>
          <p:cNvPr id="74" name="Text 72"/>
          <p:cNvSpPr/>
          <p:nvPr/>
        </p:nvSpPr>
        <p:spPr>
          <a:xfrm>
            <a:off x="8349844" y="3995928"/>
            <a:ext cx="3146908" cy="182880"/>
          </a:xfrm>
          <a:prstGeom prst="rect">
            <a:avLst/>
          </a:prstGeom>
          <a:noFill/>
        </p:spPr>
        <p:txBody>
          <a:bodyPr wrap="square" lIns="0" tIns="0" rIns="0" bIns="0" rtlCol="0" anchor="ctr"/>
          <a:lstStyle/>
          <a:p>
            <a:pPr marL="0" indent="0">
              <a:buNone/>
            </a:pPr>
            <a:r>
              <a:rPr lang="en-US" sz="1000" b="1" dirty="0">
                <a:solidFill>
                  <a:srgbClr val="8D97AC"/>
                </a:solidFill>
                <a:latin typeface="Calibri" panose="020F0502020204030204" pitchFamily="34" charset="0"/>
                <a:ea typeface="Calibri" panose="020F0502020204030204" pitchFamily="34" charset="-122"/>
                <a:cs typeface="Calibri" panose="020F0502020204030204" pitchFamily="34" charset="-120"/>
              </a:rPr>
              <a:t>North-Eastern</a:t>
            </a:r>
            <a:endParaRPr lang="en-US" sz="1000" dirty="0"/>
          </a:p>
        </p:txBody>
      </p:sp>
      <p:sp>
        <p:nvSpPr>
          <p:cNvPr id="75" name="Text 73"/>
          <p:cNvSpPr/>
          <p:nvPr/>
        </p:nvSpPr>
        <p:spPr>
          <a:xfrm>
            <a:off x="8349844" y="4197096"/>
            <a:ext cx="128016" cy="379476"/>
          </a:xfrm>
          <a:prstGeom prst="rect">
            <a:avLst/>
          </a:prstGeom>
          <a:noFill/>
        </p:spPr>
        <p:txBody>
          <a:bodyPr wrap="square" lIns="0" tIns="0" rIns="0" bIns="0" rtlCol="0" anchor="ctr"/>
          <a:lstStyle/>
          <a:p>
            <a:pPr marL="0" indent="0">
              <a:buNone/>
            </a:pPr>
            <a:r>
              <a:rPr lang="en-US" sz="8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76" name="Text 74"/>
          <p:cNvSpPr/>
          <p:nvPr/>
        </p:nvSpPr>
        <p:spPr>
          <a:xfrm>
            <a:off x="8477885" y="4295140"/>
            <a:ext cx="3018790" cy="240030"/>
          </a:xfrm>
          <a:prstGeom prst="rect">
            <a:avLst/>
          </a:prstGeom>
          <a:noFill/>
        </p:spPr>
        <p:txBody>
          <a:bodyPr wrap="square" lIns="0" tIns="0" rIns="0" bIns="0" rtlCol="0" anchor="t"/>
          <a:lstStyle/>
          <a:p>
            <a:pPr marL="0" indent="0">
              <a:lnSpc>
                <a:spcPct val="100000"/>
              </a:lnSpc>
              <a:buNone/>
            </a:pP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Lowest regional average.</a:t>
            </a:r>
            <a:endPar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77" name="Text 75"/>
          <p:cNvSpPr/>
          <p:nvPr/>
        </p:nvSpPr>
        <p:spPr>
          <a:xfrm>
            <a:off x="8349844" y="4503547"/>
            <a:ext cx="128016" cy="379476"/>
          </a:xfrm>
          <a:prstGeom prst="rect">
            <a:avLst/>
          </a:prstGeom>
          <a:noFill/>
        </p:spPr>
        <p:txBody>
          <a:bodyPr wrap="square" lIns="0" tIns="0" rIns="0" bIns="0" rtlCol="0" anchor="ctr"/>
          <a:lstStyle/>
          <a:p>
            <a:pPr marL="0" indent="0">
              <a:buNone/>
            </a:pPr>
            <a:r>
              <a:rPr lang="en-US" sz="8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78" name="Text 76"/>
          <p:cNvSpPr/>
          <p:nvPr/>
        </p:nvSpPr>
        <p:spPr>
          <a:xfrm>
            <a:off x="8477885" y="4605020"/>
            <a:ext cx="3165475" cy="379730"/>
          </a:xfrm>
          <a:prstGeom prst="rect">
            <a:avLst/>
          </a:prstGeom>
          <a:noFill/>
        </p:spPr>
        <p:txBody>
          <a:bodyPr wrap="square" lIns="0" tIns="0" rIns="0" bIns="0" rtlCol="0" anchor="t"/>
          <a:lstStyle/>
          <a:p>
            <a:pPr marL="0" indent="0">
              <a:lnSpc>
                <a:spcPct val="100000"/>
              </a:lnSpc>
              <a:buNone/>
            </a:pPr>
            <a:r>
              <a:rPr lang="en-US" alt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Most states remained relatively close in performance, leading to relatively low internal dispersion</a:t>
            </a:r>
            <a:endParaRPr lang="en-US" alt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79" name="Shape 77"/>
          <p:cNvSpPr/>
          <p:nvPr/>
        </p:nvSpPr>
        <p:spPr>
          <a:xfrm>
            <a:off x="548640" y="5166360"/>
            <a:ext cx="11094720" cy="1333500"/>
          </a:xfrm>
          <a:prstGeom prst="roundRect">
            <a:avLst>
              <a:gd name="adj" fmla="val 8182"/>
            </a:avLst>
          </a:prstGeom>
          <a:solidFill>
            <a:srgbClr val="16233F"/>
          </a:solidFill>
        </p:spPr>
      </p:sp>
      <p:sp>
        <p:nvSpPr>
          <p:cNvPr id="80" name="Text 78"/>
          <p:cNvSpPr/>
          <p:nvPr/>
        </p:nvSpPr>
        <p:spPr>
          <a:xfrm>
            <a:off x="768096" y="5248656"/>
            <a:ext cx="10655503" cy="146304"/>
          </a:xfrm>
          <a:prstGeom prst="rect">
            <a:avLst/>
          </a:prstGeom>
          <a:noFill/>
        </p:spPr>
        <p:txBody>
          <a:bodyPr wrap="square" lIns="0" tIns="0" rIns="0" bIns="0" rtlCol="0" anchor="ctr"/>
          <a:lstStyle/>
          <a:p>
            <a:pPr marL="0" indent="0">
              <a:buNone/>
            </a:pPr>
            <a:r>
              <a:rPr lang="en-US" sz="14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WHAT THE ANALYSIS REVEALS</a:t>
            </a:r>
            <a:endParaRPr lang="en-US" sz="14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95" name="Group 94"/>
          <p:cNvGrpSpPr/>
          <p:nvPr/>
        </p:nvGrpSpPr>
        <p:grpSpPr>
          <a:xfrm>
            <a:off x="731520" y="5586730"/>
            <a:ext cx="10654665" cy="653415"/>
            <a:chOff x="1210" y="8568"/>
            <a:chExt cx="16779" cy="1029"/>
          </a:xfrm>
        </p:grpSpPr>
        <p:sp>
          <p:nvSpPr>
            <p:cNvPr id="81" name="Text 79"/>
            <p:cNvSpPr/>
            <p:nvPr/>
          </p:nvSpPr>
          <p:spPr>
            <a:xfrm>
              <a:off x="1210" y="8568"/>
              <a:ext cx="202" cy="230"/>
            </a:xfrm>
            <a:prstGeom prst="rect">
              <a:avLst/>
            </a:prstGeom>
            <a:noFill/>
          </p:spPr>
          <p:txBody>
            <a:bodyPr wrap="square" lIns="0" tIns="0" rIns="0" bIns="0" rtlCol="0" anchor="ctr"/>
            <a:lstStyle/>
            <a:p>
              <a:pPr marL="0" indent="0">
                <a:buNone/>
              </a:pPr>
              <a:r>
                <a:rPr lang="en-US" sz="1300" b="1" dirty="0">
                  <a:solidFill>
                    <a:srgbClr val="9FB1D6"/>
                  </a:solidFill>
                  <a:latin typeface="Calibri" panose="020F0502020204030204" pitchFamily="34" charset="0"/>
                  <a:ea typeface="Calibri" panose="020F0502020204030204" pitchFamily="34" charset="-122"/>
                  <a:cs typeface="Calibri" panose="020F0502020204030204" pitchFamily="34" charset="-120"/>
                </a:rPr>
                <a:t>•</a:t>
              </a:r>
              <a:endParaRPr lang="en-US" sz="1300" b="1" dirty="0">
                <a:solidFill>
                  <a:srgbClr val="9FB1D6"/>
                </a:solidFill>
                <a:latin typeface="Calibri" panose="020F0502020204030204" pitchFamily="34" charset="0"/>
                <a:ea typeface="Calibri" panose="020F0502020204030204" pitchFamily="34" charset="-122"/>
                <a:cs typeface="Calibri" panose="020F0502020204030204" pitchFamily="34" charset="-120"/>
              </a:endParaRPr>
            </a:p>
          </p:txBody>
        </p:sp>
        <p:sp>
          <p:nvSpPr>
            <p:cNvPr id="83" name="Text 81"/>
            <p:cNvSpPr/>
            <p:nvPr/>
          </p:nvSpPr>
          <p:spPr>
            <a:xfrm>
              <a:off x="1210" y="8834"/>
              <a:ext cx="202" cy="230"/>
            </a:xfrm>
            <a:prstGeom prst="rect">
              <a:avLst/>
            </a:prstGeom>
            <a:noFill/>
          </p:spPr>
          <p:txBody>
            <a:bodyPr wrap="square" lIns="0" tIns="0" rIns="0" bIns="0" rtlCol="0" anchor="ctr"/>
            <a:lstStyle/>
            <a:p>
              <a:pPr marL="0" indent="0">
                <a:buNone/>
              </a:pPr>
              <a:r>
                <a:rPr lang="en-US" sz="1300" b="1" dirty="0">
                  <a:solidFill>
                    <a:srgbClr val="9FB1D6"/>
                  </a:solidFill>
                  <a:latin typeface="Calibri" panose="020F0502020204030204" pitchFamily="34" charset="0"/>
                  <a:ea typeface="Calibri" panose="020F0502020204030204" pitchFamily="34" charset="-122"/>
                  <a:cs typeface="Calibri" panose="020F0502020204030204" pitchFamily="34" charset="-120"/>
                </a:rPr>
                <a:t>•</a:t>
              </a:r>
              <a:endParaRPr lang="en-US" sz="1300" b="1" dirty="0">
                <a:solidFill>
                  <a:srgbClr val="9FB1D6"/>
                </a:solidFill>
                <a:latin typeface="Calibri" panose="020F0502020204030204" pitchFamily="34" charset="0"/>
                <a:ea typeface="Calibri" panose="020F0502020204030204" pitchFamily="34" charset="-122"/>
                <a:cs typeface="Calibri" panose="020F0502020204030204" pitchFamily="34" charset="-120"/>
              </a:endParaRPr>
            </a:p>
          </p:txBody>
        </p:sp>
        <p:sp>
          <p:nvSpPr>
            <p:cNvPr id="85" name="Text 83"/>
            <p:cNvSpPr/>
            <p:nvPr/>
          </p:nvSpPr>
          <p:spPr>
            <a:xfrm>
              <a:off x="1210" y="9101"/>
              <a:ext cx="202" cy="230"/>
            </a:xfrm>
            <a:prstGeom prst="rect">
              <a:avLst/>
            </a:prstGeom>
            <a:noFill/>
          </p:spPr>
          <p:txBody>
            <a:bodyPr wrap="square" lIns="0" tIns="0" rIns="0" bIns="0" rtlCol="0" anchor="ctr"/>
            <a:lstStyle/>
            <a:p>
              <a:pPr marL="0" indent="0">
                <a:buNone/>
              </a:pPr>
              <a:r>
                <a:rPr lang="en-US" sz="1300" b="1" dirty="0">
                  <a:solidFill>
                    <a:srgbClr val="9FB1D6"/>
                  </a:solidFill>
                  <a:latin typeface="Calibri" panose="020F0502020204030204" pitchFamily="34" charset="0"/>
                  <a:ea typeface="Calibri" panose="020F0502020204030204" pitchFamily="34" charset="-122"/>
                  <a:cs typeface="Calibri" panose="020F0502020204030204" pitchFamily="34" charset="-120"/>
                </a:rPr>
                <a:t>•</a:t>
              </a:r>
              <a:endParaRPr lang="en-US" sz="1300" b="1" dirty="0">
                <a:solidFill>
                  <a:srgbClr val="9FB1D6"/>
                </a:solidFill>
                <a:latin typeface="Calibri" panose="020F0502020204030204" pitchFamily="34" charset="0"/>
                <a:ea typeface="Calibri" panose="020F0502020204030204" pitchFamily="34" charset="-122"/>
                <a:cs typeface="Calibri" panose="020F0502020204030204" pitchFamily="34" charset="-120"/>
              </a:endParaRPr>
            </a:p>
          </p:txBody>
        </p:sp>
        <p:sp>
          <p:nvSpPr>
            <p:cNvPr id="87" name="Text 85"/>
            <p:cNvSpPr/>
            <p:nvPr/>
          </p:nvSpPr>
          <p:spPr>
            <a:xfrm>
              <a:off x="1210" y="9367"/>
              <a:ext cx="202" cy="230"/>
            </a:xfrm>
            <a:prstGeom prst="rect">
              <a:avLst/>
            </a:prstGeom>
            <a:noFill/>
          </p:spPr>
          <p:txBody>
            <a:bodyPr wrap="square" lIns="0" tIns="0" rIns="0" bIns="0" rtlCol="0" anchor="ctr"/>
            <a:lstStyle/>
            <a:p>
              <a:pPr marL="0" indent="0">
                <a:buNone/>
              </a:pPr>
              <a:r>
                <a:rPr lang="en-US" sz="1300" b="1" dirty="0">
                  <a:solidFill>
                    <a:srgbClr val="9FB1D6"/>
                  </a:solidFill>
                  <a:latin typeface="Calibri" panose="020F0502020204030204" pitchFamily="34" charset="0"/>
                  <a:ea typeface="Calibri" panose="020F0502020204030204" pitchFamily="34" charset="-122"/>
                  <a:cs typeface="Calibri" panose="020F0502020204030204" pitchFamily="34" charset="-120"/>
                </a:rPr>
                <a:t>•</a:t>
              </a:r>
              <a:endParaRPr lang="en-US" sz="1300" b="1" dirty="0">
                <a:solidFill>
                  <a:srgbClr val="9FB1D6"/>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94" name="Group 93"/>
            <p:cNvGrpSpPr/>
            <p:nvPr/>
          </p:nvGrpSpPr>
          <p:grpSpPr>
            <a:xfrm>
              <a:off x="1469" y="8568"/>
              <a:ext cx="16520" cy="1029"/>
              <a:chOff x="1469" y="8568"/>
              <a:chExt cx="16520" cy="1029"/>
            </a:xfrm>
          </p:grpSpPr>
          <p:sp>
            <p:nvSpPr>
              <p:cNvPr id="82" name="Text 80"/>
              <p:cNvSpPr/>
              <p:nvPr/>
            </p:nvSpPr>
            <p:spPr>
              <a:xfrm>
                <a:off x="1469" y="8568"/>
                <a:ext cx="16521" cy="230"/>
              </a:xfrm>
              <a:prstGeom prst="rect">
                <a:avLst/>
              </a:prstGeom>
              <a:noFill/>
            </p:spPr>
            <p:txBody>
              <a:bodyPr wrap="square" lIns="0" tIns="0" rIns="0" bIns="0" rtlCol="0" anchor="ctr"/>
              <a:lstStyle/>
              <a:p>
                <a:pPr marL="0" indent="0">
                  <a:buNone/>
                </a:pPr>
                <a:r>
                  <a:rPr lang="en-US" sz="1300" dirty="0">
                    <a:solidFill>
                      <a:srgbClr val="E4E8F0"/>
                    </a:solidFill>
                    <a:latin typeface="Calibri" panose="020F0502020204030204" pitchFamily="34" charset="0"/>
                    <a:ea typeface="Calibri" panose="020F0502020204030204" pitchFamily="34" charset="-122"/>
                    <a:cs typeface="Calibri" panose="020F0502020204030204" pitchFamily="34" charset="-120"/>
                  </a:rPr>
                  <a:t>Regional averages conceal substantial heterogeneity among constituent states.</a:t>
                </a:r>
                <a:endParaRPr lang="en-US" sz="1300" dirty="0">
                  <a:solidFill>
                    <a:srgbClr val="E4E8F0"/>
                  </a:solidFill>
                  <a:latin typeface="Calibri" panose="020F0502020204030204" pitchFamily="34" charset="0"/>
                  <a:ea typeface="Calibri" panose="020F0502020204030204" pitchFamily="34" charset="-122"/>
                  <a:cs typeface="Calibri" panose="020F0502020204030204" pitchFamily="34" charset="-120"/>
                </a:endParaRPr>
              </a:p>
            </p:txBody>
          </p:sp>
          <p:sp>
            <p:nvSpPr>
              <p:cNvPr id="84" name="Text 82"/>
              <p:cNvSpPr/>
              <p:nvPr/>
            </p:nvSpPr>
            <p:spPr>
              <a:xfrm>
                <a:off x="1469" y="8834"/>
                <a:ext cx="16521" cy="230"/>
              </a:xfrm>
              <a:prstGeom prst="rect">
                <a:avLst/>
              </a:prstGeom>
              <a:noFill/>
            </p:spPr>
            <p:txBody>
              <a:bodyPr wrap="square" lIns="0" tIns="0" rIns="0" bIns="0" rtlCol="0" anchor="ctr"/>
              <a:lstStyle/>
              <a:p>
                <a:pPr marL="0" indent="0">
                  <a:buNone/>
                </a:pPr>
                <a:r>
                  <a:rPr lang="en-US" sz="1300" dirty="0">
                    <a:solidFill>
                      <a:srgbClr val="E4E8F0"/>
                    </a:solidFill>
                    <a:latin typeface="Calibri" panose="020F0502020204030204" pitchFamily="34" charset="0"/>
                    <a:ea typeface="Calibri" panose="020F0502020204030204" pitchFamily="34" charset="-122"/>
                    <a:cs typeface="Calibri" panose="020F0502020204030204" pitchFamily="34" charset="-120"/>
                  </a:rPr>
                  <a:t>High regional financial inclusion does not necessarily imply balanced regional development.</a:t>
                </a:r>
                <a:endParaRPr lang="en-US" sz="1300" dirty="0">
                  <a:solidFill>
                    <a:srgbClr val="E4E8F0"/>
                  </a:solidFill>
                  <a:latin typeface="Calibri" panose="020F0502020204030204" pitchFamily="34" charset="0"/>
                  <a:ea typeface="Calibri" panose="020F0502020204030204" pitchFamily="34" charset="-122"/>
                  <a:cs typeface="Calibri" panose="020F0502020204030204" pitchFamily="34" charset="-120"/>
                </a:endParaRPr>
              </a:p>
            </p:txBody>
          </p:sp>
          <p:sp>
            <p:nvSpPr>
              <p:cNvPr id="86" name="Text 84"/>
              <p:cNvSpPr/>
              <p:nvPr/>
            </p:nvSpPr>
            <p:spPr>
              <a:xfrm>
                <a:off x="1469" y="9101"/>
                <a:ext cx="16521" cy="230"/>
              </a:xfrm>
              <a:prstGeom prst="rect">
                <a:avLst/>
              </a:prstGeom>
              <a:noFill/>
            </p:spPr>
            <p:txBody>
              <a:bodyPr wrap="square" lIns="0" tIns="0" rIns="0" bIns="0" rtlCol="0" anchor="ctr"/>
              <a:lstStyle/>
              <a:p>
                <a:pPr marL="0" indent="0">
                  <a:buNone/>
                </a:pPr>
                <a:r>
                  <a:rPr lang="en-US" sz="1300" dirty="0">
                    <a:solidFill>
                      <a:srgbClr val="E4E8F0"/>
                    </a:solidFill>
                    <a:latin typeface="Calibri" panose="020F0502020204030204" pitchFamily="34" charset="0"/>
                    <a:ea typeface="Calibri" panose="020F0502020204030204" pitchFamily="34" charset="-122"/>
                    <a:cs typeface="Calibri" panose="020F0502020204030204" pitchFamily="34" charset="-120"/>
                  </a:rPr>
                  <a:t>Southern India combines strong financial inclusion with the most balanced state-level performance.</a:t>
                </a:r>
                <a:endParaRPr lang="en-US" sz="1300" dirty="0">
                  <a:solidFill>
                    <a:srgbClr val="E4E8F0"/>
                  </a:solidFill>
                  <a:latin typeface="Calibri" panose="020F0502020204030204" pitchFamily="34" charset="0"/>
                  <a:ea typeface="Calibri" panose="020F0502020204030204" pitchFamily="34" charset="-122"/>
                  <a:cs typeface="Calibri" panose="020F0502020204030204" pitchFamily="34" charset="-120"/>
                </a:endParaRPr>
              </a:p>
            </p:txBody>
          </p:sp>
          <p:sp>
            <p:nvSpPr>
              <p:cNvPr id="88" name="Text 86"/>
              <p:cNvSpPr/>
              <p:nvPr/>
            </p:nvSpPr>
            <p:spPr>
              <a:xfrm>
                <a:off x="1469" y="9367"/>
                <a:ext cx="16521" cy="230"/>
              </a:xfrm>
              <a:prstGeom prst="rect">
                <a:avLst/>
              </a:prstGeom>
              <a:noFill/>
            </p:spPr>
            <p:txBody>
              <a:bodyPr wrap="square" lIns="0" tIns="0" rIns="0" bIns="0" rtlCol="0" anchor="ctr"/>
              <a:lstStyle/>
              <a:p>
                <a:pPr marL="0" indent="0">
                  <a:buNone/>
                </a:pPr>
                <a:r>
                  <a:rPr lang="en-US" sz="1300" dirty="0">
                    <a:solidFill>
                      <a:srgbClr val="E4E8F0"/>
                    </a:solidFill>
                    <a:latin typeface="Calibri" panose="020F0502020204030204" pitchFamily="34" charset="0"/>
                    <a:ea typeface="Calibri" panose="020F0502020204030204" pitchFamily="34" charset="-122"/>
                    <a:cs typeface="Calibri" panose="020F0502020204030204" pitchFamily="34" charset="-120"/>
                  </a:rPr>
                  <a:t>Internal regional disparities are driven primarily by exceptional state performance.</a:t>
                </a:r>
                <a:endParaRPr lang="en-US" sz="1300" dirty="0">
                  <a:solidFill>
                    <a:srgbClr val="E4E8F0"/>
                  </a:solidFill>
                  <a:latin typeface="Calibri" panose="020F0502020204030204" pitchFamily="34" charset="0"/>
                  <a:ea typeface="Calibri" panose="020F0502020204030204" pitchFamily="34" charset="-122"/>
                  <a:cs typeface="Calibri" panose="020F0502020204030204" pitchFamily="34" charset="-120"/>
                </a:endParaRPr>
              </a:p>
            </p:txBody>
          </p:sp>
        </p:grpSp>
      </p:grpSp>
      <p:sp>
        <p:nvSpPr>
          <p:cNvPr id="89" name="Text 87"/>
          <p:cNvSpPr/>
          <p:nvPr/>
        </p:nvSpPr>
        <p:spPr>
          <a:xfrm>
            <a:off x="548640" y="6620256"/>
            <a:ext cx="6675120" cy="164592"/>
          </a:xfrm>
          <a:prstGeom prst="rect">
            <a:avLst/>
          </a:prstGeom>
          <a:noFill/>
        </p:spPr>
        <p:txBody>
          <a:bodyPr wrap="square" lIns="0" tIns="0" rIns="0" bIns="0" rtlCol="0" anchor="ctr"/>
          <a:lstStyle/>
          <a:p>
            <a:pPr marL="0" indent="0">
              <a:buNone/>
            </a:pPr>
            <a:r>
              <a:rPr lang="en-US" sz="80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548640" y="274320"/>
            <a:ext cx="8229600" cy="219456"/>
          </a:xfrm>
          <a:prstGeom prst="rect">
            <a:avLst/>
          </a:prstGeom>
          <a:noFill/>
        </p:spPr>
        <p:txBody>
          <a:bodyPr wrap="square" lIns="0" tIns="0" rIns="0" bIns="0" rtlCol="0" anchor="ctr"/>
          <a:lstStyle/>
          <a:p>
            <a:pPr marL="0" indent="0">
              <a:buNone/>
            </a:pPr>
            <a:r>
              <a:rPr lang="en-US" sz="105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10  ·  REGIONAL ANALYSIS</a:t>
            </a:r>
            <a:endParaRPr lang="en-US" sz="1050" dirty="0"/>
          </a:p>
        </p:txBody>
      </p:sp>
      <p:sp>
        <p:nvSpPr>
          <p:cNvPr id="3" name="Shape 1"/>
          <p:cNvSpPr/>
          <p:nvPr/>
        </p:nvSpPr>
        <p:spPr>
          <a:xfrm>
            <a:off x="548640" y="512064"/>
            <a:ext cx="502920" cy="0"/>
          </a:xfrm>
          <a:prstGeom prst="line">
            <a:avLst/>
          </a:prstGeom>
          <a:noFill/>
          <a:ln w="28575">
            <a:solidFill>
              <a:srgbClr val="16233F"/>
            </a:solidFill>
            <a:prstDash val="solid"/>
          </a:ln>
        </p:spPr>
      </p:sp>
      <p:sp>
        <p:nvSpPr>
          <p:cNvPr id="4" name="Text 2"/>
          <p:cNvSpPr/>
          <p:nvPr/>
        </p:nvSpPr>
        <p:spPr>
          <a:xfrm>
            <a:off x="548640" y="548640"/>
            <a:ext cx="11094415" cy="530352"/>
          </a:xfrm>
          <a:prstGeom prst="rect">
            <a:avLst/>
          </a:prstGeom>
          <a:noFill/>
        </p:spPr>
        <p:txBody>
          <a:bodyPr wrap="square" lIns="0" tIns="0" rIns="0" bIns="0" rtlCol="0" anchor="t"/>
          <a:lstStyle/>
          <a:p>
            <a:pPr marL="0" indent="0">
              <a:lnSpc>
                <a:spcPct val="108000"/>
              </a:lnSpc>
              <a:buNone/>
            </a:pPr>
            <a:r>
              <a:rPr lang="en-US" sz="1900" b="1" dirty="0">
                <a:solidFill>
                  <a:srgbClr val="16233F"/>
                </a:solidFill>
                <a:latin typeface="Cambria" panose="02040503050406030204" pitchFamily="34" charset="0"/>
                <a:ea typeface="Cambria" panose="02040503050406030204" pitchFamily="34" charset="-122"/>
                <a:cs typeface="Cambria" panose="02040503050406030204" pitchFamily="34" charset="-120"/>
              </a:rPr>
              <a:t>State-Level Trajectories Explain Regional Differences in Financial Inclusion</a:t>
            </a:r>
            <a:endParaRPr lang="en-US" sz="1900" dirty="0"/>
          </a:p>
        </p:txBody>
      </p:sp>
      <p:sp>
        <p:nvSpPr>
          <p:cNvPr id="5" name="Text 3"/>
          <p:cNvSpPr/>
          <p:nvPr/>
        </p:nvSpPr>
        <p:spPr>
          <a:xfrm>
            <a:off x="530225" y="877570"/>
            <a:ext cx="11094415" cy="201168"/>
          </a:xfrm>
          <a:prstGeom prst="rect">
            <a:avLst/>
          </a:prstGeom>
          <a:noFill/>
        </p:spPr>
        <p:txBody>
          <a:bodyPr wrap="square" lIns="0" tIns="0" rIns="0" bIns="0" rtlCol="0" anchor="ctr"/>
          <a:lstStyle/>
          <a:p>
            <a:pPr marL="0" indent="0">
              <a:buNone/>
            </a:pPr>
            <a:r>
              <a:rPr lang="en-US" sz="1030" i="1" dirty="0">
                <a:solidFill>
                  <a:srgbClr val="5B6472"/>
                </a:solidFill>
                <a:latin typeface="Calibri" panose="020F0502020204030204" pitchFamily="34" charset="0"/>
                <a:ea typeface="Calibri" panose="020F0502020204030204" pitchFamily="34" charset="-122"/>
                <a:cs typeface="Calibri" panose="020F0502020204030204" pitchFamily="34" charset="-120"/>
              </a:rPr>
              <a:t>Financial Inclusion Index trends of states within each region (2016–17 to 2024–25)</a:t>
            </a:r>
            <a:endParaRPr lang="en-US" sz="1030" dirty="0"/>
          </a:p>
        </p:txBody>
      </p:sp>
      <p:sp>
        <p:nvSpPr>
          <p:cNvPr id="38" name="Shape 36"/>
          <p:cNvSpPr/>
          <p:nvPr/>
        </p:nvSpPr>
        <p:spPr>
          <a:xfrm>
            <a:off x="548640" y="5925185"/>
            <a:ext cx="11095355" cy="694690"/>
          </a:xfrm>
          <a:prstGeom prst="roundRect">
            <a:avLst>
              <a:gd name="adj" fmla="val 13846"/>
            </a:avLst>
          </a:prstGeom>
          <a:solidFill>
            <a:srgbClr val="16233F"/>
          </a:solidFill>
        </p:spPr>
      </p:sp>
      <p:sp>
        <p:nvSpPr>
          <p:cNvPr id="39" name="Text 37"/>
          <p:cNvSpPr/>
          <p:nvPr/>
        </p:nvSpPr>
        <p:spPr>
          <a:xfrm>
            <a:off x="768096" y="5998464"/>
            <a:ext cx="10655503" cy="146304"/>
          </a:xfrm>
          <a:prstGeom prst="rect">
            <a:avLst/>
          </a:prstGeom>
          <a:noFill/>
        </p:spPr>
        <p:txBody>
          <a:bodyPr wrap="square" lIns="0" tIns="0" rIns="0" bIns="0" rtlCol="0" anchor="ctr"/>
          <a:lstStyle/>
          <a:p>
            <a:pPr marL="0" indent="0">
              <a:buNone/>
            </a:pPr>
            <a:r>
              <a:rPr lang="en-US" sz="12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WHAT THE STATE TRAJECTORIES REVEAL</a:t>
            </a:r>
            <a:endParaRPr lang="en-US" sz="12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40" name="Text 38"/>
          <p:cNvSpPr/>
          <p:nvPr/>
        </p:nvSpPr>
        <p:spPr>
          <a:xfrm>
            <a:off x="768096" y="6213602"/>
            <a:ext cx="10655503" cy="310896"/>
          </a:xfrm>
          <a:prstGeom prst="rect">
            <a:avLst/>
          </a:prstGeom>
          <a:noFill/>
        </p:spPr>
        <p:txBody>
          <a:bodyPr wrap="square" lIns="0" tIns="0" rIns="0" bIns="0" rtlCol="0" anchor="ctr"/>
          <a:lstStyle/>
          <a:p>
            <a:pPr marL="0" indent="0">
              <a:lnSpc>
                <a:spcPct val="110000"/>
              </a:lnSpc>
              <a:buNone/>
            </a:pPr>
            <a:r>
              <a:rPr lang="en-US" altLang="en-US" sz="1200" dirty="0">
                <a:solidFill>
                  <a:srgbClr val="E4E8F0"/>
                </a:solidFill>
                <a:latin typeface="Calibri" panose="020F0502020204030204" pitchFamily="34" charset="0"/>
                <a:ea typeface="Calibri" panose="020F0502020204030204" pitchFamily="34" charset="-122"/>
                <a:cs typeface="Calibri" panose="020F0502020204030204" pitchFamily="34" charset="-120"/>
              </a:rPr>
              <a:t>Regional disparities arise primarily from differences in individual state trajectories rather than uniform regional trends. Regions with low dispersion exhibit parallel growth paths, whereas high-dispersion regions are characterised by one or two states pulling markedly ahead of their neighbours.</a:t>
            </a:r>
            <a:endParaRPr lang="en-US" altLang="en-US" sz="1200" dirty="0">
              <a:solidFill>
                <a:srgbClr val="E4E8F0"/>
              </a:solidFill>
              <a:latin typeface="Calibri" panose="020F0502020204030204" pitchFamily="34" charset="0"/>
              <a:ea typeface="Calibri" panose="020F0502020204030204" pitchFamily="34" charset="-122"/>
              <a:cs typeface="Calibri" panose="020F0502020204030204" pitchFamily="34" charset="-120"/>
            </a:endParaRPr>
          </a:p>
        </p:txBody>
      </p:sp>
      <p:sp>
        <p:nvSpPr>
          <p:cNvPr id="41" name="Text 39"/>
          <p:cNvSpPr/>
          <p:nvPr/>
        </p:nvSpPr>
        <p:spPr>
          <a:xfrm>
            <a:off x="548640" y="6620256"/>
            <a:ext cx="6675120" cy="164592"/>
          </a:xfrm>
          <a:prstGeom prst="rect">
            <a:avLst/>
          </a:prstGeom>
          <a:noFill/>
        </p:spPr>
        <p:txBody>
          <a:bodyPr wrap="square" lIns="0" tIns="0" rIns="0" bIns="0" rtlCol="0" anchor="ctr"/>
          <a:lstStyle/>
          <a:p>
            <a:pPr marL="0" indent="0">
              <a:buNone/>
            </a:pPr>
            <a:r>
              <a:rPr lang="en-US" sz="80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800" dirty="0"/>
          </a:p>
        </p:txBody>
      </p:sp>
      <p:grpSp>
        <p:nvGrpSpPr>
          <p:cNvPr id="49" name="Group 48"/>
          <p:cNvGrpSpPr/>
          <p:nvPr/>
        </p:nvGrpSpPr>
        <p:grpSpPr>
          <a:xfrm>
            <a:off x="530860" y="1187450"/>
            <a:ext cx="11112500" cy="4558665"/>
            <a:chOff x="836" y="1870"/>
            <a:chExt cx="17500" cy="6074"/>
          </a:xfrm>
        </p:grpSpPr>
        <p:sp>
          <p:nvSpPr>
            <p:cNvPr id="6" name="Shape 4"/>
            <p:cNvSpPr/>
            <p:nvPr/>
          </p:nvSpPr>
          <p:spPr>
            <a:xfrm>
              <a:off x="864" y="1903"/>
              <a:ext cx="5632" cy="2733"/>
            </a:xfrm>
            <a:prstGeom prst="roundRect">
              <a:avLst>
                <a:gd name="adj" fmla="val 3582"/>
              </a:avLst>
            </a:prstGeom>
            <a:solidFill>
              <a:srgbClr val="FFFFFF"/>
            </a:solidFill>
            <a:ln w="3175">
              <a:solidFill>
                <a:schemeClr val="bg1">
                  <a:lumMod val="85000"/>
                </a:schemeClr>
              </a:solidFill>
              <a:prstDash val="solid"/>
            </a:ln>
          </p:spPr>
        </p:sp>
        <p:sp>
          <p:nvSpPr>
            <p:cNvPr id="7" name="Text 5"/>
            <p:cNvSpPr/>
            <p:nvPr/>
          </p:nvSpPr>
          <p:spPr>
            <a:xfrm>
              <a:off x="864" y="2066"/>
              <a:ext cx="5632" cy="359"/>
            </a:xfrm>
            <a:prstGeom prst="rect">
              <a:avLst/>
            </a:prstGeom>
            <a:noFill/>
          </p:spPr>
          <p:txBody>
            <a:bodyPr wrap="square" lIns="0" tIns="0" rIns="0" bIns="0" rtlCol="0" anchor="ctr"/>
            <a:lstStyle/>
            <a:p>
              <a:pPr marL="0" indent="0" algn="ctr">
                <a:buNone/>
              </a:pPr>
              <a:r>
                <a:rPr lang="en-US" sz="960" b="1" dirty="0">
                  <a:solidFill>
                    <a:srgbClr val="16233F"/>
                  </a:solidFill>
                  <a:latin typeface="Calibri" panose="020F0502020204030204" pitchFamily="34" charset="0"/>
                  <a:ea typeface="Calibri" panose="020F0502020204030204" pitchFamily="34" charset="-122"/>
                  <a:cs typeface="Calibri" panose="020F0502020204030204" pitchFamily="34" charset="-120"/>
                </a:rPr>
                <a:t>Western Region</a:t>
              </a:r>
              <a:endParaRPr lang="en-US" sz="960" dirty="0"/>
            </a:p>
          </p:txBody>
        </p:sp>
        <p:sp>
          <p:nvSpPr>
            <p:cNvPr id="8" name="Text 6"/>
            <p:cNvSpPr/>
            <p:nvPr/>
          </p:nvSpPr>
          <p:spPr>
            <a:xfrm>
              <a:off x="864" y="1903"/>
              <a:ext cx="5632" cy="2733"/>
            </a:xfrm>
            <a:prstGeom prst="rect">
              <a:avLst/>
            </a:prstGeom>
            <a:noFill/>
          </p:spPr>
          <p:txBody>
            <a:bodyPr wrap="square" lIns="0" tIns="0" rIns="0" bIns="0" rtlCol="0" anchor="ctr"/>
            <a:lstStyle/>
            <a:p>
              <a:pPr marL="0" indent="0" algn="ctr">
                <a:buNone/>
              </a:pPr>
              <a:endParaRPr lang="en-US" sz="860" dirty="0"/>
            </a:p>
          </p:txBody>
        </p:sp>
        <p:sp>
          <p:nvSpPr>
            <p:cNvPr id="9" name="Shape 7"/>
            <p:cNvSpPr/>
            <p:nvPr/>
          </p:nvSpPr>
          <p:spPr>
            <a:xfrm>
              <a:off x="6784" y="1903"/>
              <a:ext cx="5632" cy="2733"/>
            </a:xfrm>
            <a:prstGeom prst="roundRect">
              <a:avLst>
                <a:gd name="adj" fmla="val 3582"/>
              </a:avLst>
            </a:prstGeom>
            <a:solidFill>
              <a:srgbClr val="FFFFFF"/>
            </a:solidFill>
            <a:ln w="3175">
              <a:solidFill>
                <a:schemeClr val="bg1">
                  <a:lumMod val="85000"/>
                </a:schemeClr>
              </a:solidFill>
              <a:prstDash val="solid"/>
            </a:ln>
          </p:spPr>
        </p:sp>
        <p:sp>
          <p:nvSpPr>
            <p:cNvPr id="10" name="Text 8"/>
            <p:cNvSpPr/>
            <p:nvPr/>
          </p:nvSpPr>
          <p:spPr>
            <a:xfrm>
              <a:off x="6784" y="2066"/>
              <a:ext cx="5632" cy="359"/>
            </a:xfrm>
            <a:prstGeom prst="rect">
              <a:avLst/>
            </a:prstGeom>
            <a:noFill/>
          </p:spPr>
          <p:txBody>
            <a:bodyPr wrap="square" lIns="0" tIns="0" rIns="0" bIns="0" rtlCol="0" anchor="ctr"/>
            <a:lstStyle/>
            <a:p>
              <a:pPr marL="0" indent="0" algn="ctr">
                <a:buNone/>
              </a:pPr>
              <a:r>
                <a:rPr lang="en-US" sz="960" b="1" dirty="0">
                  <a:solidFill>
                    <a:srgbClr val="16233F"/>
                  </a:solidFill>
                  <a:latin typeface="Calibri" panose="020F0502020204030204" pitchFamily="34" charset="0"/>
                  <a:ea typeface="Calibri" panose="020F0502020204030204" pitchFamily="34" charset="-122"/>
                  <a:cs typeface="Calibri" panose="020F0502020204030204" pitchFamily="34" charset="-120"/>
                </a:rPr>
                <a:t>Southern Region</a:t>
              </a:r>
              <a:endParaRPr lang="en-US" sz="960" dirty="0"/>
            </a:p>
          </p:txBody>
        </p:sp>
        <p:sp>
          <p:nvSpPr>
            <p:cNvPr id="11" name="Text 9"/>
            <p:cNvSpPr/>
            <p:nvPr/>
          </p:nvSpPr>
          <p:spPr>
            <a:xfrm>
              <a:off x="6784" y="1903"/>
              <a:ext cx="5632" cy="2733"/>
            </a:xfrm>
            <a:prstGeom prst="rect">
              <a:avLst/>
            </a:prstGeom>
            <a:noFill/>
          </p:spPr>
          <p:txBody>
            <a:bodyPr wrap="square" lIns="0" tIns="0" rIns="0" bIns="0" rtlCol="0" anchor="ctr"/>
            <a:lstStyle/>
            <a:p>
              <a:pPr marL="0" indent="0" algn="ctr">
                <a:buNone/>
              </a:pPr>
              <a:r>
                <a:rPr lang="en-US" sz="860" i="1" dirty="0">
                  <a:solidFill>
                    <a:srgbClr val="AEB6C4"/>
                  </a:solidFill>
                  <a:latin typeface="Calibri" panose="020F0502020204030204" pitchFamily="34" charset="0"/>
                  <a:ea typeface="Calibri" panose="020F0502020204030204" pitchFamily="34" charset="-122"/>
                  <a:cs typeface="Calibri" panose="020F0502020204030204" pitchFamily="34" charset="-120"/>
                </a:rPr>
                <a:t>Chart to be inserted</a:t>
              </a:r>
              <a:endParaRPr lang="en-US" sz="860" dirty="0"/>
            </a:p>
          </p:txBody>
        </p:sp>
        <p:sp>
          <p:nvSpPr>
            <p:cNvPr id="12" name="Shape 10"/>
            <p:cNvSpPr/>
            <p:nvPr/>
          </p:nvSpPr>
          <p:spPr>
            <a:xfrm>
              <a:off x="12704" y="1903"/>
              <a:ext cx="5632" cy="2733"/>
            </a:xfrm>
            <a:prstGeom prst="roundRect">
              <a:avLst>
                <a:gd name="adj" fmla="val 3582"/>
              </a:avLst>
            </a:prstGeom>
            <a:solidFill>
              <a:srgbClr val="FFFFFF"/>
            </a:solidFill>
            <a:ln w="3175">
              <a:solidFill>
                <a:schemeClr val="bg1">
                  <a:lumMod val="85000"/>
                </a:schemeClr>
              </a:solidFill>
              <a:prstDash val="solid"/>
            </a:ln>
          </p:spPr>
        </p:sp>
        <p:sp>
          <p:nvSpPr>
            <p:cNvPr id="13" name="Text 11"/>
            <p:cNvSpPr/>
            <p:nvPr/>
          </p:nvSpPr>
          <p:spPr>
            <a:xfrm>
              <a:off x="12704" y="2066"/>
              <a:ext cx="5632" cy="359"/>
            </a:xfrm>
            <a:prstGeom prst="rect">
              <a:avLst/>
            </a:prstGeom>
            <a:noFill/>
          </p:spPr>
          <p:txBody>
            <a:bodyPr wrap="square" lIns="0" tIns="0" rIns="0" bIns="0" rtlCol="0" anchor="ctr"/>
            <a:lstStyle/>
            <a:p>
              <a:pPr marL="0" indent="0" algn="ctr">
                <a:buNone/>
              </a:pPr>
              <a:r>
                <a:rPr lang="en-US" sz="960" b="1" dirty="0">
                  <a:solidFill>
                    <a:srgbClr val="16233F"/>
                  </a:solidFill>
                  <a:latin typeface="Calibri" panose="020F0502020204030204" pitchFamily="34" charset="0"/>
                  <a:ea typeface="Calibri" panose="020F0502020204030204" pitchFamily="34" charset="-122"/>
                  <a:cs typeface="Calibri" panose="020F0502020204030204" pitchFamily="34" charset="-120"/>
                </a:rPr>
                <a:t>Northern Region</a:t>
              </a:r>
              <a:endParaRPr lang="en-US" sz="960" dirty="0"/>
            </a:p>
          </p:txBody>
        </p:sp>
        <p:sp>
          <p:nvSpPr>
            <p:cNvPr id="14" name="Text 12"/>
            <p:cNvSpPr/>
            <p:nvPr/>
          </p:nvSpPr>
          <p:spPr>
            <a:xfrm>
              <a:off x="12704" y="1903"/>
              <a:ext cx="5632" cy="2733"/>
            </a:xfrm>
            <a:prstGeom prst="rect">
              <a:avLst/>
            </a:prstGeom>
            <a:noFill/>
          </p:spPr>
          <p:txBody>
            <a:bodyPr wrap="square" lIns="0" tIns="0" rIns="0" bIns="0" rtlCol="0" anchor="ctr"/>
            <a:lstStyle/>
            <a:p>
              <a:pPr marL="0" indent="0" algn="ctr">
                <a:buNone/>
              </a:pPr>
              <a:r>
                <a:rPr lang="en-US" sz="860" i="1" dirty="0">
                  <a:solidFill>
                    <a:srgbClr val="AEB6C4"/>
                  </a:solidFill>
                  <a:latin typeface="Calibri" panose="020F0502020204030204" pitchFamily="34" charset="0"/>
                  <a:ea typeface="Calibri" panose="020F0502020204030204" pitchFamily="34" charset="-122"/>
                  <a:cs typeface="Calibri" panose="020F0502020204030204" pitchFamily="34" charset="-120"/>
                </a:rPr>
                <a:t>Chart to be inserted</a:t>
              </a:r>
              <a:endParaRPr lang="en-US" sz="860" dirty="0"/>
            </a:p>
          </p:txBody>
        </p:sp>
        <p:sp>
          <p:nvSpPr>
            <p:cNvPr id="15" name="Shape 13"/>
            <p:cNvSpPr/>
            <p:nvPr/>
          </p:nvSpPr>
          <p:spPr>
            <a:xfrm>
              <a:off x="864" y="4962"/>
              <a:ext cx="5632" cy="2733"/>
            </a:xfrm>
            <a:prstGeom prst="roundRect">
              <a:avLst>
                <a:gd name="adj" fmla="val 3582"/>
              </a:avLst>
            </a:prstGeom>
            <a:solidFill>
              <a:srgbClr val="FFFFFF"/>
            </a:solidFill>
            <a:ln w="3175">
              <a:solidFill>
                <a:schemeClr val="bg1">
                  <a:lumMod val="85000"/>
                </a:schemeClr>
              </a:solidFill>
              <a:prstDash val="solid"/>
            </a:ln>
          </p:spPr>
        </p:sp>
        <p:sp>
          <p:nvSpPr>
            <p:cNvPr id="16" name="Text 14"/>
            <p:cNvSpPr/>
            <p:nvPr/>
          </p:nvSpPr>
          <p:spPr>
            <a:xfrm>
              <a:off x="864" y="5126"/>
              <a:ext cx="5632" cy="359"/>
            </a:xfrm>
            <a:prstGeom prst="rect">
              <a:avLst/>
            </a:prstGeom>
            <a:noFill/>
          </p:spPr>
          <p:txBody>
            <a:bodyPr wrap="square" lIns="0" tIns="0" rIns="0" bIns="0" rtlCol="0" anchor="ctr"/>
            <a:lstStyle/>
            <a:p>
              <a:pPr marL="0" indent="0" algn="ctr">
                <a:buNone/>
              </a:pPr>
              <a:r>
                <a:rPr lang="en-US" sz="960" b="1" dirty="0">
                  <a:solidFill>
                    <a:srgbClr val="16233F"/>
                  </a:solidFill>
                  <a:latin typeface="Calibri" panose="020F0502020204030204" pitchFamily="34" charset="0"/>
                  <a:ea typeface="Calibri" panose="020F0502020204030204" pitchFamily="34" charset="-122"/>
                  <a:cs typeface="Calibri" panose="020F0502020204030204" pitchFamily="34" charset="-120"/>
                </a:rPr>
                <a:t>Central Region</a:t>
              </a:r>
              <a:endParaRPr lang="en-US" sz="960" dirty="0"/>
            </a:p>
          </p:txBody>
        </p:sp>
        <p:sp>
          <p:nvSpPr>
            <p:cNvPr id="17" name="Text 15"/>
            <p:cNvSpPr/>
            <p:nvPr/>
          </p:nvSpPr>
          <p:spPr>
            <a:xfrm>
              <a:off x="864" y="4962"/>
              <a:ext cx="5632" cy="2733"/>
            </a:xfrm>
            <a:prstGeom prst="rect">
              <a:avLst/>
            </a:prstGeom>
            <a:noFill/>
          </p:spPr>
          <p:txBody>
            <a:bodyPr wrap="square" lIns="0" tIns="0" rIns="0" bIns="0" rtlCol="0" anchor="ctr"/>
            <a:lstStyle/>
            <a:p>
              <a:pPr marL="0" indent="0" algn="ctr">
                <a:buNone/>
              </a:pPr>
              <a:r>
                <a:rPr lang="en-US" sz="860" i="1" dirty="0">
                  <a:solidFill>
                    <a:srgbClr val="AEB6C4"/>
                  </a:solidFill>
                  <a:latin typeface="Calibri" panose="020F0502020204030204" pitchFamily="34" charset="0"/>
                  <a:ea typeface="Calibri" panose="020F0502020204030204" pitchFamily="34" charset="-122"/>
                  <a:cs typeface="Calibri" panose="020F0502020204030204" pitchFamily="34" charset="-120"/>
                </a:rPr>
                <a:t>Chart to be inserted</a:t>
              </a:r>
              <a:endParaRPr lang="en-US" sz="860" dirty="0"/>
            </a:p>
          </p:txBody>
        </p:sp>
        <p:sp>
          <p:nvSpPr>
            <p:cNvPr id="18" name="Shape 16"/>
            <p:cNvSpPr/>
            <p:nvPr/>
          </p:nvSpPr>
          <p:spPr>
            <a:xfrm>
              <a:off x="6784" y="4962"/>
              <a:ext cx="5632" cy="2733"/>
            </a:xfrm>
            <a:prstGeom prst="roundRect">
              <a:avLst>
                <a:gd name="adj" fmla="val 3582"/>
              </a:avLst>
            </a:prstGeom>
            <a:solidFill>
              <a:srgbClr val="FFFFFF"/>
            </a:solidFill>
            <a:ln w="3175">
              <a:solidFill>
                <a:schemeClr val="bg1">
                  <a:lumMod val="85000"/>
                </a:schemeClr>
              </a:solidFill>
              <a:prstDash val="solid"/>
            </a:ln>
          </p:spPr>
        </p:sp>
        <p:sp>
          <p:nvSpPr>
            <p:cNvPr id="19" name="Text 17"/>
            <p:cNvSpPr/>
            <p:nvPr/>
          </p:nvSpPr>
          <p:spPr>
            <a:xfrm>
              <a:off x="6784" y="5126"/>
              <a:ext cx="5632" cy="359"/>
            </a:xfrm>
            <a:prstGeom prst="rect">
              <a:avLst/>
            </a:prstGeom>
            <a:noFill/>
          </p:spPr>
          <p:txBody>
            <a:bodyPr wrap="square" lIns="0" tIns="0" rIns="0" bIns="0" rtlCol="0" anchor="ctr"/>
            <a:lstStyle/>
            <a:p>
              <a:pPr marL="0" indent="0" algn="ctr">
                <a:buNone/>
              </a:pPr>
              <a:r>
                <a:rPr lang="en-US" sz="960" b="1" dirty="0">
                  <a:solidFill>
                    <a:srgbClr val="16233F"/>
                  </a:solidFill>
                  <a:latin typeface="Calibri" panose="020F0502020204030204" pitchFamily="34" charset="0"/>
                  <a:ea typeface="Calibri" panose="020F0502020204030204" pitchFamily="34" charset="-122"/>
                  <a:cs typeface="Calibri" panose="020F0502020204030204" pitchFamily="34" charset="-120"/>
                </a:rPr>
                <a:t>Eastern Region</a:t>
              </a:r>
              <a:endParaRPr lang="en-US" sz="960" dirty="0"/>
            </a:p>
          </p:txBody>
        </p:sp>
        <p:sp>
          <p:nvSpPr>
            <p:cNvPr id="20" name="Text 18"/>
            <p:cNvSpPr/>
            <p:nvPr/>
          </p:nvSpPr>
          <p:spPr>
            <a:xfrm>
              <a:off x="6784" y="4962"/>
              <a:ext cx="5632" cy="2733"/>
            </a:xfrm>
            <a:prstGeom prst="rect">
              <a:avLst/>
            </a:prstGeom>
            <a:noFill/>
          </p:spPr>
          <p:txBody>
            <a:bodyPr wrap="square" lIns="0" tIns="0" rIns="0" bIns="0" rtlCol="0" anchor="ctr"/>
            <a:lstStyle/>
            <a:p>
              <a:pPr marL="0" indent="0" algn="ctr">
                <a:buNone/>
              </a:pPr>
              <a:r>
                <a:rPr lang="en-US" sz="860" i="1" dirty="0">
                  <a:solidFill>
                    <a:srgbClr val="AEB6C4"/>
                  </a:solidFill>
                  <a:latin typeface="Calibri" panose="020F0502020204030204" pitchFamily="34" charset="0"/>
                  <a:ea typeface="Calibri" panose="020F0502020204030204" pitchFamily="34" charset="-122"/>
                  <a:cs typeface="Calibri" panose="020F0502020204030204" pitchFamily="34" charset="-120"/>
                </a:rPr>
                <a:t>Chart to be inserted</a:t>
              </a:r>
              <a:endParaRPr lang="en-US" sz="860" dirty="0"/>
            </a:p>
          </p:txBody>
        </p:sp>
        <p:sp>
          <p:nvSpPr>
            <p:cNvPr id="21" name="Shape 19"/>
            <p:cNvSpPr/>
            <p:nvPr/>
          </p:nvSpPr>
          <p:spPr>
            <a:xfrm>
              <a:off x="12704" y="4962"/>
              <a:ext cx="5632" cy="2733"/>
            </a:xfrm>
            <a:prstGeom prst="roundRect">
              <a:avLst>
                <a:gd name="adj" fmla="val 3582"/>
              </a:avLst>
            </a:prstGeom>
            <a:solidFill>
              <a:srgbClr val="FFFFFF"/>
            </a:solidFill>
            <a:ln w="3175">
              <a:solidFill>
                <a:schemeClr val="bg1">
                  <a:lumMod val="85000"/>
                </a:schemeClr>
              </a:solidFill>
              <a:prstDash val="solid"/>
            </a:ln>
          </p:spPr>
        </p:sp>
        <p:sp>
          <p:nvSpPr>
            <p:cNvPr id="22" name="Text 20"/>
            <p:cNvSpPr/>
            <p:nvPr/>
          </p:nvSpPr>
          <p:spPr>
            <a:xfrm>
              <a:off x="12704" y="5126"/>
              <a:ext cx="5632" cy="359"/>
            </a:xfrm>
            <a:prstGeom prst="rect">
              <a:avLst/>
            </a:prstGeom>
            <a:noFill/>
          </p:spPr>
          <p:txBody>
            <a:bodyPr wrap="square" lIns="0" tIns="0" rIns="0" bIns="0" rtlCol="0" anchor="ctr"/>
            <a:lstStyle/>
            <a:p>
              <a:pPr marL="0" indent="0" algn="ctr">
                <a:buNone/>
              </a:pPr>
              <a:r>
                <a:rPr lang="en-US" sz="960" b="1" dirty="0">
                  <a:solidFill>
                    <a:srgbClr val="16233F"/>
                  </a:solidFill>
                  <a:latin typeface="Calibri" panose="020F0502020204030204" pitchFamily="34" charset="0"/>
                  <a:ea typeface="Calibri" panose="020F0502020204030204" pitchFamily="34" charset="-122"/>
                  <a:cs typeface="Calibri" panose="020F0502020204030204" pitchFamily="34" charset="-120"/>
                </a:rPr>
                <a:t>North-Eastern Region</a:t>
              </a:r>
              <a:endParaRPr lang="en-US" sz="960" dirty="0"/>
            </a:p>
          </p:txBody>
        </p:sp>
        <p:sp>
          <p:nvSpPr>
            <p:cNvPr id="23" name="Text 21"/>
            <p:cNvSpPr/>
            <p:nvPr/>
          </p:nvSpPr>
          <p:spPr>
            <a:xfrm>
              <a:off x="12704" y="4962"/>
              <a:ext cx="5632" cy="2733"/>
            </a:xfrm>
            <a:prstGeom prst="rect">
              <a:avLst/>
            </a:prstGeom>
            <a:noFill/>
          </p:spPr>
          <p:txBody>
            <a:bodyPr wrap="square" lIns="0" tIns="0" rIns="0" bIns="0" rtlCol="0" anchor="ctr"/>
            <a:lstStyle/>
            <a:p>
              <a:pPr marL="0" indent="0" algn="ctr">
                <a:buNone/>
              </a:pPr>
              <a:r>
                <a:rPr lang="en-US" sz="860" i="1" dirty="0">
                  <a:solidFill>
                    <a:srgbClr val="AEB6C4"/>
                  </a:solidFill>
                  <a:latin typeface="Calibri" panose="020F0502020204030204" pitchFamily="34" charset="0"/>
                  <a:ea typeface="Calibri" panose="020F0502020204030204" pitchFamily="34" charset="-122"/>
                  <a:cs typeface="Calibri" panose="020F0502020204030204" pitchFamily="34" charset="-120"/>
                </a:rPr>
                <a:t>Chart to be inserted</a:t>
              </a:r>
              <a:endParaRPr lang="en-US" sz="860" dirty="0"/>
            </a:p>
          </p:txBody>
        </p:sp>
        <p:pic>
          <p:nvPicPr>
            <p:cNvPr id="43" name="Picture 42" descr="final_western"/>
            <p:cNvPicPr>
              <a:picLocks noChangeAspect="1"/>
            </p:cNvPicPr>
            <p:nvPr/>
          </p:nvPicPr>
          <p:blipFill>
            <a:blip r:embed="rId1"/>
            <a:stretch>
              <a:fillRect/>
            </a:stretch>
          </p:blipFill>
          <p:spPr>
            <a:xfrm>
              <a:off x="836" y="1871"/>
              <a:ext cx="5660" cy="2860"/>
            </a:xfrm>
            <a:prstGeom prst="rect">
              <a:avLst/>
            </a:prstGeom>
            <a:ln w="3175">
              <a:solidFill>
                <a:schemeClr val="bg1">
                  <a:lumMod val="85000"/>
                </a:schemeClr>
              </a:solidFill>
              <a:prstDash val="solid"/>
            </a:ln>
          </p:spPr>
        </p:pic>
        <p:pic>
          <p:nvPicPr>
            <p:cNvPr id="44" name="Picture 43" descr="final_southern"/>
            <p:cNvPicPr>
              <a:picLocks noChangeAspect="1"/>
            </p:cNvPicPr>
            <p:nvPr/>
          </p:nvPicPr>
          <p:blipFill>
            <a:blip r:embed="rId2"/>
            <a:stretch>
              <a:fillRect/>
            </a:stretch>
          </p:blipFill>
          <p:spPr>
            <a:xfrm>
              <a:off x="6784" y="1870"/>
              <a:ext cx="5651" cy="2855"/>
            </a:xfrm>
            <a:prstGeom prst="rect">
              <a:avLst/>
            </a:prstGeom>
            <a:ln w="3175">
              <a:solidFill>
                <a:schemeClr val="bg1">
                  <a:lumMod val="85000"/>
                </a:schemeClr>
              </a:solidFill>
              <a:prstDash val="solid"/>
            </a:ln>
          </p:spPr>
        </p:pic>
        <p:pic>
          <p:nvPicPr>
            <p:cNvPr id="45" name="Picture 44" descr="final_northern"/>
            <p:cNvPicPr>
              <a:picLocks noChangeAspect="1"/>
            </p:cNvPicPr>
            <p:nvPr/>
          </p:nvPicPr>
          <p:blipFill>
            <a:blip r:embed="rId3"/>
            <a:stretch>
              <a:fillRect/>
            </a:stretch>
          </p:blipFill>
          <p:spPr>
            <a:xfrm>
              <a:off x="12704" y="1871"/>
              <a:ext cx="5632" cy="2861"/>
            </a:xfrm>
            <a:prstGeom prst="rect">
              <a:avLst/>
            </a:prstGeom>
            <a:ln w="3175">
              <a:solidFill>
                <a:schemeClr val="bg1">
                  <a:lumMod val="85000"/>
                </a:schemeClr>
              </a:solidFill>
              <a:prstDash val="solid"/>
            </a:ln>
          </p:spPr>
        </p:pic>
        <p:pic>
          <p:nvPicPr>
            <p:cNvPr id="46" name="Picture 45" descr="final_central"/>
            <p:cNvPicPr>
              <a:picLocks noChangeAspect="1"/>
            </p:cNvPicPr>
            <p:nvPr/>
          </p:nvPicPr>
          <p:blipFill>
            <a:blip r:embed="rId4"/>
            <a:stretch>
              <a:fillRect/>
            </a:stretch>
          </p:blipFill>
          <p:spPr>
            <a:xfrm>
              <a:off x="836" y="4962"/>
              <a:ext cx="5658" cy="2983"/>
            </a:xfrm>
            <a:prstGeom prst="rect">
              <a:avLst/>
            </a:prstGeom>
            <a:ln w="3175">
              <a:solidFill>
                <a:schemeClr val="bg1">
                  <a:lumMod val="85000"/>
                </a:schemeClr>
              </a:solidFill>
              <a:prstDash val="solid"/>
            </a:ln>
          </p:spPr>
        </p:pic>
        <p:pic>
          <p:nvPicPr>
            <p:cNvPr id="47" name="Picture 46" descr="final_eastern"/>
            <p:cNvPicPr>
              <a:picLocks noChangeAspect="1"/>
            </p:cNvPicPr>
            <p:nvPr/>
          </p:nvPicPr>
          <p:blipFill>
            <a:blip r:embed="rId5"/>
            <a:stretch>
              <a:fillRect/>
            </a:stretch>
          </p:blipFill>
          <p:spPr>
            <a:xfrm>
              <a:off x="6784" y="4962"/>
              <a:ext cx="5632" cy="2983"/>
            </a:xfrm>
            <a:prstGeom prst="rect">
              <a:avLst/>
            </a:prstGeom>
            <a:ln w="3175">
              <a:solidFill>
                <a:schemeClr val="bg1">
                  <a:lumMod val="85000"/>
                </a:schemeClr>
              </a:solidFill>
              <a:prstDash val="solid"/>
            </a:ln>
          </p:spPr>
        </p:pic>
        <p:pic>
          <p:nvPicPr>
            <p:cNvPr id="48" name="Picture 47" descr="final_northeastern"/>
            <p:cNvPicPr>
              <a:picLocks noChangeAspect="1"/>
            </p:cNvPicPr>
            <p:nvPr/>
          </p:nvPicPr>
          <p:blipFill>
            <a:blip r:embed="rId6"/>
            <a:stretch>
              <a:fillRect/>
            </a:stretch>
          </p:blipFill>
          <p:spPr>
            <a:xfrm>
              <a:off x="12704" y="4962"/>
              <a:ext cx="5632" cy="2983"/>
            </a:xfrm>
            <a:prstGeom prst="rect">
              <a:avLst/>
            </a:prstGeom>
            <a:ln w="3175">
              <a:solidFill>
                <a:schemeClr val="bg1">
                  <a:lumMod val="85000"/>
                </a:schemeClr>
              </a:solidFill>
              <a:prstDash val="solid"/>
            </a:ln>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548640" y="384048"/>
            <a:ext cx="7315200" cy="292608"/>
          </a:xfrm>
          <a:prstGeom prst="rect">
            <a:avLst/>
          </a:prstGeom>
          <a:noFill/>
        </p:spPr>
        <p:txBody>
          <a:bodyPr wrap="square" lIns="0" tIns="0" rIns="0" bIns="0" rtlCol="0" anchor="ctr"/>
          <a:lstStyle/>
          <a:p>
            <a:pPr marL="0" indent="0">
              <a:buNone/>
            </a:pPr>
            <a:r>
              <a:rPr lang="en-US" sz="115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11  ·  REGIONAL PATTERNS</a:t>
            </a:r>
            <a:endParaRPr lang="en-US" sz="1150" dirty="0"/>
          </a:p>
        </p:txBody>
      </p:sp>
      <p:sp>
        <p:nvSpPr>
          <p:cNvPr id="3" name="Shape 1"/>
          <p:cNvSpPr/>
          <p:nvPr/>
        </p:nvSpPr>
        <p:spPr>
          <a:xfrm>
            <a:off x="548640" y="786384"/>
            <a:ext cx="502920" cy="0"/>
          </a:xfrm>
          <a:prstGeom prst="line">
            <a:avLst/>
          </a:prstGeom>
          <a:noFill/>
          <a:ln w="28575">
            <a:solidFill>
              <a:srgbClr val="16233F"/>
            </a:solidFill>
            <a:prstDash val="solid"/>
          </a:ln>
        </p:spPr>
      </p:sp>
      <p:sp>
        <p:nvSpPr>
          <p:cNvPr id="4" name="Text 2"/>
          <p:cNvSpPr/>
          <p:nvPr/>
        </p:nvSpPr>
        <p:spPr>
          <a:xfrm>
            <a:off x="548640" y="914400"/>
            <a:ext cx="11094415" cy="502920"/>
          </a:xfrm>
          <a:prstGeom prst="rect">
            <a:avLst/>
          </a:prstGeom>
          <a:noFill/>
        </p:spPr>
        <p:txBody>
          <a:bodyPr wrap="square" lIns="0" tIns="0" rIns="0" bIns="0" rtlCol="0" anchor="ctr"/>
          <a:lstStyle/>
          <a:p>
            <a:pPr marL="0" indent="0">
              <a:lnSpc>
                <a:spcPct val="105000"/>
              </a:lnSpc>
              <a:buNone/>
            </a:pPr>
            <a:r>
              <a:rPr lang="en-US" sz="2600" b="1" dirty="0">
                <a:solidFill>
                  <a:srgbClr val="16233F"/>
                </a:solidFill>
                <a:latin typeface="Cambria" panose="02040503050406030204" pitchFamily="34" charset="0"/>
                <a:ea typeface="Cambria" panose="02040503050406030204" pitchFamily="34" charset="-122"/>
                <a:cs typeface="Cambria" panose="02040503050406030204" pitchFamily="34" charset="-120"/>
              </a:rPr>
              <a:t>Financial Inclusion Clusters in Space, Not by Chance</a:t>
            </a:r>
            <a:endParaRPr lang="en-US" sz="2600" dirty="0"/>
          </a:p>
        </p:txBody>
      </p:sp>
      <p:sp>
        <p:nvSpPr>
          <p:cNvPr id="5" name="Text 3"/>
          <p:cNvSpPr/>
          <p:nvPr/>
        </p:nvSpPr>
        <p:spPr>
          <a:xfrm>
            <a:off x="548640" y="1426464"/>
            <a:ext cx="11094415" cy="274320"/>
          </a:xfrm>
          <a:prstGeom prst="rect">
            <a:avLst/>
          </a:prstGeom>
          <a:noFill/>
        </p:spPr>
        <p:txBody>
          <a:bodyPr wrap="square" lIns="0" tIns="0" rIns="0" bIns="0" rtlCol="0" anchor="ctr"/>
          <a:lstStyle/>
          <a:p>
            <a:pPr marL="0" indent="0">
              <a:buNone/>
            </a:pPr>
            <a:r>
              <a:rPr lang="en-US" sz="1200" i="1" dirty="0">
                <a:solidFill>
                  <a:srgbClr val="5B6472"/>
                </a:solidFill>
                <a:latin typeface="Calibri" panose="020F0502020204030204" pitchFamily="34" charset="0"/>
                <a:ea typeface="Calibri" panose="020F0502020204030204" pitchFamily="34" charset="-122"/>
                <a:cs typeface="Calibri" panose="020F0502020204030204" pitchFamily="34" charset="-120"/>
              </a:rPr>
              <a:t>Neighbouring states consistently show similar levels of financial inclusion </a:t>
            </a:r>
            <a:endParaRPr lang="en-US" sz="1200" dirty="0"/>
          </a:p>
        </p:txBody>
      </p:sp>
      <p:sp>
        <p:nvSpPr>
          <p:cNvPr id="6" name="Text 4"/>
          <p:cNvSpPr/>
          <p:nvPr/>
        </p:nvSpPr>
        <p:spPr>
          <a:xfrm>
            <a:off x="548640" y="1737360"/>
            <a:ext cx="6675120" cy="219456"/>
          </a:xfrm>
          <a:prstGeom prst="rect">
            <a:avLst/>
          </a:prstGeom>
          <a:noFill/>
        </p:spPr>
        <p:txBody>
          <a:bodyPr wrap="square" lIns="0" tIns="0" rIns="0" bIns="0" rtlCol="0" anchor="ctr"/>
          <a:lstStyle/>
          <a:p>
            <a:pPr marL="0" indent="0">
              <a:buNone/>
            </a:pPr>
            <a:r>
              <a:rPr lang="en-US" sz="1050" b="1" kern="0" spc="60" dirty="0">
                <a:solidFill>
                  <a:srgbClr val="16233F"/>
                </a:solidFill>
                <a:latin typeface="Calibri" panose="020F0502020204030204" pitchFamily="34" charset="0"/>
                <a:ea typeface="Calibri" panose="020F0502020204030204" pitchFamily="34" charset="-122"/>
                <a:cs typeface="Calibri" panose="020F0502020204030204" pitchFamily="34" charset="-120"/>
              </a:rPr>
              <a:t>GLOBAL MORAN'S I, 2016–17 TO 2024–25</a:t>
            </a:r>
            <a:endParaRPr lang="en-US" sz="1050" dirty="0"/>
          </a:p>
        </p:txBody>
      </p:sp>
      <p:pic>
        <p:nvPicPr>
          <p:cNvPr id="7" name="Image 0" descr="/home/claude/build/slide9_assets/moran_trend.png"/>
          <p:cNvPicPr>
            <a:picLocks noChangeAspect="1"/>
          </p:cNvPicPr>
          <p:nvPr/>
        </p:nvPicPr>
        <p:blipFill>
          <a:blip r:embed="rId1"/>
          <a:stretch>
            <a:fillRect/>
          </a:stretch>
        </p:blipFill>
        <p:spPr>
          <a:xfrm>
            <a:off x="548640" y="2002790"/>
            <a:ext cx="6684645" cy="3804285"/>
          </a:xfrm>
          <a:prstGeom prst="rect">
            <a:avLst/>
          </a:prstGeom>
        </p:spPr>
      </p:pic>
      <p:sp>
        <p:nvSpPr>
          <p:cNvPr id="8" name="Text 5"/>
          <p:cNvSpPr/>
          <p:nvPr/>
        </p:nvSpPr>
        <p:spPr>
          <a:xfrm>
            <a:off x="548640" y="5846536"/>
            <a:ext cx="6675120" cy="365760"/>
          </a:xfrm>
          <a:prstGeom prst="rect">
            <a:avLst/>
          </a:prstGeom>
          <a:noFill/>
        </p:spPr>
        <p:txBody>
          <a:bodyPr wrap="square" lIns="0" tIns="0" rIns="0" bIns="0" rtlCol="0" anchor="ctr"/>
          <a:lstStyle/>
          <a:p>
            <a:pPr marL="0" indent="0">
              <a:lnSpc>
                <a:spcPct val="120000"/>
              </a:lnSpc>
              <a:buNone/>
            </a:pPr>
            <a:r>
              <a:rPr lang="en-US" sz="1080" i="1" dirty="0">
                <a:solidFill>
                  <a:srgbClr val="5B6472"/>
                </a:solidFill>
                <a:latin typeface="Calibri" panose="020F0502020204030204" pitchFamily="34" charset="0"/>
                <a:ea typeface="Calibri" panose="020F0502020204030204" pitchFamily="34" charset="-122"/>
                <a:cs typeface="Calibri" panose="020F0502020204030204" pitchFamily="34" charset="-120"/>
              </a:rPr>
              <a:t>Positive and statistically significant in every year ( p &lt; 0.001) — far above what random chance would produce.</a:t>
            </a:r>
            <a:endParaRPr lang="en-US" sz="1080" dirty="0"/>
          </a:p>
        </p:txBody>
      </p:sp>
      <p:sp>
        <p:nvSpPr>
          <p:cNvPr id="9" name="Shape 6"/>
          <p:cNvSpPr/>
          <p:nvPr/>
        </p:nvSpPr>
        <p:spPr>
          <a:xfrm>
            <a:off x="7498080" y="1737360"/>
            <a:ext cx="4144975" cy="2514600"/>
          </a:xfrm>
          <a:prstGeom prst="roundRect">
            <a:avLst>
              <a:gd name="adj" fmla="val 3273"/>
            </a:avLst>
          </a:prstGeom>
          <a:solidFill>
            <a:srgbClr val="F4F4F2"/>
          </a:solidFill>
          <a:ln w="12700">
            <a:solidFill>
              <a:srgbClr val="E1E1DD"/>
            </a:solidFill>
            <a:prstDash val="solid"/>
          </a:ln>
        </p:spPr>
      </p:sp>
      <p:sp>
        <p:nvSpPr>
          <p:cNvPr id="10" name="Text 7"/>
          <p:cNvSpPr/>
          <p:nvPr/>
        </p:nvSpPr>
        <p:spPr>
          <a:xfrm>
            <a:off x="7735824" y="1874520"/>
            <a:ext cx="3669487" cy="219456"/>
          </a:xfrm>
          <a:prstGeom prst="rect">
            <a:avLst/>
          </a:prstGeom>
          <a:noFill/>
        </p:spPr>
        <p:txBody>
          <a:bodyPr wrap="square" lIns="0" tIns="0" rIns="0" bIns="0" rtlCol="0" anchor="ctr"/>
          <a:lstStyle/>
          <a:p>
            <a:pPr marL="0" indent="0">
              <a:buNone/>
            </a:pPr>
            <a:r>
              <a:rPr lang="en-US" sz="1100" b="1" kern="0" spc="80" dirty="0">
                <a:solidFill>
                  <a:srgbClr val="16233F"/>
                </a:solidFill>
                <a:latin typeface="Calibri" panose="020F0502020204030204" pitchFamily="34" charset="0"/>
                <a:ea typeface="Calibri" panose="020F0502020204030204" pitchFamily="34" charset="-122"/>
                <a:cs typeface="Calibri" panose="020F0502020204030204" pitchFamily="34" charset="-120"/>
              </a:rPr>
              <a:t>SPATIAL AUTOCORRELATION</a:t>
            </a:r>
            <a:endParaRPr lang="en-US" sz="1100" dirty="0"/>
          </a:p>
        </p:txBody>
      </p:sp>
      <p:sp>
        <p:nvSpPr>
          <p:cNvPr id="11" name="Text 8"/>
          <p:cNvSpPr/>
          <p:nvPr/>
        </p:nvSpPr>
        <p:spPr>
          <a:xfrm>
            <a:off x="7735824" y="2121408"/>
            <a:ext cx="3669487" cy="512064"/>
          </a:xfrm>
          <a:prstGeom prst="rect">
            <a:avLst/>
          </a:prstGeom>
          <a:noFill/>
        </p:spPr>
        <p:txBody>
          <a:bodyPr wrap="square" lIns="0" tIns="0" rIns="0" bIns="0" rtlCol="0" anchor="ctr"/>
          <a:lstStyle/>
          <a:p>
            <a:pPr marL="0" indent="0">
              <a:lnSpc>
                <a:spcPct val="115000"/>
              </a:lnSpc>
              <a:buNone/>
            </a:pPr>
            <a:r>
              <a:rPr lang="en-US" sz="1400" b="1" dirty="0">
                <a:solidFill>
                  <a:srgbClr val="16233F"/>
                </a:solidFill>
                <a:latin typeface="Calibri" panose="020F0502020204030204" pitchFamily="34" charset="0"/>
                <a:ea typeface="Calibri" panose="020F0502020204030204" pitchFamily="34" charset="-122"/>
                <a:cs typeface="Calibri" panose="020F0502020204030204" pitchFamily="34" charset="-120"/>
              </a:rPr>
              <a:t>0.339 → 0.416 → 0.375
</a:t>
            </a:r>
            <a:r>
              <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rPr>
              <a:t>2016–17 → peak (2022–23) → 2024–25, always significant (p &lt; 0.001)</a:t>
            </a:r>
            <a:endParaRPr lang="en-US" sz="1400" dirty="0"/>
          </a:p>
        </p:txBody>
      </p:sp>
      <p:sp>
        <p:nvSpPr>
          <p:cNvPr id="12" name="Shape 9"/>
          <p:cNvSpPr/>
          <p:nvPr/>
        </p:nvSpPr>
        <p:spPr>
          <a:xfrm>
            <a:off x="7735824" y="2697480"/>
            <a:ext cx="3431743" cy="0"/>
          </a:xfrm>
          <a:prstGeom prst="line">
            <a:avLst/>
          </a:prstGeom>
          <a:noFill/>
          <a:ln w="12700">
            <a:solidFill>
              <a:srgbClr val="E1E1DD"/>
            </a:solidFill>
            <a:prstDash val="solid"/>
          </a:ln>
        </p:spPr>
      </p:sp>
      <p:sp>
        <p:nvSpPr>
          <p:cNvPr id="13" name="Text 10"/>
          <p:cNvSpPr/>
          <p:nvPr/>
        </p:nvSpPr>
        <p:spPr>
          <a:xfrm>
            <a:off x="7735824" y="2788920"/>
            <a:ext cx="3669487" cy="219456"/>
          </a:xfrm>
          <a:prstGeom prst="rect">
            <a:avLst/>
          </a:prstGeom>
          <a:noFill/>
        </p:spPr>
        <p:txBody>
          <a:bodyPr wrap="square" lIns="0" tIns="0" rIns="0" bIns="0" rtlCol="0" anchor="ctr"/>
          <a:lstStyle/>
          <a:p>
            <a:pPr marL="0" indent="0">
              <a:buNone/>
            </a:pPr>
            <a:r>
              <a:rPr lang="en-US" sz="1100" b="1" kern="0" spc="80" dirty="0">
                <a:solidFill>
                  <a:srgbClr val="16233F"/>
                </a:solidFill>
                <a:latin typeface="Calibri" panose="020F0502020204030204" pitchFamily="34" charset="0"/>
                <a:ea typeface="Calibri" panose="020F0502020204030204" pitchFamily="34" charset="-122"/>
                <a:cs typeface="Calibri" panose="020F0502020204030204" pitchFamily="34" charset="-120"/>
              </a:rPr>
              <a:t>LOCAL CLUSTERS (LISA), 2024–25</a:t>
            </a:r>
            <a:endParaRPr lang="en-US" sz="1100" dirty="0"/>
          </a:p>
        </p:txBody>
      </p:sp>
      <p:sp>
        <p:nvSpPr>
          <p:cNvPr id="14" name="Shape 11"/>
          <p:cNvSpPr/>
          <p:nvPr/>
        </p:nvSpPr>
        <p:spPr>
          <a:xfrm>
            <a:off x="7735824" y="3081528"/>
            <a:ext cx="128016" cy="128016"/>
          </a:xfrm>
          <a:prstGeom prst="rect">
            <a:avLst/>
          </a:prstGeom>
          <a:solidFill>
            <a:srgbClr val="16233F"/>
          </a:solidFill>
        </p:spPr>
      </p:sp>
      <p:sp>
        <p:nvSpPr>
          <p:cNvPr id="15" name="Text 12"/>
          <p:cNvSpPr/>
          <p:nvPr/>
        </p:nvSpPr>
        <p:spPr>
          <a:xfrm>
            <a:off x="7936992" y="3008376"/>
            <a:ext cx="3468319" cy="274320"/>
          </a:xfrm>
          <a:prstGeom prst="rect">
            <a:avLst/>
          </a:prstGeom>
          <a:noFill/>
        </p:spPr>
        <p:txBody>
          <a:bodyPr wrap="square" lIns="0" tIns="0" rIns="0" bIns="0" rtlCol="0" anchor="ctr"/>
          <a:lstStyle/>
          <a:p>
            <a:pPr marL="0" indent="0">
              <a:buNone/>
            </a:pPr>
            <a:r>
              <a:rPr lang="en-US" sz="1050" b="1" dirty="0">
                <a:solidFill>
                  <a:srgbClr val="16233F"/>
                </a:solidFill>
                <a:latin typeface="Calibri" panose="020F0502020204030204" pitchFamily="34" charset="0"/>
                <a:ea typeface="Calibri" panose="020F0502020204030204" pitchFamily="34" charset="-122"/>
                <a:cs typeface="Calibri" panose="020F0502020204030204" pitchFamily="34" charset="-120"/>
              </a:rPr>
              <a:t>High–High:  </a:t>
            </a:r>
            <a:r>
              <a:rPr lang="en-US" sz="1050" dirty="0">
                <a:solidFill>
                  <a:srgbClr val="2B2F36"/>
                </a:solidFill>
                <a:latin typeface="Calibri" panose="020F0502020204030204" pitchFamily="34" charset="0"/>
                <a:ea typeface="Calibri" panose="020F0502020204030204" pitchFamily="34" charset="-122"/>
                <a:cs typeface="Calibri" panose="020F0502020204030204" pitchFamily="34" charset="-120"/>
              </a:rPr>
              <a:t>Karnataka</a:t>
            </a:r>
            <a:endParaRPr lang="en-US" sz="1050" dirty="0"/>
          </a:p>
        </p:txBody>
      </p:sp>
      <p:sp>
        <p:nvSpPr>
          <p:cNvPr id="16" name="Shape 13"/>
          <p:cNvSpPr/>
          <p:nvPr/>
        </p:nvSpPr>
        <p:spPr>
          <a:xfrm>
            <a:off x="7735824" y="3392424"/>
            <a:ext cx="128016" cy="128016"/>
          </a:xfrm>
          <a:prstGeom prst="rect">
            <a:avLst/>
          </a:prstGeom>
          <a:solidFill>
            <a:srgbClr val="8D97AC"/>
          </a:solidFill>
        </p:spPr>
      </p:sp>
      <p:sp>
        <p:nvSpPr>
          <p:cNvPr id="17" name="Text 14"/>
          <p:cNvSpPr/>
          <p:nvPr/>
        </p:nvSpPr>
        <p:spPr>
          <a:xfrm>
            <a:off x="7936992" y="3319272"/>
            <a:ext cx="3468319" cy="274320"/>
          </a:xfrm>
          <a:prstGeom prst="rect">
            <a:avLst/>
          </a:prstGeom>
          <a:noFill/>
        </p:spPr>
        <p:txBody>
          <a:bodyPr wrap="square" lIns="0" tIns="0" rIns="0" bIns="0" rtlCol="0" anchor="ctr"/>
          <a:lstStyle/>
          <a:p>
            <a:pPr marL="0" indent="0">
              <a:buNone/>
            </a:pPr>
            <a:r>
              <a:rPr lang="en-US" sz="1050" b="1" dirty="0">
                <a:solidFill>
                  <a:srgbClr val="16233F"/>
                </a:solidFill>
                <a:latin typeface="Calibri" panose="020F0502020204030204" pitchFamily="34" charset="0"/>
                <a:ea typeface="Calibri" panose="020F0502020204030204" pitchFamily="34" charset="-122"/>
                <a:cs typeface="Calibri" panose="020F0502020204030204" pitchFamily="34" charset="-120"/>
              </a:rPr>
              <a:t>Low–Low:  </a:t>
            </a:r>
            <a:r>
              <a:rPr lang="en-US" sz="1050" dirty="0">
                <a:solidFill>
                  <a:srgbClr val="2B2F36"/>
                </a:solidFill>
                <a:latin typeface="Calibri" panose="020F0502020204030204" pitchFamily="34" charset="0"/>
                <a:ea typeface="Calibri" panose="020F0502020204030204" pitchFamily="34" charset="-122"/>
                <a:cs typeface="Calibri" panose="020F0502020204030204" pitchFamily="34" charset="-120"/>
              </a:rPr>
              <a:t>Jharkhand, Assam</a:t>
            </a:r>
            <a:endParaRPr lang="en-US" sz="1050" dirty="0"/>
          </a:p>
        </p:txBody>
      </p:sp>
      <p:sp>
        <p:nvSpPr>
          <p:cNvPr id="18" name="Text 15"/>
          <p:cNvSpPr/>
          <p:nvPr/>
        </p:nvSpPr>
        <p:spPr>
          <a:xfrm>
            <a:off x="7735824" y="3694176"/>
            <a:ext cx="3669487" cy="365760"/>
          </a:xfrm>
          <a:prstGeom prst="rect">
            <a:avLst/>
          </a:prstGeom>
          <a:noFill/>
        </p:spPr>
        <p:txBody>
          <a:bodyPr wrap="square" lIns="0" tIns="0" rIns="0" bIns="0" rtlCol="0" anchor="ctr"/>
          <a:lstStyle/>
          <a:p>
            <a:pPr marL="0" indent="0">
              <a:lnSpc>
                <a:spcPct val="115000"/>
              </a:lnSpc>
              <a:buNone/>
            </a:pPr>
            <a:r>
              <a:rPr lang="en-US" sz="900" i="1" dirty="0">
                <a:solidFill>
                  <a:srgbClr val="5B6472"/>
                </a:solidFill>
                <a:latin typeface="Calibri" panose="020F0502020204030204" pitchFamily="34" charset="0"/>
                <a:ea typeface="Calibri" panose="020F0502020204030204" pitchFamily="34" charset="-122"/>
                <a:cs typeface="Calibri" panose="020F0502020204030204" pitchFamily="34" charset="-120"/>
              </a:rPr>
              <a:t>No significant High–Low or Low–High outliers.</a:t>
            </a:r>
            <a:endParaRPr lang="en-US" sz="900" dirty="0"/>
          </a:p>
        </p:txBody>
      </p:sp>
      <p:sp>
        <p:nvSpPr>
          <p:cNvPr id="19" name="Shape 16"/>
          <p:cNvSpPr/>
          <p:nvPr/>
        </p:nvSpPr>
        <p:spPr>
          <a:xfrm>
            <a:off x="7498080" y="4434840"/>
            <a:ext cx="4144975" cy="1828800"/>
          </a:xfrm>
          <a:prstGeom prst="roundRect">
            <a:avLst>
              <a:gd name="adj" fmla="val 4500"/>
            </a:avLst>
          </a:prstGeom>
          <a:solidFill>
            <a:srgbClr val="16233F"/>
          </a:solidFill>
        </p:spPr>
      </p:sp>
      <p:sp>
        <p:nvSpPr>
          <p:cNvPr id="20" name="Text 17"/>
          <p:cNvSpPr/>
          <p:nvPr/>
        </p:nvSpPr>
        <p:spPr>
          <a:xfrm>
            <a:off x="7735824" y="4572000"/>
            <a:ext cx="3669487" cy="237744"/>
          </a:xfrm>
          <a:prstGeom prst="rect">
            <a:avLst/>
          </a:prstGeom>
          <a:noFill/>
        </p:spPr>
        <p:txBody>
          <a:bodyPr wrap="square" lIns="0" tIns="0" rIns="0" bIns="0" rtlCol="0" anchor="ctr"/>
          <a:lstStyle/>
          <a:p>
            <a:pPr marL="0" indent="0">
              <a:buNone/>
            </a:pPr>
            <a:r>
              <a:rPr lang="en-US" sz="1100" b="1" kern="0" spc="60" dirty="0">
                <a:solidFill>
                  <a:srgbClr val="FFFFFF"/>
                </a:solidFill>
                <a:latin typeface="Calibri" panose="020F0502020204030204" pitchFamily="34" charset="0"/>
                <a:ea typeface="Calibri" panose="020F0502020204030204" pitchFamily="34" charset="-122"/>
                <a:cs typeface="Calibri" panose="020F0502020204030204" pitchFamily="34" charset="-120"/>
              </a:rPr>
              <a:t>WHAT THE ANALYSIS REVEALS</a:t>
            </a:r>
            <a:endParaRPr lang="en-US" sz="1100" dirty="0"/>
          </a:p>
        </p:txBody>
      </p:sp>
      <p:sp>
        <p:nvSpPr>
          <p:cNvPr id="21" name="Shape 18"/>
          <p:cNvSpPr/>
          <p:nvPr/>
        </p:nvSpPr>
        <p:spPr>
          <a:xfrm>
            <a:off x="7735824" y="4846320"/>
            <a:ext cx="411480" cy="0"/>
          </a:xfrm>
          <a:prstGeom prst="line">
            <a:avLst/>
          </a:prstGeom>
          <a:noFill/>
          <a:ln w="15875">
            <a:solidFill>
              <a:srgbClr val="AEB9CE"/>
            </a:solidFill>
            <a:prstDash val="solid"/>
          </a:ln>
        </p:spPr>
      </p:sp>
      <p:sp>
        <p:nvSpPr>
          <p:cNvPr id="22" name="Text 19"/>
          <p:cNvSpPr/>
          <p:nvPr/>
        </p:nvSpPr>
        <p:spPr>
          <a:xfrm>
            <a:off x="7735570" y="4965065"/>
            <a:ext cx="3889375" cy="1188720"/>
          </a:xfrm>
          <a:prstGeom prst="rect">
            <a:avLst/>
          </a:prstGeom>
          <a:noFill/>
        </p:spPr>
        <p:txBody>
          <a:bodyPr wrap="square" lIns="0" tIns="0" rIns="0" bIns="0" rtlCol="0" anchor="ctr"/>
          <a:lstStyle/>
          <a:p>
            <a:pPr marL="177800" indent="-177800">
              <a:lnSpc>
                <a:spcPct val="90000"/>
              </a:lnSpc>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Financial inclusion shows persistent positive spatial autocorrelation.
</a:t>
            </a:r>
            <a:endParaRPr lang="en-US" sz="1100" dirty="0"/>
          </a:p>
          <a:p>
            <a:pPr marL="177800" indent="-177800">
              <a:lnSpc>
                <a:spcPct val="120000"/>
              </a:lnSpc>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Neighbouring states tend to share similar levels of financial inclusion.
</a:t>
            </a:r>
            <a:endParaRPr lang="en-US" sz="1100" dirty="0"/>
          </a:p>
          <a:p>
            <a:pPr marL="177800" indent="-177800">
              <a:lnSpc>
                <a:spcPct val="120000"/>
              </a:lnSpc>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Geography continues to shape its spatial distribution across India.</a:t>
            </a:r>
            <a:endPar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0"/>
          <p:cNvSpPr/>
          <p:nvPr/>
        </p:nvSpPr>
        <p:spPr>
          <a:xfrm>
            <a:off x="548640" y="6510528"/>
            <a:ext cx="7315200" cy="256032"/>
          </a:xfrm>
          <a:prstGeom prst="rect">
            <a:avLst/>
          </a:prstGeom>
          <a:noFill/>
        </p:spPr>
        <p:txBody>
          <a:bodyPr wrap="square" lIns="0" tIns="0" rIns="0" bIns="0" rtlCol="0" anchor="ctr"/>
          <a:lstStyle/>
          <a:p>
            <a:pPr marL="0" indent="0">
              <a:buNone/>
            </a:pPr>
            <a:r>
              <a:rPr lang="en-US" sz="95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548640" y="347472"/>
            <a:ext cx="7315200" cy="274320"/>
          </a:xfrm>
          <a:prstGeom prst="rect">
            <a:avLst/>
          </a:prstGeom>
          <a:noFill/>
        </p:spPr>
        <p:txBody>
          <a:bodyPr wrap="square" lIns="0" tIns="0" rIns="0" bIns="0" rtlCol="0" anchor="ctr"/>
          <a:lstStyle/>
          <a:p>
            <a:pPr marL="0" indent="0">
              <a:buNone/>
            </a:pPr>
            <a:r>
              <a:rPr lang="en-US" sz="115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12  ·  ROBUSTNESS &amp; VALIDATION</a:t>
            </a:r>
            <a:endParaRPr lang="en-US" sz="1150" dirty="0"/>
          </a:p>
        </p:txBody>
      </p:sp>
      <p:sp>
        <p:nvSpPr>
          <p:cNvPr id="3" name="Shape 1"/>
          <p:cNvSpPr/>
          <p:nvPr/>
        </p:nvSpPr>
        <p:spPr>
          <a:xfrm>
            <a:off x="548640" y="731520"/>
            <a:ext cx="502920" cy="0"/>
          </a:xfrm>
          <a:prstGeom prst="line">
            <a:avLst/>
          </a:prstGeom>
          <a:noFill/>
          <a:ln w="28575">
            <a:solidFill>
              <a:srgbClr val="16233F"/>
            </a:solidFill>
            <a:prstDash val="solid"/>
          </a:ln>
        </p:spPr>
      </p:sp>
      <p:sp>
        <p:nvSpPr>
          <p:cNvPr id="4" name="Text 2"/>
          <p:cNvSpPr/>
          <p:nvPr/>
        </p:nvSpPr>
        <p:spPr>
          <a:xfrm>
            <a:off x="548640" y="841248"/>
            <a:ext cx="11094415" cy="457200"/>
          </a:xfrm>
          <a:prstGeom prst="rect">
            <a:avLst/>
          </a:prstGeom>
          <a:noFill/>
        </p:spPr>
        <p:txBody>
          <a:bodyPr wrap="square" lIns="0" tIns="0" rIns="0" bIns="0" rtlCol="0" anchor="ctr"/>
          <a:lstStyle/>
          <a:p>
            <a:pPr marL="0" indent="0">
              <a:lnSpc>
                <a:spcPct val="105000"/>
              </a:lnSpc>
              <a:buNone/>
            </a:pPr>
            <a:r>
              <a:rPr lang="en-US" sz="2500" b="1" dirty="0">
                <a:solidFill>
                  <a:srgbClr val="16233F"/>
                </a:solidFill>
                <a:latin typeface="Cambria" panose="02040503050406030204" pitchFamily="34" charset="0"/>
                <a:ea typeface="Cambria" panose="02040503050406030204" pitchFamily="34" charset="-122"/>
                <a:cs typeface="Cambria" panose="02040503050406030204" pitchFamily="34" charset="-120"/>
              </a:rPr>
              <a:t>Two Different Methods, One Consistent Story</a:t>
            </a:r>
            <a:endParaRPr lang="en-US" sz="2500" dirty="0"/>
          </a:p>
        </p:txBody>
      </p:sp>
      <p:sp>
        <p:nvSpPr>
          <p:cNvPr id="5" name="Text 3"/>
          <p:cNvSpPr/>
          <p:nvPr/>
        </p:nvSpPr>
        <p:spPr>
          <a:xfrm>
            <a:off x="548640" y="1298448"/>
            <a:ext cx="11094415" cy="274320"/>
          </a:xfrm>
          <a:prstGeom prst="rect">
            <a:avLst/>
          </a:prstGeom>
          <a:noFill/>
        </p:spPr>
        <p:txBody>
          <a:bodyPr wrap="square" lIns="0" tIns="0" rIns="0" bIns="0" rtlCol="0" anchor="ctr"/>
          <a:lstStyle/>
          <a:p>
            <a:pPr marL="0" indent="0">
              <a:buNone/>
            </a:pPr>
            <a:r>
              <a:rPr lang="en-US" sz="1200" i="1" dirty="0">
                <a:solidFill>
                  <a:srgbClr val="5B6472"/>
                </a:solidFill>
                <a:latin typeface="Calibri" panose="020F0502020204030204" pitchFamily="34" charset="0"/>
                <a:ea typeface="Calibri" panose="020F0502020204030204" pitchFamily="34" charset="-122"/>
                <a:cs typeface="Calibri" panose="020F0502020204030204" pitchFamily="34" charset="-120"/>
              </a:rPr>
              <a:t>Comparison of the Hierarchical Two-Stage PCA and Sarma Financial Inclusion Indices</a:t>
            </a:r>
            <a:endParaRPr lang="en-US" sz="1200" dirty="0"/>
          </a:p>
        </p:txBody>
      </p:sp>
      <p:sp>
        <p:nvSpPr>
          <p:cNvPr id="6" name="Shape 4"/>
          <p:cNvSpPr/>
          <p:nvPr/>
        </p:nvSpPr>
        <p:spPr>
          <a:xfrm>
            <a:off x="548640" y="1700784"/>
            <a:ext cx="5432908" cy="1627632"/>
          </a:xfrm>
          <a:prstGeom prst="roundRect">
            <a:avLst>
              <a:gd name="adj" fmla="val 5056"/>
            </a:avLst>
          </a:prstGeom>
          <a:solidFill>
            <a:srgbClr val="F4F4F2"/>
          </a:solidFill>
          <a:ln w="12700">
            <a:solidFill>
              <a:srgbClr val="16233F"/>
            </a:solidFill>
            <a:prstDash val="solid"/>
          </a:ln>
        </p:spPr>
      </p:sp>
      <p:sp>
        <p:nvSpPr>
          <p:cNvPr id="7" name="Text 5"/>
          <p:cNvSpPr/>
          <p:nvPr/>
        </p:nvSpPr>
        <p:spPr>
          <a:xfrm>
            <a:off x="786384" y="1837944"/>
            <a:ext cx="4957420" cy="219456"/>
          </a:xfrm>
          <a:prstGeom prst="rect">
            <a:avLst/>
          </a:prstGeom>
          <a:noFill/>
        </p:spPr>
        <p:txBody>
          <a:bodyPr wrap="square" lIns="0" tIns="0" rIns="0" bIns="0" rtlCol="0" anchor="ctr"/>
          <a:lstStyle/>
          <a:p>
            <a:pPr marL="0" indent="0">
              <a:buNone/>
            </a:pPr>
            <a:r>
              <a:rPr lang="en-US" sz="1100" b="1" kern="0" spc="80" dirty="0">
                <a:solidFill>
                  <a:srgbClr val="16233F"/>
                </a:solidFill>
                <a:latin typeface="Calibri" panose="020F0502020204030204" pitchFamily="34" charset="0"/>
                <a:ea typeface="Calibri" panose="020F0502020204030204" pitchFamily="34" charset="-122"/>
                <a:cs typeface="Calibri" panose="020F0502020204030204" pitchFamily="34" charset="-120"/>
              </a:rPr>
              <a:t>ALTERNATIVE BENCHMARK</a:t>
            </a:r>
            <a:endParaRPr lang="en-US" sz="1100" dirty="0"/>
          </a:p>
        </p:txBody>
      </p:sp>
      <p:sp>
        <p:nvSpPr>
          <p:cNvPr id="8" name="Text 6"/>
          <p:cNvSpPr/>
          <p:nvPr/>
        </p:nvSpPr>
        <p:spPr>
          <a:xfrm>
            <a:off x="786384" y="2084832"/>
            <a:ext cx="4957420" cy="219456"/>
          </a:xfrm>
          <a:prstGeom prst="rect">
            <a:avLst/>
          </a:prstGeom>
          <a:noFill/>
        </p:spPr>
        <p:txBody>
          <a:bodyPr wrap="square" lIns="0" tIns="0" rIns="0" bIns="0" rtlCol="0" anchor="ctr"/>
          <a:lstStyle/>
          <a:p>
            <a:pPr marL="0" indent="0">
              <a:buNone/>
            </a:pPr>
            <a:r>
              <a:rPr lang="en-US" sz="1050" b="1" dirty="0">
                <a:solidFill>
                  <a:srgbClr val="3E5175"/>
                </a:solidFill>
                <a:latin typeface="Calibri" panose="020F0502020204030204" pitchFamily="34" charset="0"/>
                <a:ea typeface="Calibri" panose="020F0502020204030204" pitchFamily="34" charset="-122"/>
                <a:cs typeface="Calibri" panose="020F0502020204030204" pitchFamily="34" charset="-120"/>
              </a:rPr>
              <a:t>Sarma Distance-Based Index</a:t>
            </a:r>
            <a:endParaRPr lang="en-US" sz="1050" dirty="0"/>
          </a:p>
        </p:txBody>
      </p:sp>
      <p:sp>
        <p:nvSpPr>
          <p:cNvPr id="9" name="Text 7"/>
          <p:cNvSpPr/>
          <p:nvPr/>
        </p:nvSpPr>
        <p:spPr>
          <a:xfrm>
            <a:off x="786384" y="2340864"/>
            <a:ext cx="4957420" cy="877824"/>
          </a:xfrm>
          <a:prstGeom prst="rect">
            <a:avLst/>
          </a:prstGeom>
          <a:noFill/>
        </p:spPr>
        <p:txBody>
          <a:bodyPr wrap="square" lIns="0" tIns="0" rIns="0" bIns="0" rtlCol="0" anchor="ctr"/>
          <a:lstStyle/>
          <a:p>
            <a:pPr marL="152400" indent="-152400">
              <a:lnSpc>
                <a:spcPct val="115000"/>
              </a:lnSpc>
              <a:buSzPct val="100000"/>
              <a:buChar char="•"/>
            </a:pPr>
            <a:r>
              <a:rPr lang="en-US" sz="960" dirty="0">
                <a:solidFill>
                  <a:srgbClr val="2B2F36"/>
                </a:solidFill>
                <a:latin typeface="Calibri" panose="020F0502020204030204" pitchFamily="34" charset="0"/>
                <a:ea typeface="Calibri" panose="020F0502020204030204" pitchFamily="34" charset="-122"/>
                <a:cs typeface="Calibri" panose="020F0502020204030204" pitchFamily="34" charset="-120"/>
              </a:rPr>
              <a:t>Builds a multidimensional index from Penetration, Availability and Usage.
</a:t>
            </a:r>
            <a:endParaRPr lang="en-US" sz="960" dirty="0"/>
          </a:p>
          <a:p>
            <a:pPr marL="152400" indent="-152400">
              <a:lnSpc>
                <a:spcPct val="115000"/>
              </a:lnSpc>
              <a:buSzPct val="100000"/>
              <a:buChar char="•"/>
            </a:pPr>
            <a:r>
              <a:rPr lang="en-US" sz="960" dirty="0">
                <a:solidFill>
                  <a:srgbClr val="2B2F36"/>
                </a:solidFill>
                <a:latin typeface="Calibri" panose="020F0502020204030204" pitchFamily="34" charset="0"/>
                <a:ea typeface="Calibri" panose="020F0502020204030204" pitchFamily="34" charset="-122"/>
                <a:cs typeface="Calibri" panose="020F0502020204030204" pitchFamily="34" charset="-120"/>
              </a:rPr>
              <a:t>Normalises indicators and aggregates using a distance-from-ideal approach.
</a:t>
            </a:r>
            <a:endParaRPr lang="en-US" sz="960" dirty="0"/>
          </a:p>
          <a:p>
            <a:pPr marL="152400" indent="-152400">
              <a:lnSpc>
                <a:spcPct val="115000"/>
              </a:lnSpc>
              <a:buSzPct val="100000"/>
              <a:buChar char="•"/>
            </a:pPr>
            <a:r>
              <a:rPr lang="en-US" sz="960" dirty="0">
                <a:solidFill>
                  <a:srgbClr val="2B2F36"/>
                </a:solidFill>
                <a:latin typeface="Calibri" panose="020F0502020204030204" pitchFamily="34" charset="0"/>
                <a:ea typeface="Calibri" panose="020F0502020204030204" pitchFamily="34" charset="-122"/>
                <a:cs typeface="Calibri" panose="020F0502020204030204" pitchFamily="34" charset="-120"/>
              </a:rPr>
              <a:t>Used as an alternative benchmark to test the robustness of the PCA results.</a:t>
            </a:r>
            <a:endParaRPr lang="en-US" sz="960" dirty="0"/>
          </a:p>
        </p:txBody>
      </p:sp>
      <p:sp>
        <p:nvSpPr>
          <p:cNvPr id="10" name="Shape 8"/>
          <p:cNvSpPr/>
          <p:nvPr/>
        </p:nvSpPr>
        <p:spPr>
          <a:xfrm>
            <a:off x="6210148" y="1700784"/>
            <a:ext cx="5432908" cy="1627632"/>
          </a:xfrm>
          <a:prstGeom prst="roundRect">
            <a:avLst>
              <a:gd name="adj" fmla="val 5056"/>
            </a:avLst>
          </a:prstGeom>
          <a:solidFill>
            <a:srgbClr val="F4F4F2"/>
          </a:solidFill>
          <a:ln w="17780">
            <a:solidFill>
              <a:srgbClr val="E1E1DD"/>
            </a:solidFill>
            <a:prstDash val="solid"/>
          </a:ln>
        </p:spPr>
      </p:sp>
      <p:sp>
        <p:nvSpPr>
          <p:cNvPr id="11" name="Text 9"/>
          <p:cNvSpPr/>
          <p:nvPr/>
        </p:nvSpPr>
        <p:spPr>
          <a:xfrm>
            <a:off x="6447892" y="1837944"/>
            <a:ext cx="4957420" cy="219456"/>
          </a:xfrm>
          <a:prstGeom prst="rect">
            <a:avLst/>
          </a:prstGeom>
          <a:noFill/>
        </p:spPr>
        <p:txBody>
          <a:bodyPr wrap="square" lIns="0" tIns="0" rIns="0" bIns="0" rtlCol="0" anchor="ctr"/>
          <a:lstStyle/>
          <a:p>
            <a:pPr marL="0" indent="0">
              <a:buNone/>
            </a:pPr>
            <a:r>
              <a:rPr lang="en-US" sz="1100" b="1" kern="0" spc="80" dirty="0">
                <a:solidFill>
                  <a:srgbClr val="16233F"/>
                </a:solidFill>
                <a:latin typeface="Calibri" panose="020F0502020204030204" pitchFamily="34" charset="0"/>
                <a:ea typeface="Calibri" panose="020F0502020204030204" pitchFamily="34" charset="-122"/>
                <a:cs typeface="Calibri" panose="020F0502020204030204" pitchFamily="34" charset="-120"/>
              </a:rPr>
              <a:t>AGREEMENT BETWEEN INDICES</a:t>
            </a:r>
            <a:endParaRPr lang="en-US" sz="1100" dirty="0"/>
          </a:p>
        </p:txBody>
      </p:sp>
      <p:sp>
        <p:nvSpPr>
          <p:cNvPr id="17" name="Text 15"/>
          <p:cNvSpPr/>
          <p:nvPr/>
        </p:nvSpPr>
        <p:spPr>
          <a:xfrm>
            <a:off x="6448527" y="2981198"/>
            <a:ext cx="4957420" cy="237744"/>
          </a:xfrm>
          <a:prstGeom prst="rect">
            <a:avLst/>
          </a:prstGeom>
          <a:noFill/>
        </p:spPr>
        <p:txBody>
          <a:bodyPr wrap="square" lIns="0" tIns="0" rIns="0" bIns="0" rtlCol="0" anchor="ctr"/>
          <a:lstStyle/>
          <a:p>
            <a:pPr marL="0" indent="0" algn="ctr">
              <a:buNone/>
            </a:pPr>
            <a:r>
              <a:rPr lang="en-US" sz="930" i="1" dirty="0">
                <a:solidFill>
                  <a:srgbClr val="5B6472"/>
                </a:solidFill>
                <a:latin typeface="Calibri" panose="020F0502020204030204" pitchFamily="34" charset="0"/>
                <a:ea typeface="Calibri" panose="020F0502020204030204" pitchFamily="34" charset="-122"/>
                <a:cs typeface="Calibri" panose="020F0502020204030204" pitchFamily="34" charset="-120"/>
              </a:rPr>
              <a:t>Strong agreement across all 252 state-year observations</a:t>
            </a:r>
            <a:endParaRPr lang="en-US" sz="930" i="1"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altLang="en-US" sz="930" i="1" dirty="0">
                <a:solidFill>
                  <a:srgbClr val="5B6472"/>
                </a:solidFill>
                <a:latin typeface="Calibri" panose="020F0502020204030204" pitchFamily="34" charset="0"/>
                <a:ea typeface="Calibri" panose="020F0502020204030204" pitchFamily="34" charset="-122"/>
                <a:cs typeface="Calibri" panose="020F0502020204030204" pitchFamily="34" charset="-120"/>
              </a:rPr>
              <a:t>Consistently high agreement despite fundamentally different methodologies</a:t>
            </a:r>
            <a:endParaRPr lang="en-US" altLang="en-US" sz="930" i="1"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6"/>
          <p:cNvSpPr/>
          <p:nvPr/>
        </p:nvSpPr>
        <p:spPr>
          <a:xfrm>
            <a:off x="548640" y="3511296"/>
            <a:ext cx="5432908" cy="1627632"/>
          </a:xfrm>
          <a:prstGeom prst="roundRect">
            <a:avLst>
              <a:gd name="adj" fmla="val 5056"/>
            </a:avLst>
          </a:prstGeom>
          <a:solidFill>
            <a:srgbClr val="F4F4F2"/>
          </a:solidFill>
          <a:ln w="12700">
            <a:solidFill>
              <a:srgbClr val="E1E1DD"/>
            </a:solidFill>
            <a:prstDash val="solid"/>
          </a:ln>
        </p:spPr>
      </p:sp>
      <p:sp>
        <p:nvSpPr>
          <p:cNvPr id="19" name="Text 17"/>
          <p:cNvSpPr/>
          <p:nvPr/>
        </p:nvSpPr>
        <p:spPr>
          <a:xfrm>
            <a:off x="786384" y="3639312"/>
            <a:ext cx="4957420" cy="219456"/>
          </a:xfrm>
          <a:prstGeom prst="rect">
            <a:avLst/>
          </a:prstGeom>
          <a:noFill/>
        </p:spPr>
        <p:txBody>
          <a:bodyPr wrap="square" lIns="0" tIns="0" rIns="0" bIns="0" rtlCol="0" anchor="ctr"/>
          <a:lstStyle/>
          <a:p>
            <a:pPr marL="0" indent="0">
              <a:buNone/>
            </a:pPr>
            <a:r>
              <a:rPr lang="en-US" sz="1100" b="1" kern="0" spc="60" dirty="0">
                <a:solidFill>
                  <a:srgbClr val="16233F"/>
                </a:solidFill>
                <a:latin typeface="Calibri" panose="020F0502020204030204" pitchFamily="34" charset="0"/>
                <a:ea typeface="Calibri" panose="020F0502020204030204" pitchFamily="34" charset="-122"/>
                <a:cs typeface="Calibri" panose="020F0502020204030204" pitchFamily="34" charset="-120"/>
              </a:rPr>
              <a:t>RANK AGREEMENT BETWEEN METHODS</a:t>
            </a:r>
            <a:endParaRPr lang="en-US" sz="1100" dirty="0"/>
          </a:p>
        </p:txBody>
      </p:sp>
      <p:sp>
        <p:nvSpPr>
          <p:cNvPr id="20" name="Text 18"/>
          <p:cNvSpPr/>
          <p:nvPr/>
        </p:nvSpPr>
        <p:spPr>
          <a:xfrm>
            <a:off x="786384" y="3922776"/>
            <a:ext cx="777240" cy="265176"/>
          </a:xfrm>
          <a:prstGeom prst="rect">
            <a:avLst/>
          </a:prstGeom>
          <a:noFill/>
        </p:spPr>
        <p:txBody>
          <a:bodyPr wrap="square" lIns="0" tIns="0" rIns="0" bIns="0" rtlCol="0" anchor="ctr"/>
          <a:lstStyle/>
          <a:p>
            <a:pPr marL="0" indent="0">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Exact</a:t>
            </a:r>
            <a:endParaRPr lang="en-US" sz="930" dirty="0"/>
          </a:p>
        </p:txBody>
      </p:sp>
      <p:sp>
        <p:nvSpPr>
          <p:cNvPr id="21" name="Shape 19"/>
          <p:cNvSpPr/>
          <p:nvPr/>
        </p:nvSpPr>
        <p:spPr>
          <a:xfrm>
            <a:off x="1600200" y="3968496"/>
            <a:ext cx="3695548" cy="173736"/>
          </a:xfrm>
          <a:prstGeom prst="roundRect">
            <a:avLst>
              <a:gd name="adj" fmla="val 21053"/>
            </a:avLst>
          </a:prstGeom>
          <a:solidFill>
            <a:srgbClr val="E7E8E4"/>
          </a:solidFill>
        </p:spPr>
      </p:sp>
      <p:sp>
        <p:nvSpPr>
          <p:cNvPr id="22" name="Shape 20"/>
          <p:cNvSpPr/>
          <p:nvPr/>
        </p:nvSpPr>
        <p:spPr>
          <a:xfrm>
            <a:off x="1600200" y="3968496"/>
            <a:ext cx="762391" cy="173736"/>
          </a:xfrm>
          <a:prstGeom prst="roundRect">
            <a:avLst>
              <a:gd name="adj" fmla="val 21053"/>
            </a:avLst>
          </a:prstGeom>
          <a:solidFill>
            <a:srgbClr val="8D97AC"/>
          </a:solidFill>
        </p:spPr>
      </p:sp>
      <p:sp>
        <p:nvSpPr>
          <p:cNvPr id="23" name="Text 21"/>
          <p:cNvSpPr/>
          <p:nvPr/>
        </p:nvSpPr>
        <p:spPr>
          <a:xfrm>
            <a:off x="5368900" y="3922776"/>
            <a:ext cx="566928" cy="265176"/>
          </a:xfrm>
          <a:prstGeom prst="rect">
            <a:avLst/>
          </a:prstGeom>
          <a:noFill/>
        </p:spPr>
        <p:txBody>
          <a:bodyPr wrap="square" lIns="0" tIns="0" rIns="0" bIns="0" rtlCol="0" anchor="ctr"/>
          <a:lstStyle/>
          <a:p>
            <a:pPr marL="0" indent="0">
              <a:buNone/>
            </a:pPr>
            <a:r>
              <a:rPr lang="en-US" sz="930" b="1" dirty="0">
                <a:solidFill>
                  <a:srgbClr val="16233F"/>
                </a:solidFill>
                <a:latin typeface="Calibri" panose="020F0502020204030204" pitchFamily="34" charset="0"/>
                <a:ea typeface="Calibri" panose="020F0502020204030204" pitchFamily="34" charset="-122"/>
                <a:cs typeface="Calibri" panose="020F0502020204030204" pitchFamily="34" charset="-120"/>
              </a:rPr>
              <a:t>20.6%</a:t>
            </a:r>
            <a:endParaRPr lang="en-US" sz="930" dirty="0"/>
          </a:p>
        </p:txBody>
      </p:sp>
      <p:sp>
        <p:nvSpPr>
          <p:cNvPr id="24" name="Text 22"/>
          <p:cNvSpPr/>
          <p:nvPr/>
        </p:nvSpPr>
        <p:spPr>
          <a:xfrm>
            <a:off x="786384" y="4146804"/>
            <a:ext cx="777240" cy="265176"/>
          </a:xfrm>
          <a:prstGeom prst="rect">
            <a:avLst/>
          </a:prstGeom>
          <a:noFill/>
        </p:spPr>
        <p:txBody>
          <a:bodyPr wrap="square" lIns="0" tIns="0" rIns="0" bIns="0" rtlCol="0" anchor="ctr"/>
          <a:lstStyle/>
          <a:p>
            <a:pPr marL="0" indent="0">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Within ±1</a:t>
            </a:r>
            <a:endParaRPr lang="en-US" sz="930" dirty="0"/>
          </a:p>
        </p:txBody>
      </p:sp>
      <p:sp>
        <p:nvSpPr>
          <p:cNvPr id="25" name="Shape 23"/>
          <p:cNvSpPr/>
          <p:nvPr/>
        </p:nvSpPr>
        <p:spPr>
          <a:xfrm>
            <a:off x="1600200" y="4192524"/>
            <a:ext cx="3695548" cy="173736"/>
          </a:xfrm>
          <a:prstGeom prst="roundRect">
            <a:avLst>
              <a:gd name="adj" fmla="val 21053"/>
            </a:avLst>
          </a:prstGeom>
          <a:solidFill>
            <a:srgbClr val="E7E8E4"/>
          </a:solidFill>
        </p:spPr>
      </p:sp>
      <p:sp>
        <p:nvSpPr>
          <p:cNvPr id="26" name="Shape 24"/>
          <p:cNvSpPr/>
          <p:nvPr/>
        </p:nvSpPr>
        <p:spPr>
          <a:xfrm>
            <a:off x="1600200" y="4192524"/>
            <a:ext cx="2023682" cy="173736"/>
          </a:xfrm>
          <a:prstGeom prst="roundRect">
            <a:avLst>
              <a:gd name="adj" fmla="val 21053"/>
            </a:avLst>
          </a:prstGeom>
          <a:solidFill>
            <a:srgbClr val="63769A"/>
          </a:solidFill>
        </p:spPr>
      </p:sp>
      <p:sp>
        <p:nvSpPr>
          <p:cNvPr id="27" name="Text 25"/>
          <p:cNvSpPr/>
          <p:nvPr/>
        </p:nvSpPr>
        <p:spPr>
          <a:xfrm>
            <a:off x="5368900" y="4146804"/>
            <a:ext cx="566928" cy="265176"/>
          </a:xfrm>
          <a:prstGeom prst="rect">
            <a:avLst/>
          </a:prstGeom>
          <a:noFill/>
        </p:spPr>
        <p:txBody>
          <a:bodyPr wrap="square" lIns="0" tIns="0" rIns="0" bIns="0" rtlCol="0" anchor="ctr"/>
          <a:lstStyle/>
          <a:p>
            <a:pPr marL="0" indent="0">
              <a:buNone/>
            </a:pPr>
            <a:r>
              <a:rPr lang="en-US" sz="930" b="1" dirty="0">
                <a:solidFill>
                  <a:srgbClr val="16233F"/>
                </a:solidFill>
                <a:latin typeface="Calibri" panose="020F0502020204030204" pitchFamily="34" charset="0"/>
                <a:ea typeface="Calibri" panose="020F0502020204030204" pitchFamily="34" charset="-122"/>
                <a:cs typeface="Calibri" panose="020F0502020204030204" pitchFamily="34" charset="-120"/>
              </a:rPr>
              <a:t>54.8%</a:t>
            </a:r>
            <a:endParaRPr lang="en-US" sz="930" dirty="0"/>
          </a:p>
        </p:txBody>
      </p:sp>
      <p:sp>
        <p:nvSpPr>
          <p:cNvPr id="28" name="Text 26"/>
          <p:cNvSpPr/>
          <p:nvPr/>
        </p:nvSpPr>
        <p:spPr>
          <a:xfrm>
            <a:off x="786384" y="4370832"/>
            <a:ext cx="777240" cy="265176"/>
          </a:xfrm>
          <a:prstGeom prst="rect">
            <a:avLst/>
          </a:prstGeom>
          <a:noFill/>
        </p:spPr>
        <p:txBody>
          <a:bodyPr wrap="square" lIns="0" tIns="0" rIns="0" bIns="0" rtlCol="0" anchor="ctr"/>
          <a:lstStyle/>
          <a:p>
            <a:pPr marL="0" indent="0">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Within ±3</a:t>
            </a:r>
            <a:endParaRPr lang="en-US" sz="930" dirty="0"/>
          </a:p>
        </p:txBody>
      </p:sp>
      <p:sp>
        <p:nvSpPr>
          <p:cNvPr id="29" name="Shape 27"/>
          <p:cNvSpPr/>
          <p:nvPr/>
        </p:nvSpPr>
        <p:spPr>
          <a:xfrm>
            <a:off x="1600200" y="4416552"/>
            <a:ext cx="3695548" cy="173736"/>
          </a:xfrm>
          <a:prstGeom prst="roundRect">
            <a:avLst>
              <a:gd name="adj" fmla="val 21053"/>
            </a:avLst>
          </a:prstGeom>
          <a:solidFill>
            <a:srgbClr val="E7E8E4"/>
          </a:solidFill>
        </p:spPr>
      </p:sp>
      <p:sp>
        <p:nvSpPr>
          <p:cNvPr id="30" name="Shape 28"/>
          <p:cNvSpPr/>
          <p:nvPr/>
        </p:nvSpPr>
        <p:spPr>
          <a:xfrm>
            <a:off x="1600200" y="4416552"/>
            <a:ext cx="3079500" cy="173736"/>
          </a:xfrm>
          <a:prstGeom prst="roundRect">
            <a:avLst>
              <a:gd name="adj" fmla="val 21053"/>
            </a:avLst>
          </a:prstGeom>
          <a:solidFill>
            <a:srgbClr val="3E5175"/>
          </a:solidFill>
        </p:spPr>
      </p:sp>
      <p:sp>
        <p:nvSpPr>
          <p:cNvPr id="31" name="Text 29"/>
          <p:cNvSpPr/>
          <p:nvPr/>
        </p:nvSpPr>
        <p:spPr>
          <a:xfrm>
            <a:off x="5368900" y="4370832"/>
            <a:ext cx="566928" cy="265176"/>
          </a:xfrm>
          <a:prstGeom prst="rect">
            <a:avLst/>
          </a:prstGeom>
          <a:noFill/>
        </p:spPr>
        <p:txBody>
          <a:bodyPr wrap="square" lIns="0" tIns="0" rIns="0" bIns="0" rtlCol="0" anchor="ctr"/>
          <a:lstStyle/>
          <a:p>
            <a:pPr marL="0" indent="0">
              <a:buNone/>
            </a:pPr>
            <a:r>
              <a:rPr lang="en-US" sz="930" b="1" dirty="0">
                <a:solidFill>
                  <a:srgbClr val="16233F"/>
                </a:solidFill>
                <a:latin typeface="Calibri" panose="020F0502020204030204" pitchFamily="34" charset="0"/>
                <a:ea typeface="Calibri" panose="020F0502020204030204" pitchFamily="34" charset="-122"/>
                <a:cs typeface="Calibri" panose="020F0502020204030204" pitchFamily="34" charset="-120"/>
              </a:rPr>
              <a:t>83.3%</a:t>
            </a:r>
            <a:endParaRPr lang="en-US" sz="930" dirty="0"/>
          </a:p>
        </p:txBody>
      </p:sp>
      <p:sp>
        <p:nvSpPr>
          <p:cNvPr id="32" name="Text 30"/>
          <p:cNvSpPr/>
          <p:nvPr/>
        </p:nvSpPr>
        <p:spPr>
          <a:xfrm>
            <a:off x="786384" y="4594860"/>
            <a:ext cx="777240" cy="265176"/>
          </a:xfrm>
          <a:prstGeom prst="rect">
            <a:avLst/>
          </a:prstGeom>
          <a:noFill/>
        </p:spPr>
        <p:txBody>
          <a:bodyPr wrap="square" lIns="0" tIns="0" rIns="0" bIns="0" rtlCol="0" anchor="ctr"/>
          <a:lstStyle/>
          <a:p>
            <a:pPr marL="0" indent="0">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Within ±5</a:t>
            </a:r>
            <a:endParaRPr lang="en-US" sz="930" dirty="0"/>
          </a:p>
        </p:txBody>
      </p:sp>
      <p:sp>
        <p:nvSpPr>
          <p:cNvPr id="33" name="Shape 31"/>
          <p:cNvSpPr/>
          <p:nvPr/>
        </p:nvSpPr>
        <p:spPr>
          <a:xfrm>
            <a:off x="1600200" y="4640580"/>
            <a:ext cx="3695548" cy="173736"/>
          </a:xfrm>
          <a:prstGeom prst="roundRect">
            <a:avLst>
              <a:gd name="adj" fmla="val 21053"/>
            </a:avLst>
          </a:prstGeom>
          <a:solidFill>
            <a:srgbClr val="E7E8E4"/>
          </a:solidFill>
        </p:spPr>
      </p:sp>
      <p:sp>
        <p:nvSpPr>
          <p:cNvPr id="34" name="Shape 32"/>
          <p:cNvSpPr/>
          <p:nvPr/>
        </p:nvSpPr>
        <p:spPr>
          <a:xfrm>
            <a:off x="1600200" y="4640580"/>
            <a:ext cx="3475663" cy="173736"/>
          </a:xfrm>
          <a:prstGeom prst="roundRect">
            <a:avLst>
              <a:gd name="adj" fmla="val 21053"/>
            </a:avLst>
          </a:prstGeom>
          <a:solidFill>
            <a:srgbClr val="16233F"/>
          </a:solidFill>
        </p:spPr>
      </p:sp>
      <p:sp>
        <p:nvSpPr>
          <p:cNvPr id="35" name="Text 33"/>
          <p:cNvSpPr/>
          <p:nvPr/>
        </p:nvSpPr>
        <p:spPr>
          <a:xfrm>
            <a:off x="5368900" y="4594860"/>
            <a:ext cx="566928" cy="265176"/>
          </a:xfrm>
          <a:prstGeom prst="rect">
            <a:avLst/>
          </a:prstGeom>
          <a:noFill/>
        </p:spPr>
        <p:txBody>
          <a:bodyPr wrap="square" lIns="0" tIns="0" rIns="0" bIns="0" rtlCol="0" anchor="ctr"/>
          <a:lstStyle/>
          <a:p>
            <a:pPr marL="0" indent="0">
              <a:buNone/>
            </a:pPr>
            <a:r>
              <a:rPr lang="en-US" sz="930" b="1" dirty="0">
                <a:solidFill>
                  <a:srgbClr val="16233F"/>
                </a:solidFill>
                <a:latin typeface="Calibri" panose="020F0502020204030204" pitchFamily="34" charset="0"/>
                <a:ea typeface="Calibri" panose="020F0502020204030204" pitchFamily="34" charset="-122"/>
                <a:cs typeface="Calibri" panose="020F0502020204030204" pitchFamily="34" charset="-120"/>
              </a:rPr>
              <a:t>94.0%</a:t>
            </a:r>
            <a:endParaRPr lang="en-US" sz="930" dirty="0"/>
          </a:p>
        </p:txBody>
      </p:sp>
      <p:sp>
        <p:nvSpPr>
          <p:cNvPr id="36" name="Shape 34"/>
          <p:cNvSpPr/>
          <p:nvPr/>
        </p:nvSpPr>
        <p:spPr>
          <a:xfrm>
            <a:off x="6210148" y="3511296"/>
            <a:ext cx="5432908" cy="1627632"/>
          </a:xfrm>
          <a:prstGeom prst="roundRect">
            <a:avLst>
              <a:gd name="adj" fmla="val 5056"/>
            </a:avLst>
          </a:prstGeom>
          <a:solidFill>
            <a:srgbClr val="F4F4F2"/>
          </a:solidFill>
          <a:ln w="12700">
            <a:solidFill>
              <a:srgbClr val="E1E1DD"/>
            </a:solidFill>
            <a:prstDash val="solid"/>
          </a:ln>
        </p:spPr>
      </p:sp>
      <p:sp>
        <p:nvSpPr>
          <p:cNvPr id="37" name="Text 35"/>
          <p:cNvSpPr/>
          <p:nvPr/>
        </p:nvSpPr>
        <p:spPr>
          <a:xfrm>
            <a:off x="6447892" y="3648456"/>
            <a:ext cx="4957420" cy="219456"/>
          </a:xfrm>
          <a:prstGeom prst="rect">
            <a:avLst/>
          </a:prstGeom>
          <a:noFill/>
        </p:spPr>
        <p:txBody>
          <a:bodyPr wrap="square" lIns="0" tIns="0" rIns="0" bIns="0" rtlCol="0" anchor="ctr"/>
          <a:lstStyle/>
          <a:p>
            <a:pPr marL="0" indent="0">
              <a:buNone/>
            </a:pPr>
            <a:r>
              <a:rPr lang="en-US" sz="1100" b="1" kern="0" spc="80" dirty="0">
                <a:solidFill>
                  <a:srgbClr val="16233F"/>
                </a:solidFill>
                <a:latin typeface="Calibri" panose="020F0502020204030204" pitchFamily="34" charset="0"/>
                <a:ea typeface="Calibri" panose="020F0502020204030204" pitchFamily="34" charset="-122"/>
                <a:cs typeface="Calibri" panose="020F0502020204030204" pitchFamily="34" charset="-120"/>
              </a:rPr>
              <a:t>CONSISTENT FINDINGS</a:t>
            </a:r>
            <a:endParaRPr lang="en-US" sz="1100" dirty="0"/>
          </a:p>
        </p:txBody>
      </p:sp>
      <p:sp>
        <p:nvSpPr>
          <p:cNvPr id="38" name="Text 36"/>
          <p:cNvSpPr/>
          <p:nvPr/>
        </p:nvSpPr>
        <p:spPr>
          <a:xfrm>
            <a:off x="6447892" y="3950208"/>
            <a:ext cx="256032" cy="274320"/>
          </a:xfrm>
          <a:prstGeom prst="rect">
            <a:avLst/>
          </a:prstGeom>
          <a:noFill/>
        </p:spPr>
        <p:txBody>
          <a:bodyPr wrap="square" lIns="0" tIns="0" rIns="0" bIns="0" rtlCol="0" anchor="t"/>
          <a:lstStyle/>
          <a:p>
            <a:pPr marL="0" indent="0">
              <a:buNone/>
            </a:pPr>
            <a:r>
              <a:rPr lang="en-US" sz="1100" b="1" dirty="0">
                <a:solidFill>
                  <a:srgbClr val="16233F"/>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39" name="Text 37"/>
          <p:cNvSpPr/>
          <p:nvPr/>
        </p:nvSpPr>
        <p:spPr>
          <a:xfrm>
            <a:off x="6703924" y="3950208"/>
            <a:ext cx="4701388" cy="274320"/>
          </a:xfrm>
          <a:prstGeom prst="rect">
            <a:avLst/>
          </a:prstGeom>
          <a:noFill/>
        </p:spPr>
        <p:txBody>
          <a:bodyPr wrap="square" lIns="0" tIns="0" rIns="0" bIns="0" rtlCol="0" anchor="t"/>
          <a:lstStyle/>
          <a:p>
            <a:pPr marL="0" indent="0">
              <a:lnSpc>
                <a:spcPct val="110000"/>
              </a:lnSpc>
              <a:buNone/>
            </a:pPr>
            <a:r>
              <a:rPr lang="en-US" sz="970" dirty="0">
                <a:solidFill>
                  <a:srgbClr val="2B2F36"/>
                </a:solidFill>
                <a:latin typeface="Calibri" panose="020F0502020204030204" pitchFamily="34" charset="0"/>
                <a:ea typeface="Calibri" panose="020F0502020204030204" pitchFamily="34" charset="-122"/>
                <a:cs typeface="Calibri" panose="020F0502020204030204" pitchFamily="34" charset="-120"/>
              </a:rPr>
              <a:t>Goa ranked 1st under both methods.</a:t>
            </a:r>
            <a:endParaRPr lang="en-US" sz="970" dirty="0"/>
          </a:p>
        </p:txBody>
      </p:sp>
      <p:sp>
        <p:nvSpPr>
          <p:cNvPr id="40" name="Text 38"/>
          <p:cNvSpPr/>
          <p:nvPr/>
        </p:nvSpPr>
        <p:spPr>
          <a:xfrm>
            <a:off x="6447892" y="4224528"/>
            <a:ext cx="256032" cy="274320"/>
          </a:xfrm>
          <a:prstGeom prst="rect">
            <a:avLst/>
          </a:prstGeom>
          <a:noFill/>
        </p:spPr>
        <p:txBody>
          <a:bodyPr wrap="square" lIns="0" tIns="0" rIns="0" bIns="0" rtlCol="0" anchor="t"/>
          <a:lstStyle/>
          <a:p>
            <a:pPr marL="0" indent="0">
              <a:buNone/>
            </a:pPr>
            <a:r>
              <a:rPr lang="en-US" sz="1100" b="1" dirty="0">
                <a:solidFill>
                  <a:srgbClr val="16233F"/>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41" name="Text 39"/>
          <p:cNvSpPr/>
          <p:nvPr/>
        </p:nvSpPr>
        <p:spPr>
          <a:xfrm>
            <a:off x="6703924" y="4224528"/>
            <a:ext cx="4701388" cy="274320"/>
          </a:xfrm>
          <a:prstGeom prst="rect">
            <a:avLst/>
          </a:prstGeom>
          <a:noFill/>
        </p:spPr>
        <p:txBody>
          <a:bodyPr wrap="square" lIns="0" tIns="0" rIns="0" bIns="0" rtlCol="0" anchor="t"/>
          <a:lstStyle/>
          <a:p>
            <a:pPr marL="0" indent="0">
              <a:lnSpc>
                <a:spcPct val="110000"/>
              </a:lnSpc>
              <a:buNone/>
            </a:pPr>
            <a:r>
              <a:rPr lang="en-US" sz="970" dirty="0">
                <a:solidFill>
                  <a:srgbClr val="2B2F36"/>
                </a:solidFill>
                <a:latin typeface="Calibri" panose="020F0502020204030204" pitchFamily="34" charset="0"/>
                <a:ea typeface="Calibri" panose="020F0502020204030204" pitchFamily="34" charset="-122"/>
                <a:cs typeface="Calibri" panose="020F0502020204030204" pitchFamily="34" charset="-120"/>
              </a:rPr>
              <a:t>Bihar ranked last under both methods.</a:t>
            </a:r>
            <a:endParaRPr lang="en-US" sz="970" dirty="0"/>
          </a:p>
        </p:txBody>
      </p:sp>
      <p:sp>
        <p:nvSpPr>
          <p:cNvPr id="42" name="Text 40"/>
          <p:cNvSpPr/>
          <p:nvPr/>
        </p:nvSpPr>
        <p:spPr>
          <a:xfrm>
            <a:off x="6447892" y="4498848"/>
            <a:ext cx="256032" cy="274320"/>
          </a:xfrm>
          <a:prstGeom prst="rect">
            <a:avLst/>
          </a:prstGeom>
          <a:noFill/>
        </p:spPr>
        <p:txBody>
          <a:bodyPr wrap="square" lIns="0" tIns="0" rIns="0" bIns="0" rtlCol="0" anchor="t"/>
          <a:lstStyle/>
          <a:p>
            <a:pPr marL="0" indent="0">
              <a:buNone/>
            </a:pPr>
            <a:r>
              <a:rPr lang="en-US" sz="1100" b="1" dirty="0">
                <a:solidFill>
                  <a:srgbClr val="16233F"/>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43" name="Text 41"/>
          <p:cNvSpPr/>
          <p:nvPr/>
        </p:nvSpPr>
        <p:spPr>
          <a:xfrm>
            <a:off x="6703924" y="4498848"/>
            <a:ext cx="4701388" cy="274320"/>
          </a:xfrm>
          <a:prstGeom prst="rect">
            <a:avLst/>
          </a:prstGeom>
          <a:noFill/>
        </p:spPr>
        <p:txBody>
          <a:bodyPr wrap="square" lIns="0" tIns="0" rIns="0" bIns="0" rtlCol="0" anchor="t"/>
          <a:lstStyle/>
          <a:p>
            <a:pPr marL="0" indent="0">
              <a:lnSpc>
                <a:spcPct val="110000"/>
              </a:lnSpc>
              <a:buNone/>
            </a:pPr>
            <a:r>
              <a:rPr lang="en-US" sz="970" dirty="0">
                <a:solidFill>
                  <a:srgbClr val="2B2F36"/>
                </a:solidFill>
                <a:latin typeface="Calibri" panose="020F0502020204030204" pitchFamily="34" charset="0"/>
                <a:ea typeface="Calibri" panose="020F0502020204030204" pitchFamily="34" charset="-122"/>
                <a:cs typeface="Calibri" panose="020F0502020204030204" pitchFamily="34" charset="-120"/>
              </a:rPr>
              <a:t>Western, Southern and Northern regions retained their hierarchy.</a:t>
            </a:r>
            <a:endParaRPr lang="en-US" sz="970" dirty="0"/>
          </a:p>
        </p:txBody>
      </p:sp>
      <p:sp>
        <p:nvSpPr>
          <p:cNvPr id="44" name="Text 42"/>
          <p:cNvSpPr/>
          <p:nvPr/>
        </p:nvSpPr>
        <p:spPr>
          <a:xfrm>
            <a:off x="6447892" y="4773168"/>
            <a:ext cx="256032" cy="274320"/>
          </a:xfrm>
          <a:prstGeom prst="rect">
            <a:avLst/>
          </a:prstGeom>
          <a:noFill/>
        </p:spPr>
        <p:txBody>
          <a:bodyPr wrap="square" lIns="0" tIns="0" rIns="0" bIns="0" rtlCol="0" anchor="t"/>
          <a:lstStyle/>
          <a:p>
            <a:pPr marL="0" indent="0">
              <a:buNone/>
            </a:pPr>
            <a:r>
              <a:rPr lang="en-US" sz="1100" b="1" dirty="0">
                <a:solidFill>
                  <a:srgbClr val="16233F"/>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45" name="Text 43"/>
          <p:cNvSpPr/>
          <p:nvPr/>
        </p:nvSpPr>
        <p:spPr>
          <a:xfrm>
            <a:off x="6703924" y="4773168"/>
            <a:ext cx="4701388" cy="274320"/>
          </a:xfrm>
          <a:prstGeom prst="rect">
            <a:avLst/>
          </a:prstGeom>
          <a:noFill/>
        </p:spPr>
        <p:txBody>
          <a:bodyPr wrap="square" lIns="0" tIns="0" rIns="0" bIns="0" rtlCol="0" anchor="t"/>
          <a:lstStyle/>
          <a:p>
            <a:pPr marL="0" indent="0">
              <a:lnSpc>
                <a:spcPct val="110000"/>
              </a:lnSpc>
              <a:buNone/>
            </a:pPr>
            <a:r>
              <a:rPr lang="en-US" sz="970" dirty="0">
                <a:solidFill>
                  <a:srgbClr val="2B2F36"/>
                </a:solidFill>
                <a:latin typeface="Calibri" panose="020F0502020204030204" pitchFamily="34" charset="0"/>
                <a:ea typeface="Calibri" panose="020F0502020204030204" pitchFamily="34" charset="-122"/>
                <a:cs typeface="Calibri" panose="020F0502020204030204" pitchFamily="34" charset="-120"/>
              </a:rPr>
              <a:t>Only the closely ranked Central and Eastern regions exchanged positions.</a:t>
            </a:r>
            <a:endParaRPr lang="en-US" sz="970" dirty="0"/>
          </a:p>
        </p:txBody>
      </p:sp>
      <p:sp>
        <p:nvSpPr>
          <p:cNvPr id="46" name="Shape 44"/>
          <p:cNvSpPr/>
          <p:nvPr/>
        </p:nvSpPr>
        <p:spPr>
          <a:xfrm>
            <a:off x="548640" y="5321808"/>
            <a:ext cx="11094415" cy="1051560"/>
          </a:xfrm>
          <a:prstGeom prst="roundRect">
            <a:avLst>
              <a:gd name="adj" fmla="val 7826"/>
            </a:avLst>
          </a:prstGeom>
          <a:solidFill>
            <a:srgbClr val="16233F"/>
          </a:solidFill>
        </p:spPr>
      </p:sp>
      <p:sp>
        <p:nvSpPr>
          <p:cNvPr id="47" name="Text 45"/>
          <p:cNvSpPr/>
          <p:nvPr/>
        </p:nvSpPr>
        <p:spPr>
          <a:xfrm>
            <a:off x="822960" y="5449824"/>
            <a:ext cx="10545775" cy="219456"/>
          </a:xfrm>
          <a:prstGeom prst="rect">
            <a:avLst/>
          </a:prstGeom>
          <a:noFill/>
        </p:spPr>
        <p:txBody>
          <a:bodyPr wrap="square" lIns="0" tIns="0" rIns="0" bIns="0" rtlCol="0" anchor="ctr"/>
          <a:lstStyle/>
          <a:p>
            <a:pPr marL="0" indent="0">
              <a:buNone/>
            </a:pPr>
            <a:r>
              <a:rPr lang="en-US" sz="1100" b="1" kern="0" spc="80" dirty="0">
                <a:solidFill>
                  <a:srgbClr val="FFFFFF"/>
                </a:solidFill>
                <a:latin typeface="Calibri" panose="020F0502020204030204" pitchFamily="34" charset="0"/>
                <a:ea typeface="Calibri" panose="020F0502020204030204" pitchFamily="34" charset="-122"/>
                <a:cs typeface="Calibri" panose="020F0502020204030204" pitchFamily="34" charset="-120"/>
              </a:rPr>
              <a:t>WHAT THE COMPARISON REVEALS</a:t>
            </a:r>
            <a:endParaRPr lang="en-US" sz="1100" dirty="0"/>
          </a:p>
        </p:txBody>
      </p:sp>
      <p:sp>
        <p:nvSpPr>
          <p:cNvPr id="48" name="Text 46"/>
          <p:cNvSpPr/>
          <p:nvPr/>
        </p:nvSpPr>
        <p:spPr>
          <a:xfrm>
            <a:off x="822960" y="5687568"/>
            <a:ext cx="10545775" cy="594360"/>
          </a:xfrm>
          <a:prstGeom prst="rect">
            <a:avLst/>
          </a:prstGeom>
          <a:noFill/>
        </p:spPr>
        <p:txBody>
          <a:bodyPr wrap="square" lIns="0" tIns="0" rIns="0" bIns="0" rtlCol="0" anchor="ctr"/>
          <a:lstStyle/>
          <a:p>
            <a:pPr marL="0" indent="0">
              <a:lnSpc>
                <a:spcPct val="122000"/>
              </a:lnSpc>
              <a:buNone/>
            </a:pPr>
            <a:r>
              <a:rPr lang="en-US" sz="1060" dirty="0">
                <a:solidFill>
                  <a:srgbClr val="E4E8F0"/>
                </a:solidFill>
                <a:latin typeface="Calibri" panose="020F0502020204030204" pitchFamily="34" charset="0"/>
                <a:ea typeface="Calibri" panose="020F0502020204030204" pitchFamily="34" charset="-122"/>
                <a:cs typeface="Calibri" panose="020F0502020204030204" pitchFamily="34" charset="-120"/>
              </a:rPr>
              <a:t>Despite fundamentally different construction methods, the Two-Stage PCA and Sarma indices produce highly consistent state rankings and regional patterns. The limited differences are concentrated among a few states, confirming that the study's principal findings are robust to the choice of methodology.</a:t>
            </a:r>
            <a:endParaRPr lang="en-US" sz="1060" dirty="0"/>
          </a:p>
        </p:txBody>
      </p:sp>
      <p:sp>
        <p:nvSpPr>
          <p:cNvPr id="49" name="Text 47"/>
          <p:cNvSpPr/>
          <p:nvPr/>
        </p:nvSpPr>
        <p:spPr>
          <a:xfrm>
            <a:off x="548640" y="6528816"/>
            <a:ext cx="7315200" cy="237744"/>
          </a:xfrm>
          <a:prstGeom prst="rect">
            <a:avLst/>
          </a:prstGeom>
          <a:noFill/>
        </p:spPr>
        <p:txBody>
          <a:bodyPr wrap="square" lIns="0" tIns="0" rIns="0" bIns="0" rtlCol="0" anchor="ctr"/>
          <a:lstStyle/>
          <a:p>
            <a:pPr marL="0" indent="0">
              <a:buNone/>
            </a:pPr>
            <a:r>
              <a:rPr lang="en-US" sz="93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930" dirty="0"/>
          </a:p>
        </p:txBody>
      </p:sp>
      <p:grpSp>
        <p:nvGrpSpPr>
          <p:cNvPr id="54" name="Group 53"/>
          <p:cNvGrpSpPr/>
          <p:nvPr/>
        </p:nvGrpSpPr>
        <p:grpSpPr>
          <a:xfrm>
            <a:off x="6244590" y="2157730"/>
            <a:ext cx="5372735" cy="626110"/>
            <a:chOff x="10154" y="3398"/>
            <a:chExt cx="8620" cy="1012"/>
          </a:xfrm>
        </p:grpSpPr>
        <p:grpSp>
          <p:nvGrpSpPr>
            <p:cNvPr id="51" name="Group 50"/>
            <p:cNvGrpSpPr/>
            <p:nvPr/>
          </p:nvGrpSpPr>
          <p:grpSpPr>
            <a:xfrm>
              <a:off x="10154" y="3398"/>
              <a:ext cx="5542" cy="1013"/>
              <a:chOff x="10154" y="3398"/>
              <a:chExt cx="7808" cy="1080"/>
            </a:xfrm>
          </p:grpSpPr>
          <p:sp>
            <p:nvSpPr>
              <p:cNvPr id="14" name="Shape 12"/>
              <p:cNvSpPr/>
              <p:nvPr/>
            </p:nvSpPr>
            <p:spPr>
              <a:xfrm>
                <a:off x="14058" y="3470"/>
                <a:ext cx="0" cy="1008"/>
              </a:xfrm>
              <a:prstGeom prst="line">
                <a:avLst/>
              </a:prstGeom>
              <a:noFill/>
              <a:ln w="12700">
                <a:solidFill>
                  <a:srgbClr val="E1E1DD"/>
                </a:solidFill>
                <a:prstDash val="solid"/>
              </a:ln>
            </p:spPr>
          </p:sp>
          <p:grpSp>
            <p:nvGrpSpPr>
              <p:cNvPr id="50" name="Group 49"/>
              <p:cNvGrpSpPr/>
              <p:nvPr/>
            </p:nvGrpSpPr>
            <p:grpSpPr>
              <a:xfrm>
                <a:off x="10154" y="3398"/>
                <a:ext cx="7808" cy="1080"/>
                <a:chOff x="10154" y="3398"/>
                <a:chExt cx="7808" cy="1080"/>
              </a:xfrm>
            </p:grpSpPr>
            <p:sp>
              <p:nvSpPr>
                <p:cNvPr id="12" name="Text 10"/>
                <p:cNvSpPr/>
                <p:nvPr/>
              </p:nvSpPr>
              <p:spPr>
                <a:xfrm>
                  <a:off x="10154" y="3398"/>
                  <a:ext cx="3597" cy="864"/>
                </a:xfrm>
                <a:prstGeom prst="rect">
                  <a:avLst/>
                </a:prstGeom>
                <a:noFill/>
              </p:spPr>
              <p:txBody>
                <a:bodyPr wrap="square" lIns="0" tIns="0" rIns="0" bIns="0" rtlCol="0" anchor="ctr"/>
                <a:lstStyle/>
                <a:p>
                  <a:pPr marL="0" indent="0" algn="ctr">
                    <a:buNone/>
                  </a:pPr>
                  <a:r>
                    <a:rPr lang="en-US" sz="2800" b="1" dirty="0">
                      <a:solidFill>
                        <a:srgbClr val="16233F"/>
                      </a:solidFill>
                      <a:latin typeface="Cambria" panose="02040503050406030204" pitchFamily="34" charset="0"/>
                      <a:ea typeface="Cambria" panose="02040503050406030204" pitchFamily="34" charset="-122"/>
                      <a:cs typeface="Cambria" panose="02040503050406030204" pitchFamily="34" charset="-120"/>
                    </a:rPr>
                    <a:t>r = 0.919</a:t>
                  </a:r>
                  <a:endParaRPr lang="en-US" sz="2800" b="1" dirty="0">
                    <a:solidFill>
                      <a:srgbClr val="16233F"/>
                    </a:solidFill>
                    <a:latin typeface="Cambria" panose="02040503050406030204" pitchFamily="34" charset="0"/>
                    <a:ea typeface="Cambria" panose="02040503050406030204" pitchFamily="34" charset="-122"/>
                    <a:cs typeface="Cambria" panose="02040503050406030204" pitchFamily="34" charset="-120"/>
                  </a:endParaRPr>
                </a:p>
              </p:txBody>
            </p:sp>
            <p:sp>
              <p:nvSpPr>
                <p:cNvPr id="13" name="Text 11"/>
                <p:cNvSpPr/>
                <p:nvPr/>
              </p:nvSpPr>
              <p:spPr>
                <a:xfrm>
                  <a:off x="10155" y="4104"/>
                  <a:ext cx="3903" cy="374"/>
                </a:xfrm>
                <a:prstGeom prst="rect">
                  <a:avLst/>
                </a:prstGeom>
                <a:noFill/>
              </p:spPr>
              <p:txBody>
                <a:bodyPr wrap="square" lIns="0" tIns="0" rIns="0" bIns="0" rtlCol="0" anchor="ctr"/>
                <a:lstStyle/>
                <a:p>
                  <a:pPr marL="0" indent="0" algn="ctr">
                    <a:buNone/>
                  </a:pPr>
                  <a:r>
                    <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rPr>
                    <a:t>Pearson correlation</a:t>
                  </a:r>
                  <a:endPar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14198" y="3398"/>
                  <a:ext cx="3763" cy="864"/>
                </a:xfrm>
                <a:prstGeom prst="rect">
                  <a:avLst/>
                </a:prstGeom>
                <a:noFill/>
              </p:spPr>
              <p:txBody>
                <a:bodyPr wrap="square" lIns="0" tIns="0" rIns="0" bIns="0" rtlCol="0" anchor="ctr"/>
                <a:lstStyle/>
                <a:p>
                  <a:pPr marL="0" indent="0" algn="ctr">
                    <a:buNone/>
                  </a:pPr>
                  <a:r>
                    <a:rPr lang="en-US" sz="2800" b="1" dirty="0">
                      <a:solidFill>
                        <a:srgbClr val="16233F"/>
                      </a:solidFill>
                      <a:latin typeface="Cambria" panose="02040503050406030204" pitchFamily="34" charset="0"/>
                      <a:ea typeface="Cambria" panose="02040503050406030204" pitchFamily="34" charset="-122"/>
                      <a:cs typeface="Cambria" panose="02040503050406030204" pitchFamily="34" charset="-120"/>
                    </a:rPr>
                    <a:t>ρ = 0.979</a:t>
                  </a:r>
                  <a:endParaRPr lang="en-US" sz="2800" b="1" dirty="0">
                    <a:solidFill>
                      <a:srgbClr val="16233F"/>
                    </a:solidFill>
                    <a:latin typeface="Cambria" panose="02040503050406030204" pitchFamily="34" charset="0"/>
                    <a:ea typeface="Cambria" panose="02040503050406030204" pitchFamily="34" charset="-122"/>
                    <a:cs typeface="Cambria" panose="02040503050406030204" pitchFamily="34" charset="-120"/>
                  </a:endParaRPr>
                </a:p>
              </p:txBody>
            </p:sp>
            <p:sp>
              <p:nvSpPr>
                <p:cNvPr id="16" name="Text 14"/>
                <p:cNvSpPr/>
                <p:nvPr/>
              </p:nvSpPr>
              <p:spPr>
                <a:xfrm>
                  <a:off x="14059" y="4104"/>
                  <a:ext cx="3903" cy="374"/>
                </a:xfrm>
                <a:prstGeom prst="rect">
                  <a:avLst/>
                </a:prstGeom>
                <a:noFill/>
              </p:spPr>
              <p:txBody>
                <a:bodyPr wrap="square" lIns="0" tIns="0" rIns="0" bIns="0" rtlCol="0" anchor="ctr"/>
                <a:lstStyle/>
                <a:p>
                  <a:pPr marL="0" indent="0" algn="ctr">
                    <a:buNone/>
                  </a:pPr>
                  <a:r>
                    <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rPr>
                    <a:t>Spearman correlation</a:t>
                  </a:r>
                  <a:endPar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grpSp>
        </p:grpSp>
        <p:sp>
          <p:nvSpPr>
            <p:cNvPr id="52" name="Shape 12"/>
            <p:cNvSpPr/>
            <p:nvPr/>
          </p:nvSpPr>
          <p:spPr>
            <a:xfrm>
              <a:off x="15972" y="3466"/>
              <a:ext cx="0" cy="945"/>
            </a:xfrm>
            <a:prstGeom prst="line">
              <a:avLst/>
            </a:prstGeom>
            <a:noFill/>
            <a:ln w="12700">
              <a:solidFill>
                <a:srgbClr val="E1E1DD"/>
              </a:solidFill>
              <a:prstDash val="solid"/>
            </a:ln>
          </p:spPr>
        </p:sp>
        <p:sp>
          <p:nvSpPr>
            <p:cNvPr id="53" name="Text 13"/>
            <p:cNvSpPr/>
            <p:nvPr/>
          </p:nvSpPr>
          <p:spPr>
            <a:xfrm>
              <a:off x="16104" y="3398"/>
              <a:ext cx="2671" cy="810"/>
            </a:xfrm>
            <a:prstGeom prst="rect">
              <a:avLst/>
            </a:prstGeom>
            <a:noFill/>
          </p:spPr>
          <p:txBody>
            <a:bodyPr wrap="square" lIns="0" tIns="0" rIns="0" bIns="0" rtlCol="0" anchor="ctr"/>
            <a:lstStyle/>
            <a:p>
              <a:pPr marL="0" indent="0" algn="ctr">
                <a:buNone/>
              </a:pPr>
              <a:r>
                <a:rPr lang="en-US" altLang="en-US" sz="2800" b="1" dirty="0">
                  <a:solidFill>
                    <a:srgbClr val="16233F"/>
                  </a:solidFill>
                  <a:latin typeface="Cambria" panose="02040503050406030204" pitchFamily="34" charset="0"/>
                  <a:ea typeface="Cambria" panose="02040503050406030204" pitchFamily="34" charset="-122"/>
                  <a:cs typeface="Cambria" panose="02040503050406030204" pitchFamily="34" charset="-120"/>
                </a:rPr>
                <a:t>τ</a:t>
              </a:r>
              <a:r>
                <a:rPr lang="en-US" sz="2800" b="1" dirty="0">
                  <a:solidFill>
                    <a:srgbClr val="16233F"/>
                  </a:solidFill>
                  <a:latin typeface="Cambria" panose="02040503050406030204" pitchFamily="34" charset="0"/>
                  <a:ea typeface="Cambria" panose="02040503050406030204" pitchFamily="34" charset="-122"/>
                  <a:cs typeface="Cambria" panose="02040503050406030204" pitchFamily="34" charset="-120"/>
                </a:rPr>
                <a:t> = 0.828</a:t>
              </a:r>
              <a:endParaRPr lang="en-US" sz="2800" b="1" dirty="0">
                <a:solidFill>
                  <a:srgbClr val="16233F"/>
                </a:solidFill>
                <a:latin typeface="Cambria" panose="02040503050406030204" pitchFamily="34" charset="0"/>
                <a:ea typeface="Cambria" panose="02040503050406030204" pitchFamily="34" charset="-122"/>
                <a:cs typeface="Cambria" panose="02040503050406030204" pitchFamily="34" charset="-120"/>
              </a:endParaRPr>
            </a:p>
          </p:txBody>
        </p:sp>
      </p:grpSp>
      <p:sp>
        <p:nvSpPr>
          <p:cNvPr id="55" name="Text 14"/>
          <p:cNvSpPr/>
          <p:nvPr/>
        </p:nvSpPr>
        <p:spPr>
          <a:xfrm>
            <a:off x="9890971" y="2567193"/>
            <a:ext cx="1726899" cy="217266"/>
          </a:xfrm>
          <a:prstGeom prst="rect">
            <a:avLst/>
          </a:prstGeom>
          <a:noFill/>
        </p:spPr>
        <p:txBody>
          <a:bodyPr wrap="square" lIns="0" tIns="0" rIns="0" bIns="0" rtlCol="0" anchor="ctr"/>
          <a:lstStyle/>
          <a:p>
            <a:pPr marL="0" indent="0" algn="ctr">
              <a:buNone/>
            </a:pPr>
            <a:r>
              <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rPr>
              <a:t>Kendall’s tau</a:t>
            </a:r>
            <a:endParaRPr lang="en-US" sz="9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548640" y="329184"/>
            <a:ext cx="7315200" cy="256032"/>
          </a:xfrm>
          <a:prstGeom prst="rect">
            <a:avLst/>
          </a:prstGeom>
          <a:noFill/>
        </p:spPr>
        <p:txBody>
          <a:bodyPr wrap="square" lIns="0" tIns="0" rIns="0" bIns="0" rtlCol="0" anchor="ctr"/>
          <a:lstStyle/>
          <a:p>
            <a:pPr marL="0" indent="0">
              <a:buNone/>
            </a:pPr>
            <a:r>
              <a:rPr lang="en-US" sz="115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13  ·  DIMENSIONAL ANALYSIS</a:t>
            </a:r>
            <a:endParaRPr lang="en-US" sz="1150" dirty="0"/>
          </a:p>
        </p:txBody>
      </p:sp>
      <p:sp>
        <p:nvSpPr>
          <p:cNvPr id="3" name="Shape 1"/>
          <p:cNvSpPr/>
          <p:nvPr/>
        </p:nvSpPr>
        <p:spPr>
          <a:xfrm>
            <a:off x="548640" y="640080"/>
            <a:ext cx="502920" cy="0"/>
          </a:xfrm>
          <a:prstGeom prst="line">
            <a:avLst/>
          </a:prstGeom>
          <a:noFill/>
          <a:ln w="28575">
            <a:solidFill>
              <a:srgbClr val="16233F"/>
            </a:solidFill>
            <a:prstDash val="solid"/>
          </a:ln>
        </p:spPr>
      </p:sp>
      <p:sp>
        <p:nvSpPr>
          <p:cNvPr id="4" name="Text 2"/>
          <p:cNvSpPr/>
          <p:nvPr/>
        </p:nvSpPr>
        <p:spPr>
          <a:xfrm>
            <a:off x="548640" y="713232"/>
            <a:ext cx="11094415" cy="402336"/>
          </a:xfrm>
          <a:prstGeom prst="rect">
            <a:avLst/>
          </a:prstGeom>
          <a:noFill/>
        </p:spPr>
        <p:txBody>
          <a:bodyPr wrap="square" lIns="0" tIns="0" rIns="0" bIns="0" rtlCol="0" anchor="ctr"/>
          <a:lstStyle/>
          <a:p>
            <a:pPr marL="0" indent="0">
              <a:buNone/>
            </a:pPr>
            <a:r>
              <a:rPr lang="en-US" sz="2250" b="1" dirty="0">
                <a:solidFill>
                  <a:srgbClr val="16233F"/>
                </a:solidFill>
                <a:latin typeface="Cambria" panose="02040503050406030204" pitchFamily="34" charset="0"/>
                <a:ea typeface="Cambria" panose="02040503050406030204" pitchFamily="34" charset="-122"/>
                <a:cs typeface="Cambria" panose="02040503050406030204" pitchFamily="34" charset="-120"/>
              </a:rPr>
              <a:t>Financial Inclusion Has Shifted from Access to Active Usage</a:t>
            </a:r>
            <a:endParaRPr lang="en-US" sz="2250" dirty="0"/>
          </a:p>
        </p:txBody>
      </p:sp>
      <p:sp>
        <p:nvSpPr>
          <p:cNvPr id="5" name="Text 3"/>
          <p:cNvSpPr/>
          <p:nvPr/>
        </p:nvSpPr>
        <p:spPr>
          <a:xfrm>
            <a:off x="548640" y="1097280"/>
            <a:ext cx="11094415" cy="237744"/>
          </a:xfrm>
          <a:prstGeom prst="rect">
            <a:avLst/>
          </a:prstGeom>
          <a:noFill/>
        </p:spPr>
        <p:txBody>
          <a:bodyPr wrap="square" lIns="0" tIns="0" rIns="0" bIns="0" rtlCol="0" anchor="ctr"/>
          <a:lstStyle/>
          <a:p>
            <a:pPr marL="0" indent="0">
              <a:buNone/>
            </a:pPr>
            <a:r>
              <a:rPr lang="en-US" sz="1150" i="1" dirty="0">
                <a:solidFill>
                  <a:srgbClr val="5B6472"/>
                </a:solidFill>
                <a:latin typeface="Calibri" panose="020F0502020204030204" pitchFamily="34" charset="0"/>
                <a:ea typeface="Calibri" panose="020F0502020204030204" pitchFamily="34" charset="-122"/>
                <a:cs typeface="Calibri" panose="020F0502020204030204" pitchFamily="34" charset="-120"/>
              </a:rPr>
              <a:t>National performance across the three dimensions of financial inclusion (2016–17 to 2024–25)</a:t>
            </a:r>
            <a:endParaRPr lang="en-US" sz="1150" dirty="0"/>
          </a:p>
        </p:txBody>
      </p:sp>
      <p:grpSp>
        <p:nvGrpSpPr>
          <p:cNvPr id="35" name="Group 34"/>
          <p:cNvGrpSpPr/>
          <p:nvPr/>
        </p:nvGrpSpPr>
        <p:grpSpPr>
          <a:xfrm>
            <a:off x="6972300" y="1370965"/>
            <a:ext cx="4775835" cy="3057525"/>
            <a:chOff x="9860" y="2042"/>
            <a:chExt cx="8210" cy="5040"/>
          </a:xfrm>
        </p:grpSpPr>
        <p:sp>
          <p:nvSpPr>
            <p:cNvPr id="6" name="Shape 4"/>
            <p:cNvSpPr/>
            <p:nvPr/>
          </p:nvSpPr>
          <p:spPr>
            <a:xfrm>
              <a:off x="9860" y="2042"/>
              <a:ext cx="8211" cy="5040"/>
            </a:xfrm>
            <a:prstGeom prst="rect">
              <a:avLst/>
            </a:prstGeom>
            <a:solidFill>
              <a:srgbClr val="FFFFFF"/>
            </a:solidFill>
            <a:ln w="12700">
              <a:solidFill>
                <a:srgbClr val="E1E1DD"/>
              </a:solidFill>
              <a:prstDash val="solid"/>
            </a:ln>
          </p:spPr>
          <p:txBody>
            <a:bodyPr/>
            <a:p>
              <a:endParaRPr lang="en-US"/>
            </a:p>
          </p:txBody>
        </p:sp>
        <p:pic>
          <p:nvPicPr>
            <p:cNvPr id="7" name="Image 0" descr="/home/claude/build/slide11_assets/fig6_10_cropped.png"/>
            <p:cNvPicPr>
              <a:picLocks noChangeAspect="1"/>
            </p:cNvPicPr>
            <p:nvPr/>
          </p:nvPicPr>
          <p:blipFill>
            <a:blip r:embed="rId1"/>
            <a:stretch>
              <a:fillRect/>
            </a:stretch>
          </p:blipFill>
          <p:spPr>
            <a:xfrm>
              <a:off x="9966" y="2277"/>
              <a:ext cx="7812" cy="4696"/>
            </a:xfrm>
            <a:prstGeom prst="rect">
              <a:avLst/>
            </a:prstGeom>
            <a:ln>
              <a:noFill/>
            </a:ln>
          </p:spPr>
        </p:pic>
      </p:grpSp>
      <p:grpSp>
        <p:nvGrpSpPr>
          <p:cNvPr id="53" name="Group 52"/>
          <p:cNvGrpSpPr/>
          <p:nvPr/>
        </p:nvGrpSpPr>
        <p:grpSpPr>
          <a:xfrm>
            <a:off x="6972300" y="5905467"/>
            <a:ext cx="4815708" cy="861345"/>
            <a:chOff x="864" y="9008"/>
            <a:chExt cx="17472" cy="1123"/>
          </a:xfrm>
        </p:grpSpPr>
        <p:sp>
          <p:nvSpPr>
            <p:cNvPr id="27" name="Shape 24"/>
            <p:cNvSpPr/>
            <p:nvPr/>
          </p:nvSpPr>
          <p:spPr>
            <a:xfrm>
              <a:off x="864" y="9008"/>
              <a:ext cx="17472" cy="1123"/>
            </a:xfrm>
            <a:prstGeom prst="roundRect">
              <a:avLst>
                <a:gd name="adj" fmla="val 11538"/>
              </a:avLst>
            </a:prstGeom>
            <a:solidFill>
              <a:srgbClr val="16233F"/>
            </a:solidFill>
          </p:spPr>
        </p:sp>
        <p:sp>
          <p:nvSpPr>
            <p:cNvPr id="28" name="Text 25"/>
            <p:cNvSpPr/>
            <p:nvPr/>
          </p:nvSpPr>
          <p:spPr>
            <a:xfrm>
              <a:off x="1267" y="9008"/>
              <a:ext cx="16665" cy="317"/>
            </a:xfrm>
            <a:prstGeom prst="rect">
              <a:avLst/>
            </a:prstGeom>
            <a:noFill/>
          </p:spPr>
          <p:txBody>
            <a:bodyPr wrap="square" lIns="0" tIns="0" rIns="0" bIns="0" rtlCol="0" anchor="ctr"/>
            <a:lstStyle/>
            <a:p>
              <a:pPr marL="0" indent="0">
                <a:buNone/>
              </a:pPr>
              <a:r>
                <a:rPr lang="en-US" sz="900" b="1" kern="0" spc="60" dirty="0">
                  <a:solidFill>
                    <a:srgbClr val="FFFFFF"/>
                  </a:solidFill>
                  <a:latin typeface="Calibri" panose="020F0502020204030204" pitchFamily="34" charset="0"/>
                  <a:ea typeface="Calibri" panose="020F0502020204030204" pitchFamily="34" charset="-122"/>
                  <a:cs typeface="Calibri" panose="020F0502020204030204" pitchFamily="34" charset="-120"/>
                </a:rPr>
                <a:t>WHAT THE TRENDS REVEAL</a:t>
              </a:r>
              <a:endParaRPr lang="en-US" sz="900" dirty="0"/>
            </a:p>
          </p:txBody>
        </p:sp>
        <p:sp>
          <p:nvSpPr>
            <p:cNvPr id="29" name="Text 26"/>
            <p:cNvSpPr/>
            <p:nvPr/>
          </p:nvSpPr>
          <p:spPr>
            <a:xfrm>
              <a:off x="1267" y="9374"/>
              <a:ext cx="16665" cy="547"/>
            </a:xfrm>
            <a:prstGeom prst="rect">
              <a:avLst/>
            </a:prstGeom>
            <a:noFill/>
          </p:spPr>
          <p:txBody>
            <a:bodyPr wrap="square" lIns="0" tIns="0" rIns="0" bIns="0" rtlCol="0" anchor="ctr"/>
            <a:lstStyle/>
            <a:p>
              <a:pPr marL="0" indent="0">
                <a:lnSpc>
                  <a:spcPct val="115000"/>
                </a:lnSpc>
                <a:buNone/>
              </a:pPr>
              <a:r>
                <a:rPr lang="en-US" sz="850" dirty="0">
                  <a:solidFill>
                    <a:srgbClr val="E4E8F0"/>
                  </a:solidFill>
                  <a:latin typeface="Calibri" panose="020F0502020204030204" pitchFamily="34" charset="0"/>
                  <a:ea typeface="Calibri" panose="020F0502020204030204" pitchFamily="34" charset="-122"/>
                  <a:cs typeface="Calibri" panose="020F0502020204030204" pitchFamily="34" charset="-120"/>
                </a:rPr>
                <a:t>Financial inclusion </a:t>
              </a:r>
              <a:r>
                <a:rPr lang="en-US" altLang="en-US" sz="850" dirty="0">
                  <a:solidFill>
                    <a:srgbClr val="E4E8F0"/>
                  </a:solidFill>
                  <a:latin typeface="Calibri" panose="020F0502020204030204" pitchFamily="34" charset="0"/>
                  <a:ea typeface="Calibri" panose="020F0502020204030204" pitchFamily="34" charset="-122"/>
                  <a:cs typeface="Calibri" panose="020F0502020204030204" pitchFamily="34" charset="-120"/>
                </a:rPr>
                <a:t>has evolved from expanding financial access to increasing the active use of formal financial services. However, this transition has been uneven across regions, with the Western region driving much of the improvement while Central, Eastern and North-Eastern regions continue to lag across all three dimensions.</a:t>
              </a:r>
              <a:endParaRPr lang="en-US" altLang="en-US" sz="850" dirty="0">
                <a:solidFill>
                  <a:srgbClr val="E4E8F0"/>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30" name="Text 27"/>
          <p:cNvSpPr/>
          <p:nvPr/>
        </p:nvSpPr>
        <p:spPr>
          <a:xfrm>
            <a:off x="548640" y="6547104"/>
            <a:ext cx="7315200" cy="219456"/>
          </a:xfrm>
          <a:prstGeom prst="rect">
            <a:avLst/>
          </a:prstGeom>
          <a:noFill/>
        </p:spPr>
        <p:txBody>
          <a:bodyPr wrap="square" lIns="0" tIns="0" rIns="0" bIns="0" rtlCol="0" anchor="ctr"/>
          <a:lstStyle/>
          <a:p>
            <a:pPr marL="0" indent="0">
              <a:buNone/>
            </a:pPr>
            <a:r>
              <a:rPr lang="en-US" sz="90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900" dirty="0"/>
          </a:p>
        </p:txBody>
      </p:sp>
      <p:grpSp>
        <p:nvGrpSpPr>
          <p:cNvPr id="85" name="Group 84"/>
          <p:cNvGrpSpPr/>
          <p:nvPr/>
        </p:nvGrpSpPr>
        <p:grpSpPr>
          <a:xfrm>
            <a:off x="6964680" y="4584065"/>
            <a:ext cx="4820920" cy="1226104"/>
            <a:chOff x="10980" y="7366"/>
            <a:chExt cx="7592" cy="2213"/>
          </a:xfrm>
        </p:grpSpPr>
        <p:grpSp>
          <p:nvGrpSpPr>
            <p:cNvPr id="84" name="Group 83"/>
            <p:cNvGrpSpPr/>
            <p:nvPr/>
          </p:nvGrpSpPr>
          <p:grpSpPr>
            <a:xfrm>
              <a:off x="10980" y="7366"/>
              <a:ext cx="7518" cy="2213"/>
              <a:chOff x="10980" y="7366"/>
              <a:chExt cx="7518" cy="2213"/>
            </a:xfrm>
          </p:grpSpPr>
          <p:sp>
            <p:nvSpPr>
              <p:cNvPr id="8" name="Shape 5"/>
              <p:cNvSpPr/>
              <p:nvPr/>
            </p:nvSpPr>
            <p:spPr>
              <a:xfrm>
                <a:off x="10980" y="7366"/>
                <a:ext cx="7518" cy="2213"/>
              </a:xfrm>
              <a:prstGeom prst="roundRect">
                <a:avLst>
                  <a:gd name="adj" fmla="val 8000"/>
                </a:avLst>
              </a:prstGeom>
              <a:solidFill>
                <a:srgbClr val="F4F4F2"/>
              </a:solidFill>
              <a:ln w="12700">
                <a:solidFill>
                  <a:srgbClr val="E1E1DD"/>
                </a:solidFill>
                <a:prstDash val="solid"/>
              </a:ln>
            </p:spPr>
          </p:sp>
          <p:sp>
            <p:nvSpPr>
              <p:cNvPr id="9" name="Text 6"/>
              <p:cNvSpPr/>
              <p:nvPr/>
            </p:nvSpPr>
            <p:spPr>
              <a:xfrm>
                <a:off x="11284" y="7511"/>
                <a:ext cx="6910" cy="319"/>
              </a:xfrm>
              <a:prstGeom prst="rect">
                <a:avLst/>
              </a:prstGeom>
              <a:noFill/>
            </p:spPr>
            <p:txBody>
              <a:bodyPr wrap="square" lIns="0" tIns="0" rIns="0" bIns="0" rtlCol="0" anchor="ctr"/>
              <a:lstStyle/>
              <a:p>
                <a:pPr marL="0" indent="0">
                  <a:buNone/>
                </a:pPr>
                <a:r>
                  <a:rPr lang="en-US" sz="960" b="1" kern="0" spc="50" dirty="0">
                    <a:solidFill>
                      <a:srgbClr val="16233F"/>
                    </a:solidFill>
                    <a:latin typeface="Calibri" panose="020F0502020204030204" pitchFamily="34" charset="0"/>
                    <a:ea typeface="Calibri" panose="020F0502020204030204" pitchFamily="34" charset="-122"/>
                    <a:cs typeface="Calibri" panose="020F0502020204030204" pitchFamily="34" charset="-120"/>
                  </a:rPr>
                  <a:t>DIMENSION GROWTH, 2016–17 → 2024–25</a:t>
                </a:r>
                <a:endParaRPr lang="en-US" sz="960" dirty="0"/>
              </a:p>
            </p:txBody>
          </p:sp>
          <p:sp>
            <p:nvSpPr>
              <p:cNvPr id="10" name="Text 7"/>
              <p:cNvSpPr/>
              <p:nvPr/>
            </p:nvSpPr>
            <p:spPr>
              <a:xfrm>
                <a:off x="11284" y="7889"/>
                <a:ext cx="1266" cy="268"/>
              </a:xfrm>
              <a:prstGeom prst="rect">
                <a:avLst/>
              </a:prstGeom>
              <a:noFill/>
            </p:spPr>
            <p:txBody>
              <a:bodyPr wrap="square" lIns="0" tIns="0" rIns="0" bIns="0" rtlCol="0" anchor="ctr"/>
              <a:lstStyle/>
              <a:p>
                <a:pPr marL="0" indent="0">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Usage</a:t>
                </a:r>
                <a:endParaRPr lang="en-US" sz="930" dirty="0"/>
              </a:p>
            </p:txBody>
          </p:sp>
          <p:sp>
            <p:nvSpPr>
              <p:cNvPr id="11" name="Shape 8"/>
              <p:cNvSpPr/>
              <p:nvPr/>
            </p:nvSpPr>
            <p:spPr>
              <a:xfrm>
                <a:off x="12549" y="7918"/>
                <a:ext cx="4860" cy="181"/>
              </a:xfrm>
              <a:prstGeom prst="roundRect">
                <a:avLst>
                  <a:gd name="adj" fmla="val 24000"/>
                </a:avLst>
              </a:prstGeom>
              <a:solidFill>
                <a:srgbClr val="E7E8E4"/>
              </a:solidFill>
            </p:spPr>
          </p:sp>
          <p:sp>
            <p:nvSpPr>
              <p:cNvPr id="12" name="Shape 9"/>
              <p:cNvSpPr/>
              <p:nvPr/>
            </p:nvSpPr>
            <p:spPr>
              <a:xfrm>
                <a:off x="12549" y="7918"/>
                <a:ext cx="4860" cy="181"/>
              </a:xfrm>
              <a:prstGeom prst="roundRect">
                <a:avLst>
                  <a:gd name="adj" fmla="val 24000"/>
                </a:avLst>
              </a:prstGeom>
              <a:solidFill>
                <a:srgbClr val="16233F"/>
              </a:solidFill>
            </p:spPr>
          </p:sp>
          <p:sp>
            <p:nvSpPr>
              <p:cNvPr id="14" name="Text 11"/>
              <p:cNvSpPr/>
              <p:nvPr/>
            </p:nvSpPr>
            <p:spPr>
              <a:xfrm>
                <a:off x="11284" y="8215"/>
                <a:ext cx="1266" cy="268"/>
              </a:xfrm>
              <a:prstGeom prst="rect">
                <a:avLst/>
              </a:prstGeom>
              <a:noFill/>
            </p:spPr>
            <p:txBody>
              <a:bodyPr wrap="square" lIns="0" tIns="0" rIns="0" bIns="0" rtlCol="0" anchor="ctr"/>
              <a:lstStyle/>
              <a:p>
                <a:pPr marL="0" indent="0">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Penetration</a:t>
                </a:r>
                <a:endParaRPr lang="en-US" sz="930" dirty="0"/>
              </a:p>
            </p:txBody>
          </p:sp>
          <p:sp>
            <p:nvSpPr>
              <p:cNvPr id="15" name="Shape 12"/>
              <p:cNvSpPr/>
              <p:nvPr/>
            </p:nvSpPr>
            <p:spPr>
              <a:xfrm>
                <a:off x="12549" y="8245"/>
                <a:ext cx="4860" cy="181"/>
              </a:xfrm>
              <a:prstGeom prst="roundRect">
                <a:avLst>
                  <a:gd name="adj" fmla="val 24000"/>
                </a:avLst>
              </a:prstGeom>
              <a:solidFill>
                <a:srgbClr val="E7E8E4"/>
              </a:solidFill>
            </p:spPr>
          </p:sp>
          <p:sp>
            <p:nvSpPr>
              <p:cNvPr id="16" name="Shape 13"/>
              <p:cNvSpPr/>
              <p:nvPr/>
            </p:nvSpPr>
            <p:spPr>
              <a:xfrm>
                <a:off x="12549" y="8245"/>
                <a:ext cx="3294" cy="181"/>
              </a:xfrm>
              <a:prstGeom prst="roundRect">
                <a:avLst>
                  <a:gd name="adj" fmla="val 24000"/>
                </a:avLst>
              </a:prstGeom>
              <a:solidFill>
                <a:srgbClr val="63769A"/>
              </a:solidFill>
            </p:spPr>
          </p:sp>
          <p:sp>
            <p:nvSpPr>
              <p:cNvPr id="18" name="Text 15"/>
              <p:cNvSpPr/>
              <p:nvPr/>
            </p:nvSpPr>
            <p:spPr>
              <a:xfrm>
                <a:off x="11284" y="8542"/>
                <a:ext cx="1266" cy="268"/>
              </a:xfrm>
              <a:prstGeom prst="rect">
                <a:avLst/>
              </a:prstGeom>
              <a:noFill/>
            </p:spPr>
            <p:txBody>
              <a:bodyPr wrap="square" lIns="0" tIns="0" rIns="0" bIns="0" rtlCol="0" anchor="ctr"/>
              <a:lstStyle/>
              <a:p>
                <a:pPr marL="0" indent="0">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Availability</a:t>
                </a:r>
                <a:endParaRPr lang="en-US" sz="930" dirty="0"/>
              </a:p>
            </p:txBody>
          </p:sp>
          <p:sp>
            <p:nvSpPr>
              <p:cNvPr id="19" name="Shape 16"/>
              <p:cNvSpPr/>
              <p:nvPr/>
            </p:nvSpPr>
            <p:spPr>
              <a:xfrm>
                <a:off x="12549" y="8571"/>
                <a:ext cx="4860" cy="181"/>
              </a:xfrm>
              <a:prstGeom prst="roundRect">
                <a:avLst>
                  <a:gd name="adj" fmla="val 24000"/>
                </a:avLst>
              </a:prstGeom>
              <a:solidFill>
                <a:srgbClr val="E7E8E4"/>
              </a:solidFill>
            </p:spPr>
          </p:sp>
          <p:sp>
            <p:nvSpPr>
              <p:cNvPr id="20" name="Shape 17"/>
              <p:cNvSpPr/>
              <p:nvPr/>
            </p:nvSpPr>
            <p:spPr>
              <a:xfrm>
                <a:off x="12549" y="8571"/>
                <a:ext cx="1190" cy="181"/>
              </a:xfrm>
              <a:prstGeom prst="roundRect">
                <a:avLst>
                  <a:gd name="adj" fmla="val 24000"/>
                </a:avLst>
              </a:prstGeom>
              <a:solidFill>
                <a:srgbClr val="AEB6C4"/>
              </a:solidFill>
            </p:spPr>
          </p:sp>
        </p:grpSp>
        <p:grpSp>
          <p:nvGrpSpPr>
            <p:cNvPr id="46" name="Group 45"/>
            <p:cNvGrpSpPr/>
            <p:nvPr/>
          </p:nvGrpSpPr>
          <p:grpSpPr>
            <a:xfrm>
              <a:off x="11075" y="8873"/>
              <a:ext cx="7497" cy="596"/>
              <a:chOff x="11278" y="7510"/>
              <a:chExt cx="13058" cy="596"/>
            </a:xfrm>
          </p:grpSpPr>
          <p:sp>
            <p:nvSpPr>
              <p:cNvPr id="47" name="Text 20"/>
              <p:cNvSpPr/>
              <p:nvPr/>
            </p:nvSpPr>
            <p:spPr>
              <a:xfrm>
                <a:off x="11278" y="7510"/>
                <a:ext cx="6761" cy="317"/>
              </a:xfrm>
              <a:prstGeom prst="rect">
                <a:avLst/>
              </a:prstGeom>
              <a:noFill/>
            </p:spPr>
            <p:txBody>
              <a:bodyPr wrap="square" lIns="0" tIns="0" rIns="0" bIns="0" rtlCol="0" anchor="ctr"/>
              <a:lstStyle/>
              <a:p>
                <a:pPr marL="0" indent="0">
                  <a:buNone/>
                </a:pPr>
                <a:r>
                  <a:rPr lang="en-US" sz="800" b="1" kern="0" spc="50" dirty="0">
                    <a:solidFill>
                      <a:srgbClr val="16233F"/>
                    </a:solidFill>
                    <a:latin typeface="Calibri" panose="020F0502020204030204" pitchFamily="34" charset="0"/>
                    <a:ea typeface="Calibri" panose="020F0502020204030204" pitchFamily="34" charset="-122"/>
                    <a:cs typeface="Calibri" panose="020F0502020204030204" pitchFamily="34" charset="-120"/>
                  </a:rPr>
                  <a:t>NATIONAL TRANSITION</a:t>
                </a:r>
                <a:endParaRPr lang="en-US" sz="800" b="1" kern="0" spc="50"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48" name="Text 21"/>
              <p:cNvSpPr/>
              <p:nvPr/>
            </p:nvSpPr>
            <p:spPr>
              <a:xfrm>
                <a:off x="11278" y="7760"/>
                <a:ext cx="6761" cy="346"/>
              </a:xfrm>
              <a:prstGeom prst="rect">
                <a:avLst/>
              </a:prstGeom>
              <a:noFill/>
            </p:spPr>
            <p:txBody>
              <a:bodyPr wrap="square" lIns="0" tIns="0" rIns="0" bIns="0" rtlCol="0" anchor="ctr"/>
              <a:lstStyle/>
              <a:p>
                <a:pPr marL="0" indent="0">
                  <a:buNone/>
                </a:pPr>
                <a:r>
                  <a:rPr lang="en-US" sz="800" b="1" dirty="0">
                    <a:solidFill>
                      <a:srgbClr val="16233F"/>
                    </a:solidFill>
                    <a:latin typeface="Calibri" panose="020F0502020204030204" pitchFamily="34" charset="0"/>
                    <a:ea typeface="Calibri" panose="020F0502020204030204" pitchFamily="34" charset="-122"/>
                    <a:cs typeface="Calibri" panose="020F0502020204030204" pitchFamily="34" charset="-120"/>
                  </a:rPr>
                  <a:t>2016–17   </a:t>
                </a:r>
                <a:r>
                  <a:rPr lang="en-US" sz="800" dirty="0">
                    <a:solidFill>
                      <a:srgbClr val="2B2F36"/>
                    </a:solidFill>
                    <a:latin typeface="Calibri" panose="020F0502020204030204" pitchFamily="34" charset="0"/>
                    <a:ea typeface="Calibri" panose="020F0502020204030204" pitchFamily="34" charset="-122"/>
                    <a:cs typeface="Calibri" panose="020F0502020204030204" pitchFamily="34" charset="-120"/>
                  </a:rPr>
                  <a:t>Availability was the strongest dimension</a:t>
                </a:r>
                <a:endParaRPr lang="en-US" sz="800" dirty="0"/>
              </a:p>
            </p:txBody>
          </p:sp>
          <p:sp>
            <p:nvSpPr>
              <p:cNvPr id="49" name="Text 22"/>
              <p:cNvSpPr/>
              <p:nvPr/>
            </p:nvSpPr>
            <p:spPr>
              <a:xfrm rot="16200000">
                <a:off x="17153" y="7666"/>
                <a:ext cx="244" cy="467"/>
              </a:xfrm>
              <a:prstGeom prst="rect">
                <a:avLst/>
              </a:prstGeom>
              <a:noFill/>
            </p:spPr>
            <p:txBody>
              <a:bodyPr wrap="square" lIns="0" tIns="0" rIns="0" bIns="0" rtlCol="0" anchor="ctr"/>
              <a:lstStyle/>
              <a:p>
                <a:pPr marL="0" indent="0" algn="l">
                  <a:buNone/>
                </a:pPr>
                <a:r>
                  <a:rPr lang="en-US" sz="800" b="1" dirty="0">
                    <a:solidFill>
                      <a:srgbClr val="9AA3B5"/>
                    </a:solidFill>
                    <a:latin typeface="Calibri" panose="020F0502020204030204" pitchFamily="34" charset="0"/>
                    <a:ea typeface="Calibri" panose="020F0502020204030204" pitchFamily="34" charset="-122"/>
                    <a:cs typeface="Calibri" panose="020F0502020204030204" pitchFamily="34" charset="-120"/>
                  </a:rPr>
                  <a:t>↓</a:t>
                </a:r>
                <a:endParaRPr lang="en-US" sz="800" b="1" dirty="0">
                  <a:solidFill>
                    <a:srgbClr val="9AA3B5"/>
                  </a:solidFill>
                  <a:latin typeface="Calibri" panose="020F0502020204030204" pitchFamily="34" charset="0"/>
                  <a:ea typeface="Calibri" panose="020F0502020204030204" pitchFamily="34" charset="-122"/>
                  <a:cs typeface="Calibri" panose="020F0502020204030204" pitchFamily="34" charset="-120"/>
                </a:endParaRPr>
              </a:p>
            </p:txBody>
          </p:sp>
          <p:sp>
            <p:nvSpPr>
              <p:cNvPr id="50" name="Text 23"/>
              <p:cNvSpPr/>
              <p:nvPr/>
            </p:nvSpPr>
            <p:spPr>
              <a:xfrm>
                <a:off x="17575" y="7760"/>
                <a:ext cx="6761" cy="346"/>
              </a:xfrm>
              <a:prstGeom prst="rect">
                <a:avLst/>
              </a:prstGeom>
              <a:noFill/>
            </p:spPr>
            <p:txBody>
              <a:bodyPr wrap="square" lIns="0" tIns="0" rIns="0" bIns="0" rtlCol="0" anchor="ctr"/>
              <a:lstStyle/>
              <a:p>
                <a:pPr marL="0" indent="0">
                  <a:buNone/>
                </a:pPr>
                <a:r>
                  <a:rPr lang="en-US" sz="800" b="1" dirty="0">
                    <a:solidFill>
                      <a:srgbClr val="16233F"/>
                    </a:solidFill>
                    <a:latin typeface="Calibri" panose="020F0502020204030204" pitchFamily="34" charset="0"/>
                    <a:ea typeface="Calibri" panose="020F0502020204030204" pitchFamily="34" charset="-122"/>
                    <a:cs typeface="Calibri" panose="020F0502020204030204" pitchFamily="34" charset="-120"/>
                  </a:rPr>
                  <a:t>2024–25   </a:t>
                </a:r>
                <a:r>
                  <a:rPr lang="en-US" sz="800" dirty="0">
                    <a:solidFill>
                      <a:srgbClr val="2B2F36"/>
                    </a:solidFill>
                    <a:latin typeface="Calibri" panose="020F0502020204030204" pitchFamily="34" charset="0"/>
                    <a:ea typeface="Calibri" panose="020F0502020204030204" pitchFamily="34" charset="-122"/>
                    <a:cs typeface="Calibri" panose="020F0502020204030204" pitchFamily="34" charset="-120"/>
                  </a:rPr>
                  <a:t>Usage became the strongest dimension</a:t>
                </a:r>
                <a:endParaRPr lang="en-US" sz="800" dirty="0"/>
              </a:p>
            </p:txBody>
          </p:sp>
        </p:grpSp>
      </p:grpSp>
      <p:grpSp>
        <p:nvGrpSpPr>
          <p:cNvPr id="82" name="Group 81"/>
          <p:cNvGrpSpPr/>
          <p:nvPr/>
        </p:nvGrpSpPr>
        <p:grpSpPr>
          <a:xfrm>
            <a:off x="533400" y="4572000"/>
            <a:ext cx="6271260" cy="1749425"/>
            <a:chOff x="799" y="7346"/>
            <a:chExt cx="9876" cy="1815"/>
          </a:xfrm>
        </p:grpSpPr>
        <p:sp>
          <p:nvSpPr>
            <p:cNvPr id="55" name="Shape 5"/>
            <p:cNvSpPr/>
            <p:nvPr/>
          </p:nvSpPr>
          <p:spPr>
            <a:xfrm>
              <a:off x="799" y="7346"/>
              <a:ext cx="9876" cy="1815"/>
            </a:xfrm>
            <a:prstGeom prst="roundRect">
              <a:avLst>
                <a:gd name="adj" fmla="val 3158"/>
              </a:avLst>
            </a:prstGeom>
            <a:solidFill>
              <a:srgbClr val="F4F4F2"/>
            </a:solidFill>
            <a:ln w="12700">
              <a:solidFill>
                <a:srgbClr val="E1E1DD"/>
              </a:solidFill>
              <a:prstDash val="solid"/>
            </a:ln>
          </p:spPr>
        </p:sp>
        <p:sp>
          <p:nvSpPr>
            <p:cNvPr id="56" name="Text 6"/>
            <p:cNvSpPr/>
            <p:nvPr/>
          </p:nvSpPr>
          <p:spPr>
            <a:xfrm>
              <a:off x="1365" y="7442"/>
              <a:ext cx="8743" cy="153"/>
            </a:xfrm>
            <a:prstGeom prst="rect">
              <a:avLst/>
            </a:prstGeom>
            <a:noFill/>
          </p:spPr>
          <p:txBody>
            <a:bodyPr wrap="square" lIns="0" tIns="0" rIns="0" bIns="0" rtlCol="0" anchor="ctr"/>
            <a:lstStyle/>
            <a:p>
              <a:pPr marL="0" indent="0">
                <a:buNone/>
              </a:pPr>
              <a:r>
                <a:rPr lang="en-US" sz="1100" b="1" kern="0" spc="80" dirty="0">
                  <a:solidFill>
                    <a:srgbClr val="16233F"/>
                  </a:solidFill>
                  <a:latin typeface="Calibri" panose="020F0502020204030204" pitchFamily="34" charset="0"/>
                  <a:ea typeface="Calibri" panose="020F0502020204030204" pitchFamily="34" charset="-122"/>
                  <a:cs typeface="Calibri" panose="020F0502020204030204" pitchFamily="34" charset="-120"/>
                </a:rPr>
                <a:t>REGIONAL HIERARCHY, 2024–25</a:t>
              </a:r>
              <a:endParaRPr lang="en-US" sz="1100" dirty="0"/>
            </a:p>
          </p:txBody>
        </p:sp>
        <p:sp>
          <p:nvSpPr>
            <p:cNvPr id="57" name="Shape 7"/>
            <p:cNvSpPr/>
            <p:nvPr/>
          </p:nvSpPr>
          <p:spPr>
            <a:xfrm>
              <a:off x="1365" y="7626"/>
              <a:ext cx="8176" cy="0"/>
            </a:xfrm>
            <a:prstGeom prst="line">
              <a:avLst/>
            </a:prstGeom>
            <a:noFill/>
            <a:ln w="12700">
              <a:solidFill>
                <a:srgbClr val="E1E1DD"/>
              </a:solidFill>
              <a:prstDash val="solid"/>
            </a:ln>
          </p:spPr>
        </p:sp>
        <p:sp>
          <p:nvSpPr>
            <p:cNvPr id="58" name="Text 8"/>
            <p:cNvSpPr/>
            <p:nvPr/>
          </p:nvSpPr>
          <p:spPr>
            <a:xfrm>
              <a:off x="1322" y="7702"/>
              <a:ext cx="327" cy="229"/>
            </a:xfrm>
            <a:prstGeom prst="rect">
              <a:avLst/>
            </a:prstGeom>
            <a:noFill/>
          </p:spPr>
          <p:txBody>
            <a:bodyPr wrap="square" lIns="0" tIns="0" rIns="0" bIns="0" rtlCol="0" anchor="ctr"/>
            <a:lstStyle/>
            <a:p>
              <a:pPr marL="0" indent="0">
                <a:buNone/>
              </a:pPr>
              <a:r>
                <a:rPr lang="en-US" sz="1100" b="1" dirty="0">
                  <a:solidFill>
                    <a:srgbClr val="5B6472"/>
                  </a:solidFill>
                  <a:latin typeface="Calibri" panose="020F0502020204030204" pitchFamily="34" charset="0"/>
                  <a:ea typeface="Calibri" panose="020F0502020204030204" pitchFamily="34" charset="-122"/>
                  <a:cs typeface="Calibri" panose="020F0502020204030204" pitchFamily="34" charset="-120"/>
                </a:rPr>
                <a:t>1</a:t>
              </a:r>
              <a:endParaRPr lang="en-US" sz="1100" dirty="0"/>
            </a:p>
          </p:txBody>
        </p:sp>
        <p:sp>
          <p:nvSpPr>
            <p:cNvPr id="60" name="Text 10"/>
            <p:cNvSpPr/>
            <p:nvPr/>
          </p:nvSpPr>
          <p:spPr>
            <a:xfrm>
              <a:off x="1609" y="7702"/>
              <a:ext cx="7841" cy="229"/>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Western           </a:t>
              </a:r>
              <a:r>
                <a:rPr lang="en-US" altLang="en-US" sz="1000" dirty="0">
                  <a:solidFill>
                    <a:srgbClr val="2B2F36"/>
                  </a:solidFill>
                  <a:latin typeface="Calibri" panose="020F0502020204030204" pitchFamily="34" charset="0"/>
                  <a:ea typeface="Calibri" panose="020F0502020204030204" pitchFamily="34" charset="-122"/>
                  <a:cs typeface="Calibri" panose="020F0502020204030204" pitchFamily="34" charset="-120"/>
                </a:rPr>
                <a:t>Strongest across all dimensions,  especially Usage after 2020–21</a:t>
              </a:r>
              <a:r>
                <a:rPr lang="en-US" sz="1000" dirty="0">
                  <a:solidFill>
                    <a:srgbClr val="2B2F36"/>
                  </a:solidFill>
                  <a:latin typeface="Calibri" panose="020F0502020204030204" pitchFamily="34" charset="0"/>
                  <a:ea typeface="Calibri" panose="020F0502020204030204" pitchFamily="34" charset="-122"/>
                  <a:cs typeface="Calibri" panose="020F0502020204030204" pitchFamily="34" charset="-120"/>
                </a:rPr>
                <a:t> </a:t>
              </a:r>
              <a:r>
                <a:rPr lang="en-US" sz="1150" dirty="0">
                  <a:solidFill>
                    <a:srgbClr val="2B2F36"/>
                  </a:solidFill>
                  <a:latin typeface="Calibri" panose="020F0502020204030204" pitchFamily="34" charset="0"/>
                  <a:ea typeface="Calibri" panose="020F0502020204030204" pitchFamily="34" charset="-122"/>
                  <a:cs typeface="Calibri" panose="020F0502020204030204" pitchFamily="34" charset="-120"/>
                </a:rPr>
                <a:t>    </a:t>
              </a:r>
              <a:endParaRPr lang="en-US" sz="1150" dirty="0"/>
            </a:p>
          </p:txBody>
        </p:sp>
        <p:sp>
          <p:nvSpPr>
            <p:cNvPr id="62" name="Text 12"/>
            <p:cNvSpPr/>
            <p:nvPr/>
          </p:nvSpPr>
          <p:spPr>
            <a:xfrm>
              <a:off x="1322" y="7932"/>
              <a:ext cx="346" cy="229"/>
            </a:xfrm>
            <a:prstGeom prst="rect">
              <a:avLst/>
            </a:prstGeom>
            <a:noFill/>
          </p:spPr>
          <p:txBody>
            <a:bodyPr wrap="square" lIns="0" tIns="0" rIns="0" bIns="0" rtlCol="0" anchor="ctr"/>
            <a:lstStyle/>
            <a:p>
              <a:pPr marL="0" indent="0">
                <a:buNone/>
              </a:pPr>
              <a:r>
                <a:rPr lang="en-US" sz="1100" b="1" dirty="0">
                  <a:solidFill>
                    <a:srgbClr val="5B6472"/>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
          <p:nvSpPr>
            <p:cNvPr id="64" name="Text 14"/>
            <p:cNvSpPr/>
            <p:nvPr/>
          </p:nvSpPr>
          <p:spPr>
            <a:xfrm>
              <a:off x="1615" y="7926"/>
              <a:ext cx="7840" cy="229"/>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Southern          </a:t>
              </a:r>
              <a:r>
                <a:rPr lang="en-US" altLang="en-US" sz="1000" dirty="0">
                  <a:solidFill>
                    <a:srgbClr val="2B2F36"/>
                  </a:solidFill>
                  <a:latin typeface="Calibri" panose="020F0502020204030204" pitchFamily="34" charset="0"/>
                  <a:ea typeface="Calibri" panose="020F0502020204030204" pitchFamily="34" charset="-122"/>
                  <a:cs typeface="Calibri" panose="020F0502020204030204" pitchFamily="34" charset="-120"/>
                </a:rPr>
                <a:t>High Penetration with consistently, strong overall performance</a:t>
              </a:r>
              <a:r>
                <a:rPr lang="en-US" altLang="en-US" sz="900" dirty="0">
                  <a:solidFill>
                    <a:srgbClr val="2B2F36"/>
                  </a:solidFill>
                  <a:latin typeface="Calibri" panose="020F0502020204030204" pitchFamily="34" charset="0"/>
                  <a:ea typeface="Calibri" panose="020F0502020204030204" pitchFamily="34" charset="-122"/>
                  <a:cs typeface="Calibri" panose="020F0502020204030204" pitchFamily="34" charset="-120"/>
                </a:rPr>
                <a:t>.</a:t>
              </a:r>
              <a:endParaRPr lang="en-US" altLang="en-US" sz="9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65" name="Text 15"/>
            <p:cNvSpPr/>
            <p:nvPr/>
          </p:nvSpPr>
          <p:spPr>
            <a:xfrm>
              <a:off x="8279" y="7932"/>
              <a:ext cx="1852" cy="229"/>
            </a:xfrm>
            <a:prstGeom prst="rect">
              <a:avLst/>
            </a:prstGeom>
            <a:noFill/>
          </p:spPr>
          <p:txBody>
            <a:bodyPr wrap="square" lIns="0" tIns="0" rIns="0" bIns="0" rtlCol="0" anchor="ctr"/>
            <a:lstStyle/>
            <a:p>
              <a:pPr marL="0" indent="0" algn="r">
                <a:buNone/>
              </a:pPr>
              <a:endParaRPr lang="en-US" sz="1200" dirty="0"/>
            </a:p>
          </p:txBody>
        </p:sp>
        <p:sp>
          <p:nvSpPr>
            <p:cNvPr id="66" name="Text 16"/>
            <p:cNvSpPr/>
            <p:nvPr/>
          </p:nvSpPr>
          <p:spPr>
            <a:xfrm>
              <a:off x="1322" y="8161"/>
              <a:ext cx="334" cy="229"/>
            </a:xfrm>
            <a:prstGeom prst="rect">
              <a:avLst/>
            </a:prstGeom>
            <a:noFill/>
          </p:spPr>
          <p:txBody>
            <a:bodyPr wrap="square" lIns="0" tIns="0" rIns="0" bIns="0" rtlCol="0" anchor="ctr"/>
            <a:lstStyle/>
            <a:p>
              <a:pPr marL="0" indent="0">
                <a:buNone/>
              </a:pPr>
              <a:r>
                <a:rPr lang="en-US" sz="1100" b="1" dirty="0">
                  <a:solidFill>
                    <a:srgbClr val="5B6472"/>
                  </a:solidFill>
                  <a:latin typeface="Calibri" panose="020F0502020204030204" pitchFamily="34" charset="0"/>
                  <a:ea typeface="Calibri" panose="020F0502020204030204" pitchFamily="34" charset="-122"/>
                  <a:cs typeface="Calibri" panose="020F0502020204030204" pitchFamily="34" charset="-120"/>
                </a:rPr>
                <a:t>3</a:t>
              </a:r>
              <a:endParaRPr lang="en-US" sz="1100" dirty="0"/>
            </a:p>
          </p:txBody>
        </p:sp>
        <p:sp>
          <p:nvSpPr>
            <p:cNvPr id="68" name="Text 18"/>
            <p:cNvSpPr/>
            <p:nvPr/>
          </p:nvSpPr>
          <p:spPr>
            <a:xfrm>
              <a:off x="1615" y="8162"/>
              <a:ext cx="7840" cy="229"/>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Northern          </a:t>
              </a:r>
              <a:r>
                <a:rPr lang="en-US" altLang="en-US" sz="1000" dirty="0">
                  <a:solidFill>
                    <a:srgbClr val="2B2F36"/>
                  </a:solidFill>
                  <a:latin typeface="Calibri" panose="020F0502020204030204" pitchFamily="34" charset="0"/>
                  <a:ea typeface="Calibri" panose="020F0502020204030204" pitchFamily="34" charset="-122"/>
                  <a:cs typeface="Calibri" panose="020F0502020204030204" pitchFamily="34" charset="-120"/>
                </a:rPr>
                <a:t>Most balanced profile across, all three dimensions.</a:t>
              </a:r>
              <a:r>
                <a:rPr lang="en-US" sz="1000" dirty="0">
                  <a:solidFill>
                    <a:srgbClr val="2B2F36"/>
                  </a:solidFill>
                  <a:latin typeface="Calibri" panose="020F0502020204030204" pitchFamily="34" charset="0"/>
                  <a:ea typeface="Calibri" panose="020F0502020204030204" pitchFamily="34" charset="-122"/>
                  <a:cs typeface="Calibri" panose="020F0502020204030204" pitchFamily="34" charset="-120"/>
                </a:rPr>
                <a:t> </a:t>
              </a:r>
              <a:r>
                <a:rPr lang="en-US" sz="800" dirty="0">
                  <a:solidFill>
                    <a:srgbClr val="2B2F36"/>
                  </a:solidFill>
                  <a:latin typeface="Calibri" panose="020F0502020204030204" pitchFamily="34" charset="0"/>
                  <a:ea typeface="Calibri" panose="020F0502020204030204" pitchFamily="34" charset="-122"/>
                  <a:cs typeface="Calibri" panose="020F0502020204030204" pitchFamily="34" charset="-120"/>
                </a:rPr>
                <a:t>       </a:t>
              </a:r>
              <a:endParaRPr lang="en-US" sz="800" dirty="0"/>
            </a:p>
          </p:txBody>
        </p:sp>
        <p:sp>
          <p:nvSpPr>
            <p:cNvPr id="70" name="Text 20"/>
            <p:cNvSpPr/>
            <p:nvPr/>
          </p:nvSpPr>
          <p:spPr>
            <a:xfrm>
              <a:off x="1322" y="8391"/>
              <a:ext cx="334" cy="229"/>
            </a:xfrm>
            <a:prstGeom prst="rect">
              <a:avLst/>
            </a:prstGeom>
            <a:noFill/>
          </p:spPr>
          <p:txBody>
            <a:bodyPr wrap="square" lIns="0" tIns="0" rIns="0" bIns="0" rtlCol="0" anchor="ctr"/>
            <a:lstStyle/>
            <a:p>
              <a:pPr marL="0" indent="0">
                <a:buNone/>
              </a:pPr>
              <a:r>
                <a:rPr lang="en-US" sz="1100" b="1" dirty="0">
                  <a:solidFill>
                    <a:srgbClr val="5B6472"/>
                  </a:solidFill>
                  <a:latin typeface="Calibri" panose="020F0502020204030204" pitchFamily="34" charset="0"/>
                  <a:ea typeface="Calibri" panose="020F0502020204030204" pitchFamily="34" charset="-122"/>
                  <a:cs typeface="Calibri" panose="020F0502020204030204" pitchFamily="34" charset="-120"/>
                </a:rPr>
                <a:t>4</a:t>
              </a:r>
              <a:endParaRPr lang="en-US" sz="1100" dirty="0"/>
            </a:p>
          </p:txBody>
        </p:sp>
        <p:sp>
          <p:nvSpPr>
            <p:cNvPr id="72" name="Text 22"/>
            <p:cNvSpPr/>
            <p:nvPr/>
          </p:nvSpPr>
          <p:spPr>
            <a:xfrm>
              <a:off x="1609" y="8407"/>
              <a:ext cx="7841" cy="229"/>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Central              </a:t>
              </a:r>
              <a:r>
                <a:rPr lang="en-US" altLang="en-US" sz="1000" dirty="0">
                  <a:solidFill>
                    <a:srgbClr val="2B2F36"/>
                  </a:solidFill>
                  <a:latin typeface="Calibri" panose="020F0502020204030204" pitchFamily="34" charset="0"/>
                  <a:ea typeface="Calibri" panose="020F0502020204030204" pitchFamily="34" charset="-122"/>
                  <a:cs typeface="Calibri" panose="020F0502020204030204" pitchFamily="34" charset="-120"/>
                </a:rPr>
                <a:t>Moderate improvement over time, but remained below the national average.</a:t>
              </a:r>
              <a:endParaRPr lang="en-US" altLang="en-US" sz="10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74" name="Text 24"/>
            <p:cNvSpPr/>
            <p:nvPr/>
          </p:nvSpPr>
          <p:spPr>
            <a:xfrm>
              <a:off x="1322" y="8620"/>
              <a:ext cx="327" cy="229"/>
            </a:xfrm>
            <a:prstGeom prst="rect">
              <a:avLst/>
            </a:prstGeom>
            <a:noFill/>
          </p:spPr>
          <p:txBody>
            <a:bodyPr wrap="square" lIns="0" tIns="0" rIns="0" bIns="0" rtlCol="0" anchor="ctr"/>
            <a:lstStyle/>
            <a:p>
              <a:pPr marL="0" indent="0">
                <a:buNone/>
              </a:pPr>
              <a:r>
                <a:rPr lang="en-US" sz="1100" b="1" dirty="0">
                  <a:solidFill>
                    <a:srgbClr val="5B6472"/>
                  </a:solidFill>
                  <a:latin typeface="Calibri" panose="020F0502020204030204" pitchFamily="34" charset="0"/>
                  <a:ea typeface="Calibri" panose="020F0502020204030204" pitchFamily="34" charset="-122"/>
                  <a:cs typeface="Calibri" panose="020F0502020204030204" pitchFamily="34" charset="-120"/>
                </a:rPr>
                <a:t>5</a:t>
              </a:r>
              <a:endParaRPr lang="en-US" sz="1100" dirty="0"/>
            </a:p>
          </p:txBody>
        </p:sp>
        <p:sp>
          <p:nvSpPr>
            <p:cNvPr id="76" name="Text 26"/>
            <p:cNvSpPr/>
            <p:nvPr/>
          </p:nvSpPr>
          <p:spPr>
            <a:xfrm>
              <a:off x="1609" y="8619"/>
              <a:ext cx="9013" cy="229"/>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Eastern              </a:t>
              </a:r>
              <a:r>
                <a:rPr lang="en-US" altLang="en-US" sz="1000" dirty="0">
                  <a:solidFill>
                    <a:srgbClr val="2B2F36"/>
                  </a:solidFill>
                  <a:latin typeface="Calibri" panose="020F0502020204030204" pitchFamily="34" charset="0"/>
                  <a:ea typeface="Calibri" panose="020F0502020204030204" pitchFamily="34" charset="-122"/>
                  <a:cs typeface="Calibri" panose="020F0502020204030204" pitchFamily="34" charset="-120"/>
                </a:rPr>
                <a:t>Gradual progress, particularly in Availability, but continued to lag in Penetration and Usage.</a:t>
              </a:r>
              <a:endParaRPr lang="en-US" altLang="en-US" sz="10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78" name="Text 28"/>
            <p:cNvSpPr/>
            <p:nvPr/>
          </p:nvSpPr>
          <p:spPr>
            <a:xfrm>
              <a:off x="1322" y="8849"/>
              <a:ext cx="346" cy="229"/>
            </a:xfrm>
            <a:prstGeom prst="rect">
              <a:avLst/>
            </a:prstGeom>
            <a:noFill/>
          </p:spPr>
          <p:txBody>
            <a:bodyPr wrap="square" lIns="0" tIns="0" rIns="0" bIns="0" rtlCol="0" anchor="ctr"/>
            <a:lstStyle/>
            <a:p>
              <a:pPr marL="0" indent="0">
                <a:buNone/>
              </a:pPr>
              <a:r>
                <a:rPr lang="en-US" sz="1100" b="1" dirty="0">
                  <a:solidFill>
                    <a:srgbClr val="5B6472"/>
                  </a:solidFill>
                  <a:latin typeface="Calibri" panose="020F0502020204030204" pitchFamily="34" charset="0"/>
                  <a:ea typeface="Calibri" panose="020F0502020204030204" pitchFamily="34" charset="-122"/>
                  <a:cs typeface="Calibri" panose="020F0502020204030204" pitchFamily="34" charset="-120"/>
                </a:rPr>
                <a:t>6</a:t>
              </a:r>
              <a:endParaRPr lang="en-US" sz="1100" dirty="0"/>
            </a:p>
          </p:txBody>
        </p:sp>
        <p:sp>
          <p:nvSpPr>
            <p:cNvPr id="80" name="Text 30"/>
            <p:cNvSpPr/>
            <p:nvPr/>
          </p:nvSpPr>
          <p:spPr>
            <a:xfrm>
              <a:off x="1615" y="8849"/>
              <a:ext cx="9007" cy="229"/>
            </a:xfrm>
            <a:prstGeom prst="rect">
              <a:avLst/>
            </a:prstGeom>
            <a:noFill/>
          </p:spPr>
          <p:txBody>
            <a:bodyPr wrap="square" lIns="0" tIns="0" rIns="0" bIns="0" rtlCol="0" anchor="ctr"/>
            <a:lstStyle/>
            <a:p>
              <a:pPr marL="0" indent="0">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North-Eastern  </a:t>
              </a:r>
              <a:r>
                <a:rPr lang="en-US" altLang="en-US" sz="1000" dirty="0">
                  <a:solidFill>
                    <a:srgbClr val="2B2F36"/>
                  </a:solidFill>
                  <a:latin typeface="Calibri" panose="020F0502020204030204" pitchFamily="34" charset="0"/>
                  <a:ea typeface="Calibri" panose="020F0502020204030204" pitchFamily="34" charset="-122"/>
                  <a:cs typeface="Calibri" panose="020F0502020204030204" pitchFamily="34" charset="-120"/>
                </a:rPr>
                <a:t>Lowest-performing, persistently weak scores across all,despite modest improvement.</a:t>
              </a:r>
              <a:endParaRPr lang="en-US" altLang="en-US" sz="10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grpSp>
      <p:pic>
        <p:nvPicPr>
          <p:cNvPr id="23" name="Picture 22" descr="final_3dim_regional2"/>
          <p:cNvPicPr>
            <a:picLocks noChangeAspect="1"/>
          </p:cNvPicPr>
          <p:nvPr/>
        </p:nvPicPr>
        <p:blipFill>
          <a:blip r:embed="rId2"/>
          <a:srcRect r="2595"/>
          <a:stretch>
            <a:fillRect/>
          </a:stretch>
        </p:blipFill>
        <p:spPr>
          <a:xfrm>
            <a:off x="540385" y="1370330"/>
            <a:ext cx="6231255" cy="3058160"/>
          </a:xfrm>
          <a:prstGeom prst="rect">
            <a:avLst/>
          </a:prstGeom>
          <a:ln>
            <a:solidFill>
              <a:srgbClr val="E1E1DD"/>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548640" y="292608"/>
            <a:ext cx="7315200" cy="237744"/>
          </a:xfrm>
          <a:prstGeom prst="rect">
            <a:avLst/>
          </a:prstGeom>
          <a:noFill/>
        </p:spPr>
        <p:txBody>
          <a:bodyPr wrap="square" lIns="0" tIns="0" rIns="0" bIns="0" rtlCol="0" anchor="ctr"/>
          <a:lstStyle/>
          <a:p>
            <a:pPr marL="0" indent="0">
              <a:buNone/>
            </a:pPr>
            <a:r>
              <a:rPr lang="en-US" sz="110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14  ·  DIMENSIONAL ANALYSIS</a:t>
            </a:r>
            <a:endParaRPr lang="en-US" sz="1100" dirty="0"/>
          </a:p>
        </p:txBody>
      </p:sp>
      <p:sp>
        <p:nvSpPr>
          <p:cNvPr id="3" name="Shape 1"/>
          <p:cNvSpPr/>
          <p:nvPr/>
        </p:nvSpPr>
        <p:spPr>
          <a:xfrm>
            <a:off x="548640" y="566928"/>
            <a:ext cx="502920" cy="0"/>
          </a:xfrm>
          <a:prstGeom prst="line">
            <a:avLst/>
          </a:prstGeom>
          <a:noFill/>
          <a:ln w="28575">
            <a:solidFill>
              <a:srgbClr val="16233F"/>
            </a:solidFill>
            <a:prstDash val="solid"/>
          </a:ln>
        </p:spPr>
      </p:sp>
      <p:sp>
        <p:nvSpPr>
          <p:cNvPr id="4" name="Text 2"/>
          <p:cNvSpPr/>
          <p:nvPr/>
        </p:nvSpPr>
        <p:spPr>
          <a:xfrm>
            <a:off x="548640" y="621792"/>
            <a:ext cx="11094415" cy="365760"/>
          </a:xfrm>
          <a:prstGeom prst="rect">
            <a:avLst/>
          </a:prstGeom>
          <a:noFill/>
        </p:spPr>
        <p:txBody>
          <a:bodyPr wrap="square" lIns="0" tIns="0" rIns="0" bIns="0" rtlCol="0" anchor="ctr"/>
          <a:lstStyle/>
          <a:p>
            <a:pPr marL="0" indent="0">
              <a:buNone/>
            </a:pPr>
            <a:r>
              <a:rPr lang="en-US" sz="2200" b="1" dirty="0">
                <a:solidFill>
                  <a:srgbClr val="16233F"/>
                </a:solidFill>
                <a:latin typeface="Cambria" panose="02040503050406030204" pitchFamily="34" charset="0"/>
                <a:ea typeface="Cambria" panose="02040503050406030204" pitchFamily="34" charset="-122"/>
                <a:cs typeface="Cambria" panose="02040503050406030204" pitchFamily="34" charset="-120"/>
              </a:rPr>
              <a:t>States </a:t>
            </a:r>
            <a:r>
              <a:rPr lang="en-US" altLang="en-US" sz="2200" b="1" dirty="0">
                <a:solidFill>
                  <a:srgbClr val="16233F"/>
                </a:solidFill>
                <a:latin typeface="Cambria" panose="02040503050406030204" pitchFamily="34" charset="0"/>
                <a:ea typeface="Cambria" panose="02040503050406030204" pitchFamily="34" charset="-122"/>
                <a:cs typeface="Cambria" panose="02040503050406030204" pitchFamily="34" charset="-120"/>
              </a:rPr>
              <a:t>Improvements Reflect Different Financial Inclusion Pathways</a:t>
            </a:r>
            <a:endParaRPr lang="en-US" altLang="en-US" sz="2200" b="1" dirty="0">
              <a:solidFill>
                <a:srgbClr val="16233F"/>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978408"/>
            <a:ext cx="11094415" cy="219456"/>
          </a:xfrm>
          <a:prstGeom prst="rect">
            <a:avLst/>
          </a:prstGeom>
          <a:noFill/>
        </p:spPr>
        <p:txBody>
          <a:bodyPr wrap="square" lIns="0" tIns="0" rIns="0" bIns="0" rtlCol="0" anchor="ctr"/>
          <a:lstStyle/>
          <a:p>
            <a:pPr marL="0" indent="0">
              <a:buNone/>
            </a:pPr>
            <a:r>
              <a:rPr lang="en-US" sz="1080" i="1" dirty="0">
                <a:solidFill>
                  <a:srgbClr val="5B6472"/>
                </a:solidFill>
                <a:latin typeface="Calibri" panose="020F0502020204030204" pitchFamily="34" charset="0"/>
                <a:ea typeface="Calibri" panose="020F0502020204030204" pitchFamily="34" charset="-122"/>
                <a:cs typeface="Calibri" panose="020F0502020204030204" pitchFamily="34" charset="-120"/>
              </a:rPr>
              <a:t>Contribution of Penetration, Availability and Usage to state-level FII growth (2016–17 to 2024–25)</a:t>
            </a:r>
            <a:endParaRPr lang="en-US" sz="1080" dirty="0"/>
          </a:p>
        </p:txBody>
      </p:sp>
      <p:grpSp>
        <p:nvGrpSpPr>
          <p:cNvPr id="32" name="Group 31"/>
          <p:cNvGrpSpPr/>
          <p:nvPr/>
        </p:nvGrpSpPr>
        <p:grpSpPr>
          <a:xfrm>
            <a:off x="474980" y="1334770"/>
            <a:ext cx="6838950" cy="4426585"/>
            <a:chOff x="5924" y="1757"/>
            <a:chExt cx="7352" cy="4910"/>
          </a:xfrm>
        </p:grpSpPr>
        <p:sp>
          <p:nvSpPr>
            <p:cNvPr id="6" name="Shape 4"/>
            <p:cNvSpPr/>
            <p:nvPr/>
          </p:nvSpPr>
          <p:spPr>
            <a:xfrm>
              <a:off x="5924" y="1757"/>
              <a:ext cx="7352" cy="4910"/>
            </a:xfrm>
            <a:prstGeom prst="rect">
              <a:avLst/>
            </a:prstGeom>
            <a:solidFill>
              <a:srgbClr val="FFFFFF"/>
            </a:solidFill>
            <a:ln w="12700">
              <a:solidFill>
                <a:srgbClr val="E1E1DD"/>
              </a:solidFill>
              <a:prstDash val="solid"/>
            </a:ln>
          </p:spPr>
        </p:sp>
        <p:pic>
          <p:nvPicPr>
            <p:cNvPr id="7" name="Image 0" descr="/home/claude/build/slide12_assets/fig6_11_cropped.png"/>
            <p:cNvPicPr>
              <a:picLocks noChangeAspect="1"/>
            </p:cNvPicPr>
            <p:nvPr/>
          </p:nvPicPr>
          <p:blipFill>
            <a:blip r:embed="rId1"/>
            <a:stretch>
              <a:fillRect/>
            </a:stretch>
          </p:blipFill>
          <p:spPr>
            <a:xfrm>
              <a:off x="6039" y="1872"/>
              <a:ext cx="7121" cy="4680"/>
            </a:xfrm>
            <a:prstGeom prst="rect">
              <a:avLst/>
            </a:prstGeom>
          </p:spPr>
        </p:pic>
      </p:grpSp>
      <p:sp>
        <p:nvSpPr>
          <p:cNvPr id="8" name="Shape 5"/>
          <p:cNvSpPr/>
          <p:nvPr/>
        </p:nvSpPr>
        <p:spPr>
          <a:xfrm>
            <a:off x="7448550" y="1361440"/>
            <a:ext cx="4524375" cy="2701290"/>
          </a:xfrm>
          <a:prstGeom prst="roundRect">
            <a:avLst>
              <a:gd name="adj" fmla="val 4571"/>
            </a:avLst>
          </a:prstGeom>
          <a:solidFill>
            <a:srgbClr val="F4F4F2"/>
          </a:solidFill>
          <a:ln w="12700">
            <a:solidFill>
              <a:srgbClr val="E1E1DD"/>
            </a:solidFill>
            <a:prstDash val="solid"/>
          </a:ln>
        </p:spPr>
      </p:sp>
      <p:sp>
        <p:nvSpPr>
          <p:cNvPr id="9" name="Text 6"/>
          <p:cNvSpPr/>
          <p:nvPr/>
        </p:nvSpPr>
        <p:spPr>
          <a:xfrm>
            <a:off x="7616190" y="1442720"/>
            <a:ext cx="4189095" cy="300355"/>
          </a:xfrm>
          <a:prstGeom prst="rect">
            <a:avLst/>
          </a:prstGeom>
          <a:noFill/>
        </p:spPr>
        <p:txBody>
          <a:bodyPr wrap="square" lIns="0" tIns="0" rIns="0" bIns="0" rtlCol="0" anchor="ctr"/>
          <a:lstStyle/>
          <a:p>
            <a:pPr marL="0" indent="0">
              <a:buNone/>
            </a:pPr>
            <a:r>
              <a:rPr lang="en-US" sz="1200" b="1" kern="0" spc="50" dirty="0">
                <a:solidFill>
                  <a:srgbClr val="16233F"/>
                </a:solidFill>
                <a:latin typeface="Calibri" panose="020F0502020204030204" pitchFamily="34" charset="0"/>
                <a:ea typeface="Calibri" panose="020F0502020204030204" pitchFamily="34" charset="-122"/>
                <a:cs typeface="Calibri" panose="020F0502020204030204" pitchFamily="34" charset="-120"/>
              </a:rPr>
              <a:t>THREE GROWTH PATHWAYS</a:t>
            </a:r>
            <a:endParaRPr lang="en-US" sz="1200" b="1" kern="0" spc="50"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33" name="Group 32"/>
          <p:cNvGrpSpPr/>
          <p:nvPr/>
        </p:nvGrpSpPr>
        <p:grpSpPr>
          <a:xfrm>
            <a:off x="7620000" y="1722120"/>
            <a:ext cx="4437380" cy="240030"/>
            <a:chOff x="11994" y="2799"/>
            <a:chExt cx="6988" cy="378"/>
          </a:xfrm>
        </p:grpSpPr>
        <p:sp>
          <p:nvSpPr>
            <p:cNvPr id="10" name="Shape 7"/>
            <p:cNvSpPr/>
            <p:nvPr/>
          </p:nvSpPr>
          <p:spPr>
            <a:xfrm>
              <a:off x="11994" y="2854"/>
              <a:ext cx="284" cy="284"/>
            </a:xfrm>
            <a:prstGeom prst="rect">
              <a:avLst/>
            </a:prstGeom>
            <a:solidFill>
              <a:srgbClr val="C9D3EA"/>
            </a:solidFill>
          </p:spPr>
        </p:sp>
        <p:sp>
          <p:nvSpPr>
            <p:cNvPr id="11" name="Text 8"/>
            <p:cNvSpPr/>
            <p:nvPr/>
          </p:nvSpPr>
          <p:spPr>
            <a:xfrm>
              <a:off x="12384" y="2799"/>
              <a:ext cx="6599" cy="378"/>
            </a:xfrm>
            <a:prstGeom prst="rect">
              <a:avLst/>
            </a:prstGeom>
            <a:noFill/>
          </p:spPr>
          <p:txBody>
            <a:bodyPr wrap="square" lIns="0" tIns="0" rIns="0" bIns="0" rtlCol="0" anchor="ctr"/>
            <a:lstStyle/>
            <a:p>
              <a:pPr marL="0" indent="0">
                <a:buNone/>
              </a:pPr>
              <a:r>
                <a:rPr lang="en-US" sz="1200" b="1" dirty="0">
                  <a:solidFill>
                    <a:srgbClr val="2B2F36"/>
                  </a:solidFill>
                  <a:latin typeface="Calibri" panose="020F0502020204030204" pitchFamily="34" charset="0"/>
                  <a:ea typeface="Calibri" panose="020F0502020204030204" pitchFamily="34" charset="-122"/>
                  <a:cs typeface="Calibri" panose="020F0502020204030204" pitchFamily="34" charset="-120"/>
                </a:rPr>
                <a:t>Usage-led (10)</a:t>
              </a:r>
              <a:endParaRPr lang="en-US" sz="1200" b="1"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12" name="Text 9"/>
          <p:cNvSpPr/>
          <p:nvPr/>
        </p:nvSpPr>
        <p:spPr>
          <a:xfrm>
            <a:off x="7620000" y="2024380"/>
            <a:ext cx="4441190" cy="375285"/>
          </a:xfrm>
          <a:prstGeom prst="rect">
            <a:avLst/>
          </a:prstGeom>
          <a:noFill/>
        </p:spPr>
        <p:txBody>
          <a:bodyPr wrap="square" lIns="0" tIns="0" rIns="0" bIns="0" rtlCol="0" anchor="ctr"/>
          <a:lstStyle/>
          <a:p>
            <a:pPr marL="0" indent="0">
              <a:lnSpc>
                <a:spcPct val="112000"/>
              </a:lnSpc>
              <a:buNone/>
            </a:pPr>
            <a:r>
              <a:rPr lang="en-US" alt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Highest contributors: </a:t>
            </a: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Uttarakhand </a:t>
            </a:r>
            <a:r>
              <a:rPr lang="en-US" sz="1200" b="1" dirty="0">
                <a:solidFill>
                  <a:srgbClr val="5B6472"/>
                </a:solidFill>
                <a:latin typeface="Calibri" panose="020F0502020204030204" pitchFamily="34" charset="0"/>
                <a:ea typeface="Calibri" panose="020F0502020204030204" pitchFamily="34" charset="-122"/>
                <a:cs typeface="Calibri" panose="020F0502020204030204" pitchFamily="34" charset="-120"/>
              </a:rPr>
              <a:t>66.3%</a:t>
            </a: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 Goa </a:t>
            </a:r>
            <a:r>
              <a:rPr lang="en-US" sz="1200" b="1" dirty="0">
                <a:solidFill>
                  <a:srgbClr val="5B6472"/>
                </a:solidFill>
                <a:latin typeface="Calibri" panose="020F0502020204030204" pitchFamily="34" charset="0"/>
                <a:ea typeface="Calibri" panose="020F0502020204030204" pitchFamily="34" charset="-122"/>
                <a:cs typeface="Calibri" panose="020F0502020204030204" pitchFamily="34" charset="-120"/>
              </a:rPr>
              <a:t>58.1%</a:t>
            </a: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 Arunachal Pradesh </a:t>
            </a:r>
            <a:r>
              <a:rPr lang="en-US" sz="1200" b="1" dirty="0">
                <a:solidFill>
                  <a:srgbClr val="5B6472"/>
                </a:solidFill>
                <a:latin typeface="Calibri" panose="020F0502020204030204" pitchFamily="34" charset="0"/>
                <a:ea typeface="Calibri" panose="020F0502020204030204" pitchFamily="34" charset="-122"/>
                <a:cs typeface="Calibri" panose="020F0502020204030204" pitchFamily="34" charset="-120"/>
              </a:rPr>
              <a:t>49.2%</a:t>
            </a: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 Others:Chhattisgarh, Gujarat, Karnataka, Punjab, Rajasthan, Himachal Pradesh, Telangana</a:t>
            </a:r>
            <a:endPar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36" name="Group 35"/>
          <p:cNvGrpSpPr/>
          <p:nvPr/>
        </p:nvGrpSpPr>
        <p:grpSpPr>
          <a:xfrm>
            <a:off x="7616190" y="2522855"/>
            <a:ext cx="4437380" cy="220345"/>
            <a:chOff x="11994" y="3916"/>
            <a:chExt cx="6988" cy="378"/>
          </a:xfrm>
        </p:grpSpPr>
        <p:sp>
          <p:nvSpPr>
            <p:cNvPr id="13" name="Shape 10"/>
            <p:cNvSpPr/>
            <p:nvPr/>
          </p:nvSpPr>
          <p:spPr>
            <a:xfrm>
              <a:off x="11994" y="3977"/>
              <a:ext cx="284" cy="284"/>
            </a:xfrm>
            <a:prstGeom prst="rect">
              <a:avLst/>
            </a:prstGeom>
            <a:solidFill>
              <a:srgbClr val="7C93BC"/>
            </a:solidFill>
          </p:spPr>
        </p:sp>
        <p:sp>
          <p:nvSpPr>
            <p:cNvPr id="14" name="Text 11"/>
            <p:cNvSpPr/>
            <p:nvPr/>
          </p:nvSpPr>
          <p:spPr>
            <a:xfrm>
              <a:off x="12384" y="3916"/>
              <a:ext cx="6599" cy="378"/>
            </a:xfrm>
            <a:prstGeom prst="rect">
              <a:avLst/>
            </a:prstGeom>
            <a:noFill/>
          </p:spPr>
          <p:txBody>
            <a:bodyPr wrap="square" lIns="0" tIns="0" rIns="0" bIns="0" rtlCol="0" anchor="ctr"/>
            <a:lstStyle/>
            <a:p>
              <a:pPr marL="0" indent="0">
                <a:buNone/>
              </a:pPr>
              <a:r>
                <a:rPr lang="en-US" sz="1200" b="1" dirty="0">
                  <a:solidFill>
                    <a:srgbClr val="2B2F36"/>
                  </a:solidFill>
                  <a:latin typeface="Calibri" panose="020F0502020204030204" pitchFamily="34" charset="0"/>
                  <a:ea typeface="Calibri" panose="020F0502020204030204" pitchFamily="34" charset="-122"/>
                  <a:cs typeface="Calibri" panose="020F0502020204030204" pitchFamily="34" charset="-120"/>
                </a:rPr>
                <a:t>Penetration-led (12)</a:t>
              </a:r>
              <a:endParaRPr lang="en-US" sz="1200" b="1"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15" name="Text 12"/>
          <p:cNvSpPr/>
          <p:nvPr/>
        </p:nvSpPr>
        <p:spPr>
          <a:xfrm>
            <a:off x="7616190" y="2789555"/>
            <a:ext cx="4316095" cy="555625"/>
          </a:xfrm>
          <a:prstGeom prst="rect">
            <a:avLst/>
          </a:prstGeom>
          <a:noFill/>
        </p:spPr>
        <p:txBody>
          <a:bodyPr wrap="square" lIns="0" tIns="0" rIns="0" bIns="0" rtlCol="0" anchor="ctr"/>
          <a:lstStyle/>
          <a:p>
            <a:pPr marL="0" indent="0">
              <a:lnSpc>
                <a:spcPct val="112000"/>
              </a:lnSpc>
              <a:buNone/>
            </a:pPr>
            <a:r>
              <a:rPr lang="en-US" alt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sym typeface="+mn-ea"/>
              </a:rPr>
              <a:t>Highest contributors: </a:t>
            </a: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Assam </a:t>
            </a:r>
            <a:r>
              <a:rPr lang="en-US" sz="1200" b="1" dirty="0">
                <a:solidFill>
                  <a:srgbClr val="5B6472"/>
                </a:solidFill>
                <a:latin typeface="Calibri" panose="020F0502020204030204" pitchFamily="34" charset="0"/>
                <a:ea typeface="Calibri" panose="020F0502020204030204" pitchFamily="34" charset="-122"/>
                <a:cs typeface="Calibri" panose="020F0502020204030204" pitchFamily="34" charset="-120"/>
              </a:rPr>
              <a:t>54.2%</a:t>
            </a: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 Bihar </a:t>
            </a:r>
            <a:r>
              <a:rPr lang="en-US" sz="1200" b="1" dirty="0">
                <a:solidFill>
                  <a:srgbClr val="5B6472"/>
                </a:solidFill>
                <a:latin typeface="Calibri" panose="020F0502020204030204" pitchFamily="34" charset="0"/>
                <a:ea typeface="Calibri" panose="020F0502020204030204" pitchFamily="34" charset="-122"/>
                <a:cs typeface="Calibri" panose="020F0502020204030204" pitchFamily="34" charset="-120"/>
              </a:rPr>
              <a:t>52.3%</a:t>
            </a: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 Maharashtra </a:t>
            </a:r>
            <a:r>
              <a:rPr lang="en-US" sz="1200" b="1" dirty="0">
                <a:solidFill>
                  <a:srgbClr val="5B6472"/>
                </a:solidFill>
                <a:latin typeface="Calibri" panose="020F0502020204030204" pitchFamily="34" charset="0"/>
                <a:ea typeface="Calibri" panose="020F0502020204030204" pitchFamily="34" charset="-122"/>
                <a:cs typeface="Calibri" panose="020F0502020204030204" pitchFamily="34" charset="-120"/>
              </a:rPr>
              <a:t>51.3%</a:t>
            </a: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 </a:t>
            </a:r>
            <a:endPar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12000"/>
              </a:lnSpc>
              <a:buNone/>
            </a:pP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Others: Madhya Pradesh, Tamil Nadu, Andhra Pradesh, Uttar Pradesh, Odisha, Haryana, West Bengal, Kerala, Jharkhand</a:t>
            </a:r>
            <a:endPar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37" name="Group 36"/>
          <p:cNvGrpSpPr/>
          <p:nvPr/>
        </p:nvGrpSpPr>
        <p:grpSpPr>
          <a:xfrm>
            <a:off x="7616190" y="3392170"/>
            <a:ext cx="4437380" cy="217170"/>
            <a:chOff x="11994" y="5276"/>
            <a:chExt cx="6988" cy="378"/>
          </a:xfrm>
        </p:grpSpPr>
        <p:sp>
          <p:nvSpPr>
            <p:cNvPr id="16" name="Shape 13"/>
            <p:cNvSpPr/>
            <p:nvPr/>
          </p:nvSpPr>
          <p:spPr>
            <a:xfrm>
              <a:off x="11994" y="5327"/>
              <a:ext cx="284" cy="284"/>
            </a:xfrm>
            <a:prstGeom prst="rect">
              <a:avLst/>
            </a:prstGeom>
            <a:solidFill>
              <a:srgbClr val="16233F"/>
            </a:solidFill>
          </p:spPr>
        </p:sp>
        <p:sp>
          <p:nvSpPr>
            <p:cNvPr id="17" name="Text 14"/>
            <p:cNvSpPr/>
            <p:nvPr/>
          </p:nvSpPr>
          <p:spPr>
            <a:xfrm>
              <a:off x="12384" y="5276"/>
              <a:ext cx="6599" cy="378"/>
            </a:xfrm>
            <a:prstGeom prst="rect">
              <a:avLst/>
            </a:prstGeom>
            <a:noFill/>
          </p:spPr>
          <p:txBody>
            <a:bodyPr wrap="square" lIns="0" tIns="0" rIns="0" bIns="0" rtlCol="0" anchor="ctr"/>
            <a:lstStyle/>
            <a:p>
              <a:pPr marL="0" indent="0">
                <a:buNone/>
              </a:pPr>
              <a:r>
                <a:rPr lang="en-US" sz="1200" b="1" dirty="0">
                  <a:solidFill>
                    <a:srgbClr val="2B2F36"/>
                  </a:solidFill>
                  <a:latin typeface="Calibri" panose="020F0502020204030204" pitchFamily="34" charset="0"/>
                  <a:ea typeface="Calibri" panose="020F0502020204030204" pitchFamily="34" charset="-122"/>
                  <a:cs typeface="Calibri" panose="020F0502020204030204" pitchFamily="34" charset="-120"/>
                </a:rPr>
                <a:t>Availability-led (6)</a:t>
              </a:r>
              <a:endParaRPr lang="en-US" sz="1200" b="1"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18" name="Text 15"/>
          <p:cNvSpPr/>
          <p:nvPr/>
        </p:nvSpPr>
        <p:spPr>
          <a:xfrm>
            <a:off x="7616190" y="3688715"/>
            <a:ext cx="4316095" cy="225425"/>
          </a:xfrm>
          <a:prstGeom prst="rect">
            <a:avLst/>
          </a:prstGeom>
          <a:noFill/>
        </p:spPr>
        <p:txBody>
          <a:bodyPr wrap="square" lIns="0" tIns="0" rIns="0" bIns="0" rtlCol="0" anchor="ctr"/>
          <a:lstStyle/>
          <a:p>
            <a:pPr marL="0" indent="0">
              <a:lnSpc>
                <a:spcPct val="112000"/>
              </a:lnSpc>
              <a:buNone/>
            </a:pP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Nagaland </a:t>
            </a:r>
            <a:r>
              <a:rPr lang="en-US" sz="1200" b="1" dirty="0">
                <a:solidFill>
                  <a:srgbClr val="5B6472"/>
                </a:solidFill>
                <a:latin typeface="Calibri" panose="020F0502020204030204" pitchFamily="34" charset="0"/>
                <a:ea typeface="Calibri" panose="020F0502020204030204" pitchFamily="34" charset="-122"/>
                <a:cs typeface="Calibri" panose="020F0502020204030204" pitchFamily="34" charset="-120"/>
              </a:rPr>
              <a:t>55.2%</a:t>
            </a: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 Sikkim </a:t>
            </a:r>
            <a:r>
              <a:rPr lang="en-US" sz="1200" b="1" dirty="0">
                <a:solidFill>
                  <a:srgbClr val="5B6472"/>
                </a:solidFill>
                <a:latin typeface="Calibri" panose="020F0502020204030204" pitchFamily="34" charset="0"/>
                <a:ea typeface="Calibri" panose="020F0502020204030204" pitchFamily="34" charset="-122"/>
                <a:cs typeface="Calibri" panose="020F0502020204030204" pitchFamily="34" charset="-120"/>
              </a:rPr>
              <a:t>53.5%</a:t>
            </a: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 Meghalaya </a:t>
            </a:r>
            <a:r>
              <a:rPr lang="en-US" sz="1200" b="1" dirty="0">
                <a:solidFill>
                  <a:srgbClr val="5B6472"/>
                </a:solidFill>
                <a:latin typeface="Calibri" panose="020F0502020204030204" pitchFamily="34" charset="0"/>
                <a:ea typeface="Calibri" panose="020F0502020204030204" pitchFamily="34" charset="-122"/>
                <a:cs typeface="Calibri" panose="020F0502020204030204" pitchFamily="34" charset="-120"/>
              </a:rPr>
              <a:t>47.5%</a:t>
            </a: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 Manipur 46.3%, Tripura 45.8%, Mizoram 43.9%</a:t>
            </a:r>
            <a:endPar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6"/>
          <p:cNvSpPr/>
          <p:nvPr/>
        </p:nvSpPr>
        <p:spPr>
          <a:xfrm>
            <a:off x="7433310" y="4150360"/>
            <a:ext cx="4524375" cy="1600200"/>
          </a:xfrm>
          <a:prstGeom prst="roundRect">
            <a:avLst>
              <a:gd name="adj" fmla="val 4571"/>
            </a:avLst>
          </a:prstGeom>
          <a:solidFill>
            <a:srgbClr val="F4F4F2"/>
          </a:solidFill>
          <a:ln w="12700">
            <a:solidFill>
              <a:srgbClr val="E1E1DD"/>
            </a:solidFill>
            <a:prstDash val="solid"/>
          </a:ln>
        </p:spPr>
      </p:sp>
      <p:sp>
        <p:nvSpPr>
          <p:cNvPr id="20" name="Text 17"/>
          <p:cNvSpPr/>
          <p:nvPr/>
        </p:nvSpPr>
        <p:spPr>
          <a:xfrm>
            <a:off x="7616190" y="4278630"/>
            <a:ext cx="4158615" cy="201295"/>
          </a:xfrm>
          <a:prstGeom prst="rect">
            <a:avLst/>
          </a:prstGeom>
          <a:noFill/>
        </p:spPr>
        <p:txBody>
          <a:bodyPr wrap="square" lIns="0" tIns="0" rIns="0" bIns="0" rtlCol="0" anchor="ctr"/>
          <a:lstStyle/>
          <a:p>
            <a:pPr marL="0" indent="0">
              <a:buNone/>
            </a:pPr>
            <a:r>
              <a:rPr lang="en-US" sz="1050" b="1" kern="0" spc="60" dirty="0">
                <a:solidFill>
                  <a:srgbClr val="16233F"/>
                </a:solidFill>
                <a:latin typeface="Calibri" panose="020F0502020204030204" pitchFamily="34" charset="0"/>
                <a:ea typeface="Calibri" panose="020F0502020204030204" pitchFamily="34" charset="-122"/>
                <a:cs typeface="Calibri" panose="020F0502020204030204" pitchFamily="34" charset="-120"/>
              </a:rPr>
              <a:t>KEY INSIGHTS</a:t>
            </a:r>
            <a:endParaRPr lang="en-US" sz="1050" dirty="0"/>
          </a:p>
        </p:txBody>
      </p:sp>
      <p:sp>
        <p:nvSpPr>
          <p:cNvPr id="21" name="Text 18"/>
          <p:cNvSpPr/>
          <p:nvPr/>
        </p:nvSpPr>
        <p:spPr>
          <a:xfrm>
            <a:off x="7616190" y="4607560"/>
            <a:ext cx="198120" cy="344170"/>
          </a:xfrm>
          <a:prstGeom prst="rect">
            <a:avLst/>
          </a:prstGeom>
          <a:noFill/>
        </p:spPr>
        <p:txBody>
          <a:bodyPr wrap="square" lIns="0" tIns="0" rIns="0" bIns="0" rtlCol="0" anchor="t"/>
          <a:lstStyle/>
          <a:p>
            <a:pPr marL="0" indent="0">
              <a:buNone/>
            </a:pPr>
            <a:r>
              <a:rPr lang="en-US" sz="1100" b="1" dirty="0">
                <a:solidFill>
                  <a:srgbClr val="16233F"/>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23" name="Text 20"/>
          <p:cNvSpPr/>
          <p:nvPr/>
        </p:nvSpPr>
        <p:spPr>
          <a:xfrm>
            <a:off x="7616190" y="4951730"/>
            <a:ext cx="198120" cy="344170"/>
          </a:xfrm>
          <a:prstGeom prst="rect">
            <a:avLst/>
          </a:prstGeom>
          <a:noFill/>
        </p:spPr>
        <p:txBody>
          <a:bodyPr wrap="square" lIns="0" tIns="0" rIns="0" bIns="0" rtlCol="0" anchor="t"/>
          <a:lstStyle/>
          <a:p>
            <a:pPr marL="0" indent="0">
              <a:buNone/>
            </a:pPr>
            <a:r>
              <a:rPr lang="en-US" sz="1100" b="1" dirty="0">
                <a:solidFill>
                  <a:srgbClr val="16233F"/>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25" name="Text 22"/>
          <p:cNvSpPr/>
          <p:nvPr/>
        </p:nvSpPr>
        <p:spPr>
          <a:xfrm>
            <a:off x="7616190" y="5296535"/>
            <a:ext cx="198120" cy="344170"/>
          </a:xfrm>
          <a:prstGeom prst="rect">
            <a:avLst/>
          </a:prstGeom>
          <a:noFill/>
        </p:spPr>
        <p:txBody>
          <a:bodyPr wrap="square" lIns="0" tIns="0" rIns="0" bIns="0" rtlCol="0" anchor="t"/>
          <a:lstStyle/>
          <a:p>
            <a:pPr marL="0" indent="0">
              <a:buNone/>
            </a:pPr>
            <a:r>
              <a:rPr lang="en-US" sz="1100" b="1" dirty="0">
                <a:solidFill>
                  <a:srgbClr val="16233F"/>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grpSp>
        <p:nvGrpSpPr>
          <p:cNvPr id="34" name="Group 33"/>
          <p:cNvGrpSpPr/>
          <p:nvPr/>
        </p:nvGrpSpPr>
        <p:grpSpPr>
          <a:xfrm>
            <a:off x="7813675" y="4563110"/>
            <a:ext cx="3945890" cy="1033145"/>
            <a:chOff x="12305" y="7256"/>
            <a:chExt cx="6214" cy="1627"/>
          </a:xfrm>
        </p:grpSpPr>
        <p:sp>
          <p:nvSpPr>
            <p:cNvPr id="22" name="Text 19"/>
            <p:cNvSpPr/>
            <p:nvPr/>
          </p:nvSpPr>
          <p:spPr>
            <a:xfrm>
              <a:off x="12305" y="7256"/>
              <a:ext cx="6213" cy="542"/>
            </a:xfrm>
            <a:prstGeom prst="rect">
              <a:avLst/>
            </a:prstGeom>
            <a:noFill/>
          </p:spPr>
          <p:txBody>
            <a:bodyPr wrap="square" lIns="0" tIns="0" rIns="0" bIns="0" rtlCol="0" anchor="t"/>
            <a:lstStyle/>
            <a:p>
              <a:pPr marL="0" indent="0">
                <a:lnSpc>
                  <a:spcPct val="116000"/>
                </a:lnSpc>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Usage dominates many leading and faster-improving states.</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1"/>
            <p:cNvSpPr/>
            <p:nvPr/>
          </p:nvSpPr>
          <p:spPr>
            <a:xfrm>
              <a:off x="12306" y="7699"/>
              <a:ext cx="6213" cy="542"/>
            </a:xfrm>
            <a:prstGeom prst="rect">
              <a:avLst/>
            </a:prstGeom>
            <a:noFill/>
          </p:spPr>
          <p:txBody>
            <a:bodyPr wrap="square" lIns="0" tIns="0" rIns="0" bIns="0" rtlCol="0" anchor="t"/>
            <a:lstStyle/>
            <a:p>
              <a:pPr marL="0" indent="0">
                <a:lnSpc>
                  <a:spcPct val="100000"/>
                </a:lnSpc>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Penetration remains the most widespread pathway across different levels of financial inclusion.</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Text 23"/>
            <p:cNvSpPr/>
            <p:nvPr/>
          </p:nvSpPr>
          <p:spPr>
            <a:xfrm>
              <a:off x="12305" y="8341"/>
              <a:ext cx="6213" cy="542"/>
            </a:xfrm>
            <a:prstGeom prst="rect">
              <a:avLst/>
            </a:prstGeom>
            <a:noFill/>
          </p:spPr>
          <p:txBody>
            <a:bodyPr wrap="square" lIns="0" tIns="0" rIns="0" bIns="0" rtlCol="0" anchor="t"/>
            <a:lstStyle/>
            <a:p>
              <a:pPr marL="0" indent="0">
                <a:lnSpc>
                  <a:spcPct val="100000"/>
                </a:lnSpc>
                <a:buNone/>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Availability-led growth is concentrated largely in the North-Eastern region.</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grpSp>
      <p:grpSp>
        <p:nvGrpSpPr>
          <p:cNvPr id="35" name="Group 34"/>
          <p:cNvGrpSpPr/>
          <p:nvPr/>
        </p:nvGrpSpPr>
        <p:grpSpPr>
          <a:xfrm>
            <a:off x="490855" y="5925326"/>
            <a:ext cx="11440480" cy="608330"/>
            <a:chOff x="864" y="9331"/>
            <a:chExt cx="17472" cy="864"/>
          </a:xfrm>
        </p:grpSpPr>
        <p:sp>
          <p:nvSpPr>
            <p:cNvPr id="27" name="Shape 24"/>
            <p:cNvSpPr/>
            <p:nvPr/>
          </p:nvSpPr>
          <p:spPr>
            <a:xfrm>
              <a:off x="864" y="9331"/>
              <a:ext cx="17472" cy="864"/>
            </a:xfrm>
            <a:prstGeom prst="roundRect">
              <a:avLst>
                <a:gd name="adj" fmla="val 15000"/>
              </a:avLst>
            </a:prstGeom>
            <a:solidFill>
              <a:srgbClr val="16233F"/>
            </a:solidFill>
          </p:spPr>
        </p:sp>
        <p:sp>
          <p:nvSpPr>
            <p:cNvPr id="28" name="Text 25"/>
            <p:cNvSpPr/>
            <p:nvPr/>
          </p:nvSpPr>
          <p:spPr>
            <a:xfrm>
              <a:off x="1238" y="9396"/>
              <a:ext cx="16723" cy="288"/>
            </a:xfrm>
            <a:prstGeom prst="rect">
              <a:avLst/>
            </a:prstGeom>
            <a:noFill/>
          </p:spPr>
          <p:txBody>
            <a:bodyPr wrap="square" lIns="0" tIns="0" rIns="0" bIns="0" rtlCol="0" anchor="ctr"/>
            <a:lstStyle/>
            <a:p>
              <a:pPr marL="0" indent="0">
                <a:buNone/>
              </a:pPr>
              <a:r>
                <a:rPr lang="en-US" sz="1050" b="1" kern="0" spc="60" dirty="0">
                  <a:solidFill>
                    <a:srgbClr val="FFFFFF"/>
                  </a:solidFill>
                  <a:latin typeface="Calibri" panose="020F0502020204030204" pitchFamily="34" charset="0"/>
                  <a:ea typeface="Calibri" panose="020F0502020204030204" pitchFamily="34" charset="-122"/>
                  <a:cs typeface="Calibri" panose="020F0502020204030204" pitchFamily="34" charset="-120"/>
                </a:rPr>
                <a:t>WHAT THE ANALYSIS REVEALS</a:t>
              </a:r>
              <a:endParaRPr lang="en-US" sz="1050" b="1" kern="0" spc="6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Text 26"/>
            <p:cNvSpPr/>
            <p:nvPr/>
          </p:nvSpPr>
          <p:spPr>
            <a:xfrm>
              <a:off x="1238" y="9706"/>
              <a:ext cx="16723" cy="403"/>
            </a:xfrm>
            <a:prstGeom prst="rect">
              <a:avLst/>
            </a:prstGeom>
            <a:noFill/>
          </p:spPr>
          <p:txBody>
            <a:bodyPr wrap="square" lIns="0" tIns="0" rIns="0" bIns="0" rtlCol="0" anchor="ctr"/>
            <a:lstStyle/>
            <a:p>
              <a:pPr marL="0" indent="0">
                <a:lnSpc>
                  <a:spcPct val="112000"/>
                </a:lnSpc>
                <a:buNone/>
              </a:pPr>
              <a:r>
                <a:rPr lang="en-US" sz="1000" dirty="0">
                  <a:solidFill>
                    <a:srgbClr val="E4E8F0"/>
                  </a:solidFill>
                  <a:latin typeface="Calibri" panose="020F0502020204030204" pitchFamily="34" charset="0"/>
                  <a:ea typeface="Calibri" panose="020F0502020204030204" pitchFamily="34" charset="-122"/>
                  <a:cs typeface="Calibri" panose="020F0502020204030204" pitchFamily="34" charset="-120"/>
                </a:rPr>
                <a:t>States with similar improvements followed markedly different pathways. Usage increasingly drives many leading states, Penetration remains the most widespread pathway, and Availability continues to underpin progress across the North-East. </a:t>
              </a:r>
              <a:r>
                <a:rPr lang="en-US" altLang="en-US" sz="1000" dirty="0">
                  <a:solidFill>
                    <a:srgbClr val="E4E8F0"/>
                  </a:solidFill>
                  <a:latin typeface="Calibri" panose="020F0502020204030204" pitchFamily="34" charset="0"/>
                  <a:ea typeface="Calibri" panose="020F0502020204030204" pitchFamily="34" charset="-122"/>
                  <a:cs typeface="Calibri" panose="020F0502020204030204" pitchFamily="34" charset="-120"/>
                </a:rPr>
                <a:t>These distinct pathways demonstrate that states with similar financial inclusion outcomes may require different policy priorities.</a:t>
              </a:r>
              <a:endParaRPr lang="en-US" altLang="en-US" sz="1000" dirty="0">
                <a:solidFill>
                  <a:srgbClr val="E4E8F0"/>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30" name="Text 27"/>
          <p:cNvSpPr/>
          <p:nvPr/>
        </p:nvSpPr>
        <p:spPr>
          <a:xfrm>
            <a:off x="548640" y="6565392"/>
            <a:ext cx="7315200" cy="182880"/>
          </a:xfrm>
          <a:prstGeom prst="rect">
            <a:avLst/>
          </a:prstGeom>
          <a:noFill/>
        </p:spPr>
        <p:txBody>
          <a:bodyPr wrap="square" lIns="0" tIns="0" rIns="0" bIns="0" rtlCol="0" anchor="ctr"/>
          <a:lstStyle/>
          <a:p>
            <a:pPr marL="0" indent="0">
              <a:buNone/>
            </a:pPr>
            <a:r>
              <a:rPr lang="en-US" sz="83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8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548640" y="274320"/>
            <a:ext cx="7315200" cy="219456"/>
          </a:xfrm>
          <a:prstGeom prst="rect">
            <a:avLst/>
          </a:prstGeom>
          <a:noFill/>
        </p:spPr>
        <p:txBody>
          <a:bodyPr wrap="square" lIns="0" tIns="0" rIns="0" bIns="0" rtlCol="0" anchor="ctr"/>
          <a:lstStyle/>
          <a:p>
            <a:pPr marL="0" indent="0">
              <a:buNone/>
            </a:pPr>
            <a:r>
              <a:rPr lang="en-US" sz="105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15  ·  METHODOLOGY</a:t>
            </a:r>
            <a:endParaRPr lang="en-US" sz="1050" dirty="0"/>
          </a:p>
        </p:txBody>
      </p:sp>
      <p:sp>
        <p:nvSpPr>
          <p:cNvPr id="3" name="Shape 1"/>
          <p:cNvSpPr/>
          <p:nvPr/>
        </p:nvSpPr>
        <p:spPr>
          <a:xfrm>
            <a:off x="548640" y="512064"/>
            <a:ext cx="502920" cy="0"/>
          </a:xfrm>
          <a:prstGeom prst="line">
            <a:avLst/>
          </a:prstGeom>
          <a:noFill/>
          <a:ln w="28575">
            <a:solidFill>
              <a:srgbClr val="16233F"/>
            </a:solidFill>
            <a:prstDash val="solid"/>
          </a:ln>
        </p:spPr>
      </p:sp>
      <p:sp>
        <p:nvSpPr>
          <p:cNvPr id="4" name="Text 2"/>
          <p:cNvSpPr/>
          <p:nvPr/>
        </p:nvSpPr>
        <p:spPr>
          <a:xfrm>
            <a:off x="548640" y="548640"/>
            <a:ext cx="11094415" cy="530352"/>
          </a:xfrm>
          <a:prstGeom prst="rect">
            <a:avLst/>
          </a:prstGeom>
          <a:noFill/>
        </p:spPr>
        <p:txBody>
          <a:bodyPr wrap="square" lIns="0" tIns="0" rIns="0" bIns="0" rtlCol="0" anchor="ctr"/>
          <a:lstStyle/>
          <a:p>
            <a:pPr marL="0" indent="0">
              <a:lnSpc>
                <a:spcPct val="108000"/>
              </a:lnSpc>
              <a:buNone/>
            </a:pPr>
            <a:r>
              <a:rPr lang="en-US" sz="1900" b="1" dirty="0">
                <a:solidFill>
                  <a:srgbClr val="16233F"/>
                </a:solidFill>
                <a:latin typeface="Cambria" panose="02040503050406030204" pitchFamily="34" charset="0"/>
                <a:ea typeface="Cambria" panose="02040503050406030204" pitchFamily="34" charset="-122"/>
                <a:cs typeface="Cambria" panose="02040503050406030204" pitchFamily="34" charset="-120"/>
              </a:rPr>
              <a:t>Financial Inclusion Development Typology (FIDT): </a:t>
            </a:r>
            <a:endParaRPr lang="en-US" sz="1900" dirty="0"/>
          </a:p>
          <a:p>
            <a:pPr marL="0" indent="0">
              <a:lnSpc>
                <a:spcPct val="108000"/>
              </a:lnSpc>
              <a:buNone/>
            </a:pPr>
            <a:r>
              <a:rPr lang="en-US" sz="1900" b="1" dirty="0">
                <a:solidFill>
                  <a:srgbClr val="16233F"/>
                </a:solidFill>
                <a:latin typeface="Cambria" panose="02040503050406030204" pitchFamily="34" charset="0"/>
                <a:ea typeface="Cambria" panose="02040503050406030204" pitchFamily="34" charset="-122"/>
                <a:cs typeface="Cambria" panose="02040503050406030204" pitchFamily="34" charset="-120"/>
              </a:rPr>
              <a:t>A Three-Stage Classification Framework</a:t>
            </a:r>
            <a:endParaRPr lang="en-US" sz="1900" dirty="0"/>
          </a:p>
        </p:txBody>
      </p:sp>
      <p:sp>
        <p:nvSpPr>
          <p:cNvPr id="5" name="Text 3"/>
          <p:cNvSpPr/>
          <p:nvPr/>
        </p:nvSpPr>
        <p:spPr>
          <a:xfrm>
            <a:off x="548640" y="1097280"/>
            <a:ext cx="11094415" cy="201168"/>
          </a:xfrm>
          <a:prstGeom prst="rect">
            <a:avLst/>
          </a:prstGeom>
          <a:noFill/>
        </p:spPr>
        <p:txBody>
          <a:bodyPr wrap="square" lIns="0" tIns="0" rIns="0" bIns="0" rtlCol="0" anchor="ctr"/>
          <a:lstStyle/>
          <a:p>
            <a:pPr marL="0" indent="0">
              <a:buNone/>
            </a:pPr>
            <a:r>
              <a:rPr lang="en-US" sz="1030" i="1" dirty="0">
                <a:solidFill>
                  <a:srgbClr val="5B6472"/>
                </a:solidFill>
                <a:latin typeface="Calibri" panose="020F0502020204030204" pitchFamily="34" charset="0"/>
                <a:ea typeface="Calibri" panose="020F0502020204030204" pitchFamily="34" charset="-122"/>
                <a:cs typeface="Calibri" panose="020F0502020204030204" pitchFamily="34" charset="-120"/>
              </a:rPr>
              <a:t>A multidimensional framework integrating financial inclusion level, dominant growth pathway and driver strength (2024–25)</a:t>
            </a:r>
            <a:endParaRPr lang="en-US" sz="1030" dirty="0"/>
          </a:p>
        </p:txBody>
      </p:sp>
      <p:sp>
        <p:nvSpPr>
          <p:cNvPr id="6" name="Shape 4"/>
          <p:cNvSpPr/>
          <p:nvPr/>
        </p:nvSpPr>
        <p:spPr>
          <a:xfrm>
            <a:off x="548640" y="1371600"/>
            <a:ext cx="2697480" cy="621792"/>
          </a:xfrm>
          <a:prstGeom prst="roundRect">
            <a:avLst>
              <a:gd name="adj" fmla="val 8824"/>
            </a:avLst>
          </a:prstGeom>
          <a:solidFill>
            <a:srgbClr val="F4F4F2"/>
          </a:solidFill>
          <a:ln w="12700">
            <a:solidFill>
              <a:srgbClr val="E1E1DD"/>
            </a:solidFill>
            <a:prstDash val="solid"/>
          </a:ln>
        </p:spPr>
      </p:sp>
      <p:sp>
        <p:nvSpPr>
          <p:cNvPr id="7" name="Text 5"/>
          <p:cNvSpPr/>
          <p:nvPr/>
        </p:nvSpPr>
        <p:spPr>
          <a:xfrm>
            <a:off x="676656" y="1371600"/>
            <a:ext cx="2441448" cy="621792"/>
          </a:xfrm>
          <a:prstGeom prst="rect">
            <a:avLst/>
          </a:prstGeom>
          <a:noFill/>
        </p:spPr>
        <p:txBody>
          <a:bodyPr wrap="square" lIns="0" tIns="0" rIns="0" bIns="0" rtlCol="0" anchor="ctr"/>
          <a:lstStyle/>
          <a:p>
            <a:pPr marL="0" indent="0" algn="l">
              <a:lnSpc>
                <a:spcPct val="112000"/>
              </a:lnSpc>
              <a:buNone/>
            </a:pPr>
            <a:r>
              <a:rPr lang="en-US" sz="750" b="1" kern="0" spc="100" dirty="0">
                <a:solidFill>
                  <a:srgbClr val="5B6472"/>
                </a:solidFill>
                <a:latin typeface="Calibri" panose="020F0502020204030204" pitchFamily="34" charset="0"/>
                <a:ea typeface="Calibri" panose="020F0502020204030204" pitchFamily="34" charset="-122"/>
                <a:cs typeface="Calibri" panose="020F0502020204030204" pitchFamily="34" charset="-120"/>
              </a:rPr>
              <a:t>STAGE 1 · LEVEL</a:t>
            </a:r>
            <a:endParaRPr lang="en-US" sz="750" dirty="0"/>
          </a:p>
          <a:p>
            <a:pPr marL="0" indent="0" algn="l">
              <a:lnSpc>
                <a:spcPct val="112000"/>
              </a:lnSpc>
              <a:buNone/>
            </a:pPr>
            <a:r>
              <a:rPr lang="en-US" sz="950" b="1" dirty="0">
                <a:solidFill>
                  <a:srgbClr val="16233F"/>
                </a:solidFill>
                <a:latin typeface="Calibri" panose="020F0502020204030204" pitchFamily="34" charset="0"/>
                <a:ea typeface="Calibri" panose="020F0502020204030204" pitchFamily="34" charset="-122"/>
                <a:cs typeface="Calibri" panose="020F0502020204030204" pitchFamily="34" charset="-120"/>
              </a:rPr>
              <a:t>2024–25 FI Index</a:t>
            </a:r>
            <a:endParaRPr lang="en-US" sz="750" dirty="0"/>
          </a:p>
          <a:p>
            <a:pPr marL="0" indent="0" algn="l">
              <a:lnSpc>
                <a:spcPct val="112000"/>
              </a:lnSpc>
              <a:buNone/>
            </a:pPr>
            <a:r>
              <a:rPr lang="en-US" sz="780" dirty="0">
                <a:solidFill>
                  <a:srgbClr val="5B6472"/>
                </a:solidFill>
                <a:latin typeface="Calibri" panose="020F0502020204030204" pitchFamily="34" charset="0"/>
                <a:ea typeface="Calibri" panose="020F0502020204030204" pitchFamily="34" charset="-122"/>
                <a:cs typeface="Calibri" panose="020F0502020204030204" pitchFamily="34" charset="-120"/>
              </a:rPr>
              <a:t>Quartile split: Leaders (Q1), Emerging(Q2-Q3), Priority(Q4)</a:t>
            </a:r>
            <a:endParaRPr lang="en-US" sz="750" dirty="0"/>
          </a:p>
        </p:txBody>
      </p:sp>
      <p:sp>
        <p:nvSpPr>
          <p:cNvPr id="8" name="Shape 6"/>
          <p:cNvSpPr/>
          <p:nvPr/>
        </p:nvSpPr>
        <p:spPr>
          <a:xfrm>
            <a:off x="3520440" y="1371600"/>
            <a:ext cx="2697480" cy="621792"/>
          </a:xfrm>
          <a:prstGeom prst="roundRect">
            <a:avLst>
              <a:gd name="adj" fmla="val 8824"/>
            </a:avLst>
          </a:prstGeom>
          <a:solidFill>
            <a:srgbClr val="F4F4F2"/>
          </a:solidFill>
          <a:ln w="12700">
            <a:solidFill>
              <a:srgbClr val="E1E1DD"/>
            </a:solidFill>
            <a:prstDash val="solid"/>
          </a:ln>
        </p:spPr>
      </p:sp>
      <p:sp>
        <p:nvSpPr>
          <p:cNvPr id="9" name="Text 7"/>
          <p:cNvSpPr/>
          <p:nvPr/>
        </p:nvSpPr>
        <p:spPr>
          <a:xfrm>
            <a:off x="3648456" y="1371600"/>
            <a:ext cx="2441448" cy="621792"/>
          </a:xfrm>
          <a:prstGeom prst="rect">
            <a:avLst/>
          </a:prstGeom>
          <a:noFill/>
        </p:spPr>
        <p:txBody>
          <a:bodyPr wrap="square" lIns="0" tIns="0" rIns="0" bIns="0" rtlCol="0" anchor="ctr"/>
          <a:lstStyle/>
          <a:p>
            <a:pPr marL="0" indent="0" algn="l">
              <a:lnSpc>
                <a:spcPct val="112000"/>
              </a:lnSpc>
              <a:buNone/>
            </a:pPr>
            <a:r>
              <a:rPr lang="en-US" sz="750" b="1" kern="0" spc="100" dirty="0">
                <a:solidFill>
                  <a:srgbClr val="5B6472"/>
                </a:solidFill>
                <a:latin typeface="Calibri" panose="020F0502020204030204" pitchFamily="34" charset="0"/>
                <a:ea typeface="Calibri" panose="020F0502020204030204" pitchFamily="34" charset="-122"/>
                <a:cs typeface="Calibri" panose="020F0502020204030204" pitchFamily="34" charset="-120"/>
              </a:rPr>
              <a:t>STAGE 2 · PATHWAY</a:t>
            </a:r>
            <a:endParaRPr lang="en-US" sz="750" dirty="0"/>
          </a:p>
          <a:p>
            <a:pPr marL="0" indent="0" algn="l">
              <a:lnSpc>
                <a:spcPct val="112000"/>
              </a:lnSpc>
              <a:buNone/>
            </a:pPr>
            <a:r>
              <a:rPr lang="en-US" sz="950" b="1" dirty="0">
                <a:solidFill>
                  <a:srgbClr val="16233F"/>
                </a:solidFill>
                <a:latin typeface="Calibri" panose="020F0502020204030204" pitchFamily="34" charset="0"/>
                <a:ea typeface="Calibri" panose="020F0502020204030204" pitchFamily="34" charset="-122"/>
                <a:cs typeface="Calibri" panose="020F0502020204030204" pitchFamily="34" charset="-120"/>
              </a:rPr>
              <a:t>Dimension contribution</a:t>
            </a:r>
            <a:endParaRPr lang="en-US" sz="750" dirty="0"/>
          </a:p>
          <a:p>
            <a:pPr marL="0" indent="0" algn="l">
              <a:lnSpc>
                <a:spcPct val="112000"/>
              </a:lnSpc>
              <a:buNone/>
            </a:pPr>
            <a:r>
              <a:rPr lang="en-US" sz="780" dirty="0">
                <a:solidFill>
                  <a:srgbClr val="5B6472"/>
                </a:solidFill>
                <a:latin typeface="Calibri" panose="020F0502020204030204" pitchFamily="34" charset="0"/>
                <a:ea typeface="Calibri" panose="020F0502020204030204" pitchFamily="34" charset="-122"/>
                <a:cs typeface="Calibri" panose="020F0502020204030204" pitchFamily="34" charset="-120"/>
              </a:rPr>
              <a:t>Dominant driver: Usage, Penetration, Availability</a:t>
            </a:r>
            <a:endParaRPr lang="en-US" sz="750" dirty="0"/>
          </a:p>
        </p:txBody>
      </p:sp>
      <p:sp>
        <p:nvSpPr>
          <p:cNvPr id="10" name="Shape 8"/>
          <p:cNvSpPr/>
          <p:nvPr/>
        </p:nvSpPr>
        <p:spPr>
          <a:xfrm>
            <a:off x="6492240" y="1371600"/>
            <a:ext cx="2697480" cy="621792"/>
          </a:xfrm>
          <a:prstGeom prst="roundRect">
            <a:avLst>
              <a:gd name="adj" fmla="val 8824"/>
            </a:avLst>
          </a:prstGeom>
          <a:solidFill>
            <a:srgbClr val="F4F4F2"/>
          </a:solidFill>
          <a:ln w="12700">
            <a:solidFill>
              <a:srgbClr val="E1E1DD"/>
            </a:solidFill>
            <a:prstDash val="solid"/>
          </a:ln>
        </p:spPr>
      </p:sp>
      <p:sp>
        <p:nvSpPr>
          <p:cNvPr id="11" name="Text 9"/>
          <p:cNvSpPr/>
          <p:nvPr/>
        </p:nvSpPr>
        <p:spPr>
          <a:xfrm>
            <a:off x="6620256" y="1371600"/>
            <a:ext cx="2441448" cy="621792"/>
          </a:xfrm>
          <a:prstGeom prst="rect">
            <a:avLst/>
          </a:prstGeom>
          <a:noFill/>
        </p:spPr>
        <p:txBody>
          <a:bodyPr wrap="square" lIns="0" tIns="0" rIns="0" bIns="0" rtlCol="0" anchor="ctr"/>
          <a:lstStyle/>
          <a:p>
            <a:pPr marL="0" indent="0" algn="l">
              <a:lnSpc>
                <a:spcPct val="112000"/>
              </a:lnSpc>
              <a:buNone/>
            </a:pPr>
            <a:r>
              <a:rPr lang="en-US" sz="750" b="1" kern="0" spc="100" dirty="0">
                <a:solidFill>
                  <a:srgbClr val="5B6472"/>
                </a:solidFill>
                <a:latin typeface="Calibri" panose="020F0502020204030204" pitchFamily="34" charset="0"/>
                <a:ea typeface="Calibri" panose="020F0502020204030204" pitchFamily="34" charset="-122"/>
                <a:cs typeface="Calibri" panose="020F0502020204030204" pitchFamily="34" charset="-120"/>
              </a:rPr>
              <a:t>STAGE 3 · STRENGTH</a:t>
            </a:r>
            <a:endParaRPr lang="en-US" sz="750" dirty="0"/>
          </a:p>
          <a:p>
            <a:pPr marL="0" indent="0" algn="l">
              <a:lnSpc>
                <a:spcPct val="112000"/>
              </a:lnSpc>
              <a:buNone/>
            </a:pPr>
            <a:r>
              <a:rPr lang="en-US" sz="950" b="1" dirty="0">
                <a:solidFill>
                  <a:srgbClr val="16233F"/>
                </a:solidFill>
                <a:latin typeface="Calibri" panose="020F0502020204030204" pitchFamily="34" charset="0"/>
                <a:ea typeface="Calibri" panose="020F0502020204030204" pitchFamily="34" charset="-122"/>
                <a:cs typeface="Calibri" panose="020F0502020204030204" pitchFamily="34" charset="-120"/>
              </a:rPr>
              <a:t>Dominance gap </a:t>
            </a:r>
            <a:r>
              <a:rPr lang="en-US" altLang="en-US" sz="780" dirty="0">
                <a:solidFill>
                  <a:srgbClr val="16233F"/>
                </a:solidFill>
                <a:latin typeface="Calibri" panose="020F0502020204030204" pitchFamily="34" charset="0"/>
                <a:ea typeface="Calibri" panose="020F0502020204030204" pitchFamily="34" charset="-122"/>
                <a:cs typeface="Calibri" panose="020F0502020204030204" pitchFamily="34" charset="-120"/>
              </a:rPr>
              <a:t>(Largest − Second Largest Contribution)</a:t>
            </a:r>
            <a:endParaRPr lang="en-US" altLang="en-US" sz="780"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a:p>
            <a:pPr marL="0" indent="0" algn="l">
              <a:lnSpc>
                <a:spcPct val="112000"/>
              </a:lnSpc>
              <a:buNone/>
            </a:pPr>
            <a:r>
              <a:rPr lang="en-US" sz="780" dirty="0">
                <a:solidFill>
                  <a:srgbClr val="5B6472"/>
                </a:solidFill>
                <a:latin typeface="Calibri" panose="020F0502020204030204" pitchFamily="34" charset="0"/>
                <a:ea typeface="Calibri" panose="020F0502020204030204" pitchFamily="34" charset="-122"/>
                <a:cs typeface="Calibri" panose="020F0502020204030204" pitchFamily="34" charset="-120"/>
              </a:rPr>
              <a:t>Quartile split: Strong, Moderate, Weak</a:t>
            </a:r>
            <a:endParaRPr lang="en-US" sz="750" dirty="0"/>
          </a:p>
        </p:txBody>
      </p:sp>
      <p:sp>
        <p:nvSpPr>
          <p:cNvPr id="12" name="Text 10"/>
          <p:cNvSpPr/>
          <p:nvPr/>
        </p:nvSpPr>
        <p:spPr>
          <a:xfrm>
            <a:off x="3246120" y="1371600"/>
            <a:ext cx="274320" cy="621792"/>
          </a:xfrm>
          <a:prstGeom prst="rect">
            <a:avLst/>
          </a:prstGeom>
          <a:noFill/>
        </p:spPr>
        <p:txBody>
          <a:bodyPr wrap="square" lIns="0" tIns="0" rIns="0" bIns="0" rtlCol="0" anchor="ctr"/>
          <a:lstStyle/>
          <a:p>
            <a:pPr marL="0" indent="0" algn="ctr">
              <a:buNone/>
            </a:pPr>
            <a:r>
              <a:rPr lang="en-US" sz="15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3" name="Text 11"/>
          <p:cNvSpPr/>
          <p:nvPr/>
        </p:nvSpPr>
        <p:spPr>
          <a:xfrm>
            <a:off x="6217920" y="1371600"/>
            <a:ext cx="274320" cy="621792"/>
          </a:xfrm>
          <a:prstGeom prst="rect">
            <a:avLst/>
          </a:prstGeom>
          <a:noFill/>
        </p:spPr>
        <p:txBody>
          <a:bodyPr wrap="square" lIns="0" tIns="0" rIns="0" bIns="0" rtlCol="0" anchor="ctr"/>
          <a:lstStyle/>
          <a:p>
            <a:pPr marL="0" indent="0" algn="ctr">
              <a:buNone/>
            </a:pPr>
            <a:r>
              <a:rPr lang="en-US" sz="15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4" name="Text 12"/>
          <p:cNvSpPr/>
          <p:nvPr/>
        </p:nvSpPr>
        <p:spPr>
          <a:xfrm>
            <a:off x="9189720" y="1371600"/>
            <a:ext cx="274320" cy="621792"/>
          </a:xfrm>
          <a:prstGeom prst="rect">
            <a:avLst/>
          </a:prstGeom>
          <a:noFill/>
        </p:spPr>
        <p:txBody>
          <a:bodyPr wrap="square" lIns="0" tIns="0" rIns="0" bIns="0" rtlCol="0" anchor="ctr"/>
          <a:lstStyle/>
          <a:p>
            <a:pPr marL="0" indent="0" algn="ctr">
              <a:buNone/>
            </a:pPr>
            <a:r>
              <a:rPr lang="en-US" sz="1500" b="1"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5" name="Shape 13"/>
          <p:cNvSpPr/>
          <p:nvPr/>
        </p:nvSpPr>
        <p:spPr>
          <a:xfrm>
            <a:off x="9464040" y="1371600"/>
            <a:ext cx="2176272" cy="621792"/>
          </a:xfrm>
          <a:prstGeom prst="roundRect">
            <a:avLst>
              <a:gd name="adj" fmla="val 8824"/>
            </a:avLst>
          </a:prstGeom>
          <a:solidFill>
            <a:srgbClr val="16233F"/>
          </a:solidFill>
          <a:ln w="12700">
            <a:solidFill>
              <a:srgbClr val="16233F"/>
            </a:solidFill>
            <a:prstDash val="solid"/>
          </a:ln>
        </p:spPr>
      </p:sp>
      <p:sp>
        <p:nvSpPr>
          <p:cNvPr id="16" name="Text 14"/>
          <p:cNvSpPr/>
          <p:nvPr/>
        </p:nvSpPr>
        <p:spPr>
          <a:xfrm>
            <a:off x="9555480" y="1371600"/>
            <a:ext cx="1993392" cy="621792"/>
          </a:xfrm>
          <a:prstGeom prst="rect">
            <a:avLst/>
          </a:prstGeom>
          <a:noFill/>
        </p:spPr>
        <p:txBody>
          <a:bodyPr wrap="square" lIns="0" tIns="0" rIns="0" bIns="0" rtlCol="0" anchor="ctr"/>
          <a:lstStyle/>
          <a:p>
            <a:pPr marL="0" indent="0" algn="ctr">
              <a:lnSpc>
                <a:spcPct val="110000"/>
              </a:lnSpc>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Financial Inclusion Development Typology (FIDT)</a:t>
            </a:r>
            <a:endParaRPr lang="en-US" sz="950" dirty="0"/>
          </a:p>
        </p:txBody>
      </p:sp>
      <p:sp>
        <p:nvSpPr>
          <p:cNvPr id="17" name="Shape 15"/>
          <p:cNvSpPr/>
          <p:nvPr/>
        </p:nvSpPr>
        <p:spPr>
          <a:xfrm>
            <a:off x="2423160" y="2066544"/>
            <a:ext cx="2999232" cy="274320"/>
          </a:xfrm>
          <a:prstGeom prst="roundRect">
            <a:avLst>
              <a:gd name="adj" fmla="val 50000"/>
            </a:avLst>
          </a:prstGeom>
          <a:solidFill>
            <a:srgbClr val="C9D3EA"/>
          </a:solidFill>
        </p:spPr>
      </p:sp>
      <p:sp>
        <p:nvSpPr>
          <p:cNvPr id="18" name="Text 16"/>
          <p:cNvSpPr/>
          <p:nvPr/>
        </p:nvSpPr>
        <p:spPr>
          <a:xfrm>
            <a:off x="2423160" y="2066544"/>
            <a:ext cx="2999232" cy="274320"/>
          </a:xfrm>
          <a:prstGeom prst="rect">
            <a:avLst/>
          </a:prstGeom>
          <a:noFill/>
        </p:spPr>
        <p:txBody>
          <a:bodyPr wrap="square" lIns="0" tIns="0" rIns="0" bIns="0" rtlCol="0" anchor="ctr"/>
          <a:lstStyle/>
          <a:p>
            <a:pPr marL="0" indent="0" algn="ctr">
              <a:buNone/>
            </a:pPr>
            <a:r>
              <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Usage-driven</a:t>
            </a:r>
            <a:endPar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5559552" y="2066544"/>
            <a:ext cx="2999232" cy="274320"/>
          </a:xfrm>
          <a:prstGeom prst="roundRect">
            <a:avLst>
              <a:gd name="adj" fmla="val 50000"/>
            </a:avLst>
          </a:prstGeom>
          <a:solidFill>
            <a:srgbClr val="7C93BC"/>
          </a:solidFill>
        </p:spPr>
      </p:sp>
      <p:sp>
        <p:nvSpPr>
          <p:cNvPr id="20" name="Text 18"/>
          <p:cNvSpPr/>
          <p:nvPr/>
        </p:nvSpPr>
        <p:spPr>
          <a:xfrm>
            <a:off x="5559552" y="2066544"/>
            <a:ext cx="2999232" cy="27432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Penetration-driven</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Shape 19"/>
          <p:cNvSpPr/>
          <p:nvPr/>
        </p:nvSpPr>
        <p:spPr>
          <a:xfrm>
            <a:off x="8695944" y="2066544"/>
            <a:ext cx="2999232" cy="274320"/>
          </a:xfrm>
          <a:prstGeom prst="roundRect">
            <a:avLst>
              <a:gd name="adj" fmla="val 50000"/>
            </a:avLst>
          </a:prstGeom>
          <a:solidFill>
            <a:srgbClr val="16233F"/>
          </a:solidFill>
        </p:spPr>
      </p:sp>
      <p:sp>
        <p:nvSpPr>
          <p:cNvPr id="22" name="Text 20"/>
          <p:cNvSpPr/>
          <p:nvPr/>
        </p:nvSpPr>
        <p:spPr>
          <a:xfrm>
            <a:off x="8695944" y="2066544"/>
            <a:ext cx="2999232" cy="27432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Availability-driven</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p:nvPr/>
        </p:nvSpPr>
        <p:spPr>
          <a:xfrm>
            <a:off x="548640" y="2414016"/>
            <a:ext cx="1737360" cy="731520"/>
          </a:xfrm>
          <a:prstGeom prst="rect">
            <a:avLst/>
          </a:prstGeom>
          <a:noFill/>
        </p:spPr>
        <p:txBody>
          <a:bodyPr wrap="square" lIns="0" tIns="0" rIns="0" bIns="0" rtlCol="0" anchor="ctr"/>
          <a:lstStyle/>
          <a:p>
            <a:pPr marL="0" indent="0" algn="l">
              <a:lnSpc>
                <a:spcPct val="108000"/>
              </a:lnSpc>
              <a:buNone/>
            </a:pPr>
            <a:r>
              <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rPr>
              <a:t>Financial Inclusion Leaders</a:t>
            </a:r>
            <a:endParaRPr lang="en-US" sz="12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Shape 22"/>
          <p:cNvSpPr/>
          <p:nvPr/>
        </p:nvSpPr>
        <p:spPr>
          <a:xfrm>
            <a:off x="2423160" y="2414016"/>
            <a:ext cx="2999232" cy="731520"/>
          </a:xfrm>
          <a:prstGeom prst="roundRect">
            <a:avLst>
              <a:gd name="adj" fmla="val 6250"/>
            </a:avLst>
          </a:prstGeom>
          <a:solidFill>
            <a:srgbClr val="F4F4F2"/>
          </a:solidFill>
          <a:ln w="12700">
            <a:solidFill>
              <a:srgbClr val="E1E1DD"/>
            </a:solidFill>
            <a:prstDash val="solid"/>
          </a:ln>
        </p:spPr>
      </p:sp>
      <p:sp>
        <p:nvSpPr>
          <p:cNvPr id="25" name="Shape 23"/>
          <p:cNvSpPr/>
          <p:nvPr/>
        </p:nvSpPr>
        <p:spPr>
          <a:xfrm>
            <a:off x="2532888" y="2704338"/>
            <a:ext cx="603504" cy="150876"/>
          </a:xfrm>
          <a:prstGeom prst="roundRect">
            <a:avLst>
              <a:gd name="adj" fmla="val 48485"/>
            </a:avLst>
          </a:prstGeom>
          <a:solidFill>
            <a:schemeClr val="accent6">
              <a:lumMod val="50000"/>
            </a:schemeClr>
          </a:solidFill>
        </p:spPr>
      </p:sp>
      <p:sp>
        <p:nvSpPr>
          <p:cNvPr id="26" name="Text 24"/>
          <p:cNvSpPr/>
          <p:nvPr/>
        </p:nvSpPr>
        <p:spPr>
          <a:xfrm>
            <a:off x="2532888" y="2704338"/>
            <a:ext cx="603504" cy="150876"/>
          </a:xfrm>
          <a:prstGeom prst="rect">
            <a:avLst/>
          </a:prstGeom>
          <a:noFill/>
        </p:spPr>
        <p:txBody>
          <a:bodyPr wrap="square" lIns="0" tIns="0" rIns="0" bIns="0" rtlCol="0" anchor="ctr"/>
          <a:lstStyle/>
          <a:p>
            <a:pPr marL="0" indent="0" algn="ctr">
              <a:buNone/>
            </a:pPr>
            <a:r>
              <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rPr>
              <a:t>Strong</a:t>
            </a:r>
            <a:endPar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Text 25"/>
          <p:cNvSpPr/>
          <p:nvPr/>
        </p:nvSpPr>
        <p:spPr>
          <a:xfrm>
            <a:off x="3209544" y="2686050"/>
            <a:ext cx="2084832" cy="187452"/>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Goa, Uttarakhand</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Shape 26"/>
          <p:cNvSpPr/>
          <p:nvPr/>
        </p:nvSpPr>
        <p:spPr>
          <a:xfrm>
            <a:off x="5559552" y="2414016"/>
            <a:ext cx="2999232" cy="731520"/>
          </a:xfrm>
          <a:prstGeom prst="roundRect">
            <a:avLst>
              <a:gd name="adj" fmla="val 6250"/>
            </a:avLst>
          </a:prstGeom>
          <a:solidFill>
            <a:srgbClr val="F4F4F2"/>
          </a:solidFill>
          <a:ln w="12700">
            <a:solidFill>
              <a:srgbClr val="E1E1DD"/>
            </a:solidFill>
            <a:prstDash val="solid"/>
          </a:ln>
        </p:spPr>
      </p:sp>
      <p:sp>
        <p:nvSpPr>
          <p:cNvPr id="29" name="Shape 27"/>
          <p:cNvSpPr/>
          <p:nvPr/>
        </p:nvSpPr>
        <p:spPr>
          <a:xfrm>
            <a:off x="5669280" y="2587752"/>
            <a:ext cx="603504" cy="150876"/>
          </a:xfrm>
          <a:prstGeom prst="roundRect">
            <a:avLst>
              <a:gd name="adj" fmla="val 48485"/>
            </a:avLst>
          </a:prstGeom>
          <a:solidFill>
            <a:schemeClr val="accent6">
              <a:lumMod val="75000"/>
            </a:schemeClr>
          </a:solidFill>
        </p:spPr>
      </p:sp>
      <p:sp>
        <p:nvSpPr>
          <p:cNvPr id="30" name="Text 28"/>
          <p:cNvSpPr/>
          <p:nvPr/>
        </p:nvSpPr>
        <p:spPr>
          <a:xfrm>
            <a:off x="5669280" y="2587752"/>
            <a:ext cx="603504" cy="150876"/>
          </a:xfrm>
          <a:prstGeom prst="rect">
            <a:avLst/>
          </a:prstGeom>
          <a:noFill/>
        </p:spPr>
        <p:txBody>
          <a:bodyPr wrap="square" lIns="0" tIns="0" rIns="0" bIns="0" rtlCol="0" anchor="ctr"/>
          <a:lstStyle/>
          <a:p>
            <a:pPr marL="0" indent="0" algn="ctr">
              <a:buNone/>
            </a:pPr>
            <a:r>
              <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Moderate</a:t>
            </a:r>
            <a:endPar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1" name="Text 29"/>
          <p:cNvSpPr/>
          <p:nvPr/>
        </p:nvSpPr>
        <p:spPr>
          <a:xfrm>
            <a:off x="6345936" y="2569464"/>
            <a:ext cx="2084832" cy="187452"/>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Maharashtra, Tamil Nadu</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32" name="Shape 30"/>
          <p:cNvSpPr/>
          <p:nvPr/>
        </p:nvSpPr>
        <p:spPr>
          <a:xfrm>
            <a:off x="5669280" y="2820924"/>
            <a:ext cx="603504" cy="150876"/>
          </a:xfrm>
          <a:prstGeom prst="roundRect">
            <a:avLst>
              <a:gd name="adj" fmla="val 48485"/>
            </a:avLst>
          </a:prstGeom>
          <a:solidFill>
            <a:schemeClr val="accent6">
              <a:lumMod val="40000"/>
              <a:lumOff val="60000"/>
            </a:schemeClr>
          </a:solidFill>
        </p:spPr>
      </p:sp>
      <p:sp>
        <p:nvSpPr>
          <p:cNvPr id="33" name="Text 31"/>
          <p:cNvSpPr/>
          <p:nvPr/>
        </p:nvSpPr>
        <p:spPr>
          <a:xfrm>
            <a:off x="5669280" y="2820924"/>
            <a:ext cx="603504" cy="150876"/>
          </a:xfrm>
          <a:prstGeom prst="rect">
            <a:avLst/>
          </a:prstGeom>
          <a:noFill/>
        </p:spPr>
        <p:txBody>
          <a:bodyPr wrap="square" lIns="0" tIns="0" rIns="0" bIns="0" rtlCol="0" anchor="ctr"/>
          <a:lstStyle/>
          <a:p>
            <a:pPr marL="0" indent="0" algn="ctr">
              <a:buNone/>
            </a:pPr>
            <a:r>
              <a:rPr lang="en-US" sz="860" b="1" dirty="0">
                <a:solidFill>
                  <a:srgbClr val="16233F"/>
                </a:solidFill>
                <a:latin typeface="Calibri" panose="020F0502020204030204" pitchFamily="34" charset="0"/>
                <a:ea typeface="Calibri" panose="020F0502020204030204" pitchFamily="34" charset="-122"/>
                <a:cs typeface="Calibri" panose="020F0502020204030204" pitchFamily="34" charset="-120"/>
              </a:rPr>
              <a:t>Weak</a:t>
            </a:r>
            <a:endParaRPr lang="en-US" sz="86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Text 32"/>
          <p:cNvSpPr/>
          <p:nvPr/>
        </p:nvSpPr>
        <p:spPr>
          <a:xfrm>
            <a:off x="6345936" y="2802636"/>
            <a:ext cx="2084832" cy="187452"/>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Haryana, Kerala</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35" name="Shape 33"/>
          <p:cNvSpPr/>
          <p:nvPr/>
        </p:nvSpPr>
        <p:spPr>
          <a:xfrm>
            <a:off x="8695944" y="2414016"/>
            <a:ext cx="2999232" cy="731520"/>
          </a:xfrm>
          <a:prstGeom prst="roundRect">
            <a:avLst>
              <a:gd name="adj" fmla="val 6250"/>
            </a:avLst>
          </a:prstGeom>
          <a:solidFill>
            <a:srgbClr val="F4F4F2"/>
          </a:solidFill>
          <a:ln w="12700">
            <a:solidFill>
              <a:srgbClr val="E1E1DD"/>
            </a:solidFill>
            <a:prstDash val="solid"/>
          </a:ln>
        </p:spPr>
      </p:sp>
      <p:sp>
        <p:nvSpPr>
          <p:cNvPr id="36" name="Shape 34"/>
          <p:cNvSpPr/>
          <p:nvPr/>
        </p:nvSpPr>
        <p:spPr>
          <a:xfrm>
            <a:off x="8805672" y="2704338"/>
            <a:ext cx="603504" cy="150876"/>
          </a:xfrm>
          <a:prstGeom prst="roundRect">
            <a:avLst>
              <a:gd name="adj" fmla="val 48485"/>
            </a:avLst>
          </a:prstGeom>
          <a:solidFill>
            <a:schemeClr val="accent6">
              <a:lumMod val="50000"/>
            </a:schemeClr>
          </a:solidFill>
        </p:spPr>
      </p:sp>
      <p:sp>
        <p:nvSpPr>
          <p:cNvPr id="37" name="Text 35"/>
          <p:cNvSpPr/>
          <p:nvPr/>
        </p:nvSpPr>
        <p:spPr>
          <a:xfrm>
            <a:off x="8805672" y="2704338"/>
            <a:ext cx="603504" cy="150876"/>
          </a:xfrm>
          <a:prstGeom prst="rect">
            <a:avLst/>
          </a:prstGeom>
          <a:noFill/>
        </p:spPr>
        <p:txBody>
          <a:bodyPr wrap="square" lIns="0" tIns="0" rIns="0" bIns="0" rtlCol="0" anchor="ctr"/>
          <a:lstStyle/>
          <a:p>
            <a:pPr marL="0" indent="0" algn="ctr">
              <a:buNone/>
            </a:pPr>
            <a:r>
              <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rPr>
              <a:t>Strong</a:t>
            </a:r>
            <a:endPar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8" name="Text 36"/>
          <p:cNvSpPr/>
          <p:nvPr/>
        </p:nvSpPr>
        <p:spPr>
          <a:xfrm>
            <a:off x="9482328" y="2686050"/>
            <a:ext cx="2084832" cy="187452"/>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Sikkim</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39" name="Text 37"/>
          <p:cNvSpPr/>
          <p:nvPr/>
        </p:nvSpPr>
        <p:spPr>
          <a:xfrm>
            <a:off x="548640" y="3218688"/>
            <a:ext cx="1737360" cy="960120"/>
          </a:xfrm>
          <a:prstGeom prst="rect">
            <a:avLst/>
          </a:prstGeom>
          <a:noFill/>
        </p:spPr>
        <p:txBody>
          <a:bodyPr wrap="square" lIns="0" tIns="0" rIns="0" bIns="0" rtlCol="0" anchor="ctr"/>
          <a:lstStyle/>
          <a:p>
            <a:pPr marL="0" indent="0" algn="l">
              <a:lnSpc>
                <a:spcPct val="108000"/>
              </a:lnSpc>
              <a:buNone/>
            </a:pPr>
            <a:r>
              <a:rPr lang="en-US" sz="1200" b="1" dirty="0">
                <a:solidFill>
                  <a:srgbClr val="3E5175"/>
                </a:solidFill>
                <a:latin typeface="Calibri" panose="020F0502020204030204" pitchFamily="34" charset="0"/>
                <a:ea typeface="Calibri" panose="020F0502020204030204" pitchFamily="34" charset="-122"/>
                <a:cs typeface="Calibri" panose="020F0502020204030204" pitchFamily="34" charset="-120"/>
              </a:rPr>
              <a:t>Emerging Financial Inclusion States</a:t>
            </a:r>
            <a:endParaRPr lang="en-US" sz="1200" b="1" dirty="0">
              <a:solidFill>
                <a:srgbClr val="3E5175"/>
              </a:solidFill>
              <a:latin typeface="Calibri" panose="020F0502020204030204" pitchFamily="34" charset="0"/>
              <a:ea typeface="Calibri" panose="020F0502020204030204" pitchFamily="34" charset="-122"/>
              <a:cs typeface="Calibri" panose="020F0502020204030204" pitchFamily="34" charset="-120"/>
            </a:endParaRPr>
          </a:p>
        </p:txBody>
      </p:sp>
      <p:sp>
        <p:nvSpPr>
          <p:cNvPr id="40" name="Shape 38"/>
          <p:cNvSpPr/>
          <p:nvPr/>
        </p:nvSpPr>
        <p:spPr>
          <a:xfrm>
            <a:off x="2423160" y="3218688"/>
            <a:ext cx="2999232" cy="960120"/>
          </a:xfrm>
          <a:prstGeom prst="roundRect">
            <a:avLst>
              <a:gd name="adj" fmla="val 4762"/>
            </a:avLst>
          </a:prstGeom>
          <a:solidFill>
            <a:srgbClr val="F4F4F2"/>
          </a:solidFill>
          <a:ln w="12700">
            <a:solidFill>
              <a:srgbClr val="E1E1DD"/>
            </a:solidFill>
            <a:prstDash val="solid"/>
          </a:ln>
        </p:spPr>
      </p:sp>
      <p:sp>
        <p:nvSpPr>
          <p:cNvPr id="41" name="Shape 39"/>
          <p:cNvSpPr/>
          <p:nvPr/>
        </p:nvSpPr>
        <p:spPr>
          <a:xfrm>
            <a:off x="2532888" y="3392424"/>
            <a:ext cx="603504" cy="150876"/>
          </a:xfrm>
          <a:prstGeom prst="roundRect">
            <a:avLst>
              <a:gd name="adj" fmla="val 48485"/>
            </a:avLst>
          </a:prstGeom>
          <a:solidFill>
            <a:schemeClr val="accent6">
              <a:lumMod val="75000"/>
            </a:schemeClr>
          </a:solidFill>
        </p:spPr>
      </p:sp>
      <p:sp>
        <p:nvSpPr>
          <p:cNvPr id="42" name="Text 40"/>
          <p:cNvSpPr/>
          <p:nvPr/>
        </p:nvSpPr>
        <p:spPr>
          <a:xfrm>
            <a:off x="2532888" y="3392424"/>
            <a:ext cx="603504" cy="150876"/>
          </a:xfrm>
          <a:prstGeom prst="rect">
            <a:avLst/>
          </a:prstGeom>
          <a:noFill/>
        </p:spPr>
        <p:txBody>
          <a:bodyPr wrap="square" lIns="0" tIns="0" rIns="0" bIns="0" rtlCol="0" anchor="ctr"/>
          <a:lstStyle/>
          <a:p>
            <a:pPr marL="0" indent="0" algn="ctr">
              <a:buNone/>
            </a:pPr>
            <a:r>
              <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Moderate</a:t>
            </a:r>
            <a:endPar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43" name="Text 41"/>
          <p:cNvSpPr/>
          <p:nvPr/>
        </p:nvSpPr>
        <p:spPr>
          <a:xfrm>
            <a:off x="3209544" y="3255264"/>
            <a:ext cx="2084832" cy="425196"/>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Karnataka, Himachal Pradesh, Gujarat, Rajasthan, Chhattisgarh</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44" name="Shape 42"/>
          <p:cNvSpPr/>
          <p:nvPr/>
        </p:nvSpPr>
        <p:spPr>
          <a:xfrm>
            <a:off x="2532888" y="3744468"/>
            <a:ext cx="603504" cy="150876"/>
          </a:xfrm>
          <a:prstGeom prst="roundRect">
            <a:avLst>
              <a:gd name="adj" fmla="val 48485"/>
            </a:avLst>
          </a:prstGeom>
          <a:solidFill>
            <a:schemeClr val="accent6">
              <a:lumMod val="50000"/>
            </a:schemeClr>
          </a:solidFill>
        </p:spPr>
      </p:sp>
      <p:sp>
        <p:nvSpPr>
          <p:cNvPr id="45" name="Text 43"/>
          <p:cNvSpPr/>
          <p:nvPr/>
        </p:nvSpPr>
        <p:spPr>
          <a:xfrm>
            <a:off x="2532888" y="3744468"/>
            <a:ext cx="603504" cy="150876"/>
          </a:xfrm>
          <a:prstGeom prst="rect">
            <a:avLst/>
          </a:prstGeom>
          <a:noFill/>
        </p:spPr>
        <p:txBody>
          <a:bodyPr wrap="square" lIns="0" tIns="0" rIns="0" bIns="0" rtlCol="0" anchor="ctr"/>
          <a:lstStyle/>
          <a:p>
            <a:pPr marL="0" indent="0" algn="ctr">
              <a:buNone/>
            </a:pPr>
            <a:r>
              <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rPr>
              <a:t>Strong</a:t>
            </a:r>
            <a:endPar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46" name="Text 44"/>
          <p:cNvSpPr/>
          <p:nvPr/>
        </p:nvSpPr>
        <p:spPr>
          <a:xfrm>
            <a:off x="3209544" y="3726180"/>
            <a:ext cx="2084832" cy="187452"/>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Arunachal Pradesh</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47" name="Shape 45"/>
          <p:cNvSpPr/>
          <p:nvPr/>
        </p:nvSpPr>
        <p:spPr>
          <a:xfrm>
            <a:off x="2532888" y="3977640"/>
            <a:ext cx="603504" cy="150876"/>
          </a:xfrm>
          <a:prstGeom prst="roundRect">
            <a:avLst>
              <a:gd name="adj" fmla="val 48485"/>
            </a:avLst>
          </a:prstGeom>
          <a:solidFill>
            <a:schemeClr val="accent6">
              <a:lumMod val="40000"/>
              <a:lumOff val="60000"/>
            </a:schemeClr>
          </a:solidFill>
        </p:spPr>
      </p:sp>
      <p:sp>
        <p:nvSpPr>
          <p:cNvPr id="48" name="Text 46"/>
          <p:cNvSpPr/>
          <p:nvPr/>
        </p:nvSpPr>
        <p:spPr>
          <a:xfrm>
            <a:off x="2532888" y="3977640"/>
            <a:ext cx="603504" cy="150876"/>
          </a:xfrm>
          <a:prstGeom prst="rect">
            <a:avLst/>
          </a:prstGeom>
          <a:noFill/>
        </p:spPr>
        <p:txBody>
          <a:bodyPr wrap="square" lIns="0" tIns="0" rIns="0" bIns="0" rtlCol="0" anchor="ctr"/>
          <a:lstStyle/>
          <a:p>
            <a:pPr marL="0" indent="0" algn="ctr">
              <a:buNone/>
            </a:pPr>
            <a:r>
              <a:rPr lang="en-US" sz="860" b="1" dirty="0">
                <a:solidFill>
                  <a:srgbClr val="16233F"/>
                </a:solidFill>
                <a:latin typeface="Calibri" panose="020F0502020204030204" pitchFamily="34" charset="0"/>
                <a:ea typeface="Calibri" panose="020F0502020204030204" pitchFamily="34" charset="-122"/>
                <a:cs typeface="Calibri" panose="020F0502020204030204" pitchFamily="34" charset="-120"/>
              </a:rPr>
              <a:t>Weak</a:t>
            </a:r>
            <a:endParaRPr lang="en-US" sz="86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49" name="Text 47"/>
          <p:cNvSpPr/>
          <p:nvPr/>
        </p:nvSpPr>
        <p:spPr>
          <a:xfrm>
            <a:off x="3209544" y="3959352"/>
            <a:ext cx="2084832" cy="187452"/>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Telangana, Punjab</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50" name="Shape 48"/>
          <p:cNvSpPr/>
          <p:nvPr/>
        </p:nvSpPr>
        <p:spPr>
          <a:xfrm>
            <a:off x="5559552" y="3218688"/>
            <a:ext cx="2999232" cy="960120"/>
          </a:xfrm>
          <a:prstGeom prst="roundRect">
            <a:avLst>
              <a:gd name="adj" fmla="val 4762"/>
            </a:avLst>
          </a:prstGeom>
          <a:solidFill>
            <a:srgbClr val="F4F4F2"/>
          </a:solidFill>
          <a:ln w="12700">
            <a:solidFill>
              <a:srgbClr val="E1E1DD"/>
            </a:solidFill>
            <a:prstDash val="solid"/>
          </a:ln>
        </p:spPr>
      </p:sp>
      <p:sp>
        <p:nvSpPr>
          <p:cNvPr id="51" name="Shape 49"/>
          <p:cNvSpPr/>
          <p:nvPr/>
        </p:nvSpPr>
        <p:spPr>
          <a:xfrm>
            <a:off x="5669280" y="3390138"/>
            <a:ext cx="603504" cy="150876"/>
          </a:xfrm>
          <a:prstGeom prst="roundRect">
            <a:avLst>
              <a:gd name="adj" fmla="val 48485"/>
            </a:avLst>
          </a:prstGeom>
          <a:solidFill>
            <a:schemeClr val="accent6">
              <a:lumMod val="75000"/>
            </a:schemeClr>
          </a:solidFill>
        </p:spPr>
        <p:txBody>
          <a:bodyPr/>
          <a:p>
            <a:endParaRPr lang="en-US"/>
          </a:p>
        </p:txBody>
      </p:sp>
      <p:sp>
        <p:nvSpPr>
          <p:cNvPr id="52" name="Text 50"/>
          <p:cNvSpPr/>
          <p:nvPr/>
        </p:nvSpPr>
        <p:spPr>
          <a:xfrm>
            <a:off x="5669280" y="3392043"/>
            <a:ext cx="603504" cy="150876"/>
          </a:xfrm>
          <a:prstGeom prst="rect">
            <a:avLst/>
          </a:prstGeom>
          <a:noFill/>
        </p:spPr>
        <p:txBody>
          <a:bodyPr wrap="square" lIns="0" tIns="0" rIns="0" bIns="0" rtlCol="0" anchor="ctr"/>
          <a:lstStyle/>
          <a:p>
            <a:pPr marL="0" indent="0" algn="ctr">
              <a:buNone/>
            </a:pPr>
            <a:r>
              <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Moderate</a:t>
            </a:r>
            <a:endPar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53" name="Text 51"/>
          <p:cNvSpPr/>
          <p:nvPr/>
        </p:nvSpPr>
        <p:spPr>
          <a:xfrm>
            <a:off x="6345936" y="3371850"/>
            <a:ext cx="2084832" cy="187452"/>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Odisha, West Bengal</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54" name="Shape 52"/>
          <p:cNvSpPr/>
          <p:nvPr/>
        </p:nvSpPr>
        <p:spPr>
          <a:xfrm>
            <a:off x="5669280" y="3623310"/>
            <a:ext cx="603504" cy="150876"/>
          </a:xfrm>
          <a:prstGeom prst="roundRect">
            <a:avLst>
              <a:gd name="adj" fmla="val 48485"/>
            </a:avLst>
          </a:prstGeom>
          <a:solidFill>
            <a:schemeClr val="accent6">
              <a:lumMod val="50000"/>
            </a:schemeClr>
          </a:solidFill>
        </p:spPr>
      </p:sp>
      <p:sp>
        <p:nvSpPr>
          <p:cNvPr id="55" name="Text 53"/>
          <p:cNvSpPr/>
          <p:nvPr/>
        </p:nvSpPr>
        <p:spPr>
          <a:xfrm>
            <a:off x="5669280" y="3623310"/>
            <a:ext cx="603504" cy="150876"/>
          </a:xfrm>
          <a:prstGeom prst="rect">
            <a:avLst/>
          </a:prstGeom>
          <a:noFill/>
        </p:spPr>
        <p:txBody>
          <a:bodyPr wrap="square" lIns="0" tIns="0" rIns="0" bIns="0" rtlCol="0" anchor="ctr"/>
          <a:lstStyle/>
          <a:p>
            <a:pPr marL="0" indent="0" algn="ctr">
              <a:buNone/>
            </a:pPr>
            <a:r>
              <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rPr>
              <a:t>Strong</a:t>
            </a:r>
            <a:endPar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56" name="Text 54"/>
          <p:cNvSpPr/>
          <p:nvPr/>
        </p:nvSpPr>
        <p:spPr>
          <a:xfrm>
            <a:off x="6345936" y="3605022"/>
            <a:ext cx="2084832" cy="187452"/>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Assam</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57" name="Shape 55"/>
          <p:cNvSpPr/>
          <p:nvPr/>
        </p:nvSpPr>
        <p:spPr>
          <a:xfrm>
            <a:off x="5669280" y="3856482"/>
            <a:ext cx="603504" cy="150876"/>
          </a:xfrm>
          <a:prstGeom prst="roundRect">
            <a:avLst>
              <a:gd name="adj" fmla="val 48485"/>
            </a:avLst>
          </a:prstGeom>
          <a:solidFill>
            <a:schemeClr val="accent6">
              <a:lumMod val="40000"/>
              <a:lumOff val="60000"/>
            </a:schemeClr>
          </a:solidFill>
        </p:spPr>
      </p:sp>
      <p:sp>
        <p:nvSpPr>
          <p:cNvPr id="58" name="Text 56"/>
          <p:cNvSpPr/>
          <p:nvPr/>
        </p:nvSpPr>
        <p:spPr>
          <a:xfrm>
            <a:off x="5669280" y="3856482"/>
            <a:ext cx="603504" cy="150876"/>
          </a:xfrm>
          <a:prstGeom prst="rect">
            <a:avLst/>
          </a:prstGeom>
          <a:noFill/>
        </p:spPr>
        <p:txBody>
          <a:bodyPr wrap="square" lIns="0" tIns="0" rIns="0" bIns="0" rtlCol="0" anchor="ctr"/>
          <a:lstStyle/>
          <a:p>
            <a:pPr marL="0" indent="0" algn="ctr">
              <a:buNone/>
            </a:pPr>
            <a:r>
              <a:rPr lang="en-US" sz="860" b="1" dirty="0">
                <a:solidFill>
                  <a:srgbClr val="16233F"/>
                </a:solidFill>
                <a:latin typeface="Calibri" panose="020F0502020204030204" pitchFamily="34" charset="0"/>
                <a:ea typeface="Calibri" panose="020F0502020204030204" pitchFamily="34" charset="-122"/>
                <a:cs typeface="Calibri" panose="020F0502020204030204" pitchFamily="34" charset="-120"/>
              </a:rPr>
              <a:t>Weak</a:t>
            </a:r>
            <a:endParaRPr lang="en-US" sz="86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59" name="Text 57"/>
          <p:cNvSpPr/>
          <p:nvPr/>
        </p:nvSpPr>
        <p:spPr>
          <a:xfrm>
            <a:off x="6345936" y="3838194"/>
            <a:ext cx="2084832" cy="187452"/>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Andhra Pradesh</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60" name="Shape 58"/>
          <p:cNvSpPr/>
          <p:nvPr/>
        </p:nvSpPr>
        <p:spPr>
          <a:xfrm>
            <a:off x="8695944" y="3218688"/>
            <a:ext cx="2999232" cy="960120"/>
          </a:xfrm>
          <a:prstGeom prst="roundRect">
            <a:avLst>
              <a:gd name="adj" fmla="val 4762"/>
            </a:avLst>
          </a:prstGeom>
          <a:solidFill>
            <a:srgbClr val="F4F4F2"/>
          </a:solidFill>
          <a:ln w="12700">
            <a:solidFill>
              <a:srgbClr val="E1E1DD"/>
            </a:solidFill>
            <a:prstDash val="solid"/>
          </a:ln>
        </p:spPr>
      </p:sp>
      <p:sp>
        <p:nvSpPr>
          <p:cNvPr id="61" name="Shape 59"/>
          <p:cNvSpPr/>
          <p:nvPr/>
        </p:nvSpPr>
        <p:spPr>
          <a:xfrm>
            <a:off x="8805672" y="3506724"/>
            <a:ext cx="603504" cy="150876"/>
          </a:xfrm>
          <a:prstGeom prst="roundRect">
            <a:avLst>
              <a:gd name="adj" fmla="val 48485"/>
            </a:avLst>
          </a:prstGeom>
          <a:solidFill>
            <a:schemeClr val="accent6">
              <a:lumMod val="75000"/>
            </a:schemeClr>
          </a:solidFill>
        </p:spPr>
      </p:sp>
      <p:sp>
        <p:nvSpPr>
          <p:cNvPr id="62" name="Text 60"/>
          <p:cNvSpPr/>
          <p:nvPr/>
        </p:nvSpPr>
        <p:spPr>
          <a:xfrm>
            <a:off x="8805672" y="3506724"/>
            <a:ext cx="603504" cy="150876"/>
          </a:xfrm>
          <a:prstGeom prst="rect">
            <a:avLst/>
          </a:prstGeom>
          <a:noFill/>
        </p:spPr>
        <p:txBody>
          <a:bodyPr wrap="square" lIns="0" tIns="0" rIns="0" bIns="0" rtlCol="0" anchor="ctr"/>
          <a:lstStyle/>
          <a:p>
            <a:pPr marL="0" indent="0" algn="ctr">
              <a:buNone/>
            </a:pPr>
            <a:r>
              <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Moderate</a:t>
            </a:r>
            <a:endPar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63" name="Text 61"/>
          <p:cNvSpPr/>
          <p:nvPr/>
        </p:nvSpPr>
        <p:spPr>
          <a:xfrm>
            <a:off x="9482328" y="3488436"/>
            <a:ext cx="2084832" cy="187452"/>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Mizoram</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64" name="Shape 62"/>
          <p:cNvSpPr/>
          <p:nvPr/>
        </p:nvSpPr>
        <p:spPr>
          <a:xfrm>
            <a:off x="8805672" y="3739896"/>
            <a:ext cx="603504" cy="150876"/>
          </a:xfrm>
          <a:prstGeom prst="roundRect">
            <a:avLst>
              <a:gd name="adj" fmla="val 48485"/>
            </a:avLst>
          </a:prstGeom>
          <a:solidFill>
            <a:schemeClr val="accent6">
              <a:lumMod val="40000"/>
              <a:lumOff val="60000"/>
            </a:schemeClr>
          </a:solidFill>
        </p:spPr>
        <p:txBody>
          <a:bodyPr/>
          <a:p>
            <a:endParaRPr lang="en-US"/>
          </a:p>
        </p:txBody>
      </p:sp>
      <p:sp>
        <p:nvSpPr>
          <p:cNvPr id="65" name="Text 63"/>
          <p:cNvSpPr/>
          <p:nvPr/>
        </p:nvSpPr>
        <p:spPr>
          <a:xfrm>
            <a:off x="8805672" y="3739896"/>
            <a:ext cx="603504" cy="150876"/>
          </a:xfrm>
          <a:prstGeom prst="rect">
            <a:avLst/>
          </a:prstGeom>
          <a:noFill/>
        </p:spPr>
        <p:txBody>
          <a:bodyPr wrap="square" lIns="0" tIns="0" rIns="0" bIns="0" rtlCol="0" anchor="ctr"/>
          <a:lstStyle/>
          <a:p>
            <a:pPr marL="0" indent="0" algn="ctr">
              <a:buNone/>
            </a:pPr>
            <a:r>
              <a:rPr lang="en-US" sz="860" b="1" dirty="0">
                <a:solidFill>
                  <a:srgbClr val="16233F"/>
                </a:solidFill>
                <a:latin typeface="Calibri" panose="020F0502020204030204" pitchFamily="34" charset="0"/>
                <a:ea typeface="Calibri" panose="020F0502020204030204" pitchFamily="34" charset="-122"/>
                <a:cs typeface="Calibri" panose="020F0502020204030204" pitchFamily="34" charset="-120"/>
              </a:rPr>
              <a:t>Weak</a:t>
            </a:r>
            <a:endParaRPr lang="en-US" sz="86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66" name="Text 64"/>
          <p:cNvSpPr/>
          <p:nvPr/>
        </p:nvSpPr>
        <p:spPr>
          <a:xfrm>
            <a:off x="9482328" y="3721608"/>
            <a:ext cx="2084832" cy="187452"/>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Tripura</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67" name="Text 65"/>
          <p:cNvSpPr/>
          <p:nvPr/>
        </p:nvSpPr>
        <p:spPr>
          <a:xfrm>
            <a:off x="548640" y="4251960"/>
            <a:ext cx="1737360" cy="731520"/>
          </a:xfrm>
          <a:prstGeom prst="rect">
            <a:avLst/>
          </a:prstGeom>
          <a:noFill/>
        </p:spPr>
        <p:txBody>
          <a:bodyPr wrap="square" lIns="0" tIns="0" rIns="0" bIns="0" rtlCol="0" anchor="ctr"/>
          <a:lstStyle/>
          <a:p>
            <a:pPr marL="0" indent="0" algn="l">
              <a:lnSpc>
                <a:spcPct val="108000"/>
              </a:lnSpc>
              <a:buNone/>
            </a:pPr>
            <a:r>
              <a:rPr lang="en-US" sz="1200" b="1" dirty="0">
                <a:solidFill>
                  <a:srgbClr val="8D97AC"/>
                </a:solidFill>
                <a:latin typeface="Calibri" panose="020F0502020204030204" pitchFamily="34" charset="0"/>
                <a:ea typeface="Calibri" panose="020F0502020204030204" pitchFamily="34" charset="-122"/>
                <a:cs typeface="Calibri" panose="020F0502020204030204" pitchFamily="34" charset="-120"/>
              </a:rPr>
              <a:t>Financial Inclusion Priority States</a:t>
            </a:r>
            <a:endParaRPr lang="en-US" sz="1200" b="1" dirty="0">
              <a:solidFill>
                <a:srgbClr val="8D97AC"/>
              </a:solidFill>
              <a:latin typeface="Calibri" panose="020F0502020204030204" pitchFamily="34" charset="0"/>
              <a:ea typeface="Calibri" panose="020F0502020204030204" pitchFamily="34" charset="-122"/>
              <a:cs typeface="Calibri" panose="020F0502020204030204" pitchFamily="34" charset="-120"/>
            </a:endParaRPr>
          </a:p>
        </p:txBody>
      </p:sp>
      <p:sp>
        <p:nvSpPr>
          <p:cNvPr id="68" name="Shape 66"/>
          <p:cNvSpPr/>
          <p:nvPr/>
        </p:nvSpPr>
        <p:spPr>
          <a:xfrm>
            <a:off x="2423160" y="4251960"/>
            <a:ext cx="2999232" cy="731520"/>
          </a:xfrm>
          <a:prstGeom prst="roundRect">
            <a:avLst>
              <a:gd name="adj" fmla="val 6250"/>
            </a:avLst>
          </a:prstGeom>
          <a:solidFill>
            <a:srgbClr val="F4F4F2"/>
          </a:solidFill>
          <a:ln w="12700">
            <a:solidFill>
              <a:srgbClr val="E1E1DD"/>
            </a:solidFill>
            <a:prstDash val="solid"/>
          </a:ln>
        </p:spPr>
      </p:sp>
      <p:sp>
        <p:nvSpPr>
          <p:cNvPr id="69" name="Text 67"/>
          <p:cNvSpPr/>
          <p:nvPr/>
        </p:nvSpPr>
        <p:spPr>
          <a:xfrm>
            <a:off x="2423160" y="4251960"/>
            <a:ext cx="2999232" cy="731520"/>
          </a:xfrm>
          <a:prstGeom prst="rect">
            <a:avLst/>
          </a:prstGeom>
          <a:noFill/>
        </p:spPr>
        <p:txBody>
          <a:bodyPr wrap="square" lIns="0" tIns="0" rIns="0" bIns="0" rtlCol="0" anchor="ctr"/>
          <a:lstStyle/>
          <a:p>
            <a:pPr marL="0" indent="0" algn="ctr">
              <a:buNone/>
            </a:pPr>
            <a:r>
              <a:rPr lang="en-US" sz="1100" dirty="0">
                <a:solidFill>
                  <a:srgbClr val="AEB6C4"/>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70" name="Shape 68"/>
          <p:cNvSpPr/>
          <p:nvPr/>
        </p:nvSpPr>
        <p:spPr>
          <a:xfrm>
            <a:off x="5559552" y="4251960"/>
            <a:ext cx="2999232" cy="731520"/>
          </a:xfrm>
          <a:prstGeom prst="roundRect">
            <a:avLst>
              <a:gd name="adj" fmla="val 6250"/>
            </a:avLst>
          </a:prstGeom>
          <a:solidFill>
            <a:srgbClr val="F4F4F2"/>
          </a:solidFill>
          <a:ln w="12700">
            <a:solidFill>
              <a:srgbClr val="E1E1DD"/>
            </a:solidFill>
            <a:prstDash val="solid"/>
          </a:ln>
        </p:spPr>
      </p:sp>
      <p:sp>
        <p:nvSpPr>
          <p:cNvPr id="71" name="Shape 69"/>
          <p:cNvSpPr/>
          <p:nvPr/>
        </p:nvSpPr>
        <p:spPr>
          <a:xfrm>
            <a:off x="5669280" y="4425696"/>
            <a:ext cx="603504" cy="150876"/>
          </a:xfrm>
          <a:prstGeom prst="roundRect">
            <a:avLst>
              <a:gd name="adj" fmla="val 48485"/>
            </a:avLst>
          </a:prstGeom>
          <a:solidFill>
            <a:schemeClr val="accent6">
              <a:lumMod val="75000"/>
            </a:schemeClr>
          </a:solidFill>
        </p:spPr>
      </p:sp>
      <p:sp>
        <p:nvSpPr>
          <p:cNvPr id="72" name="Text 70"/>
          <p:cNvSpPr/>
          <p:nvPr/>
        </p:nvSpPr>
        <p:spPr>
          <a:xfrm>
            <a:off x="5669280" y="4425696"/>
            <a:ext cx="603504" cy="150876"/>
          </a:xfrm>
          <a:prstGeom prst="rect">
            <a:avLst/>
          </a:prstGeom>
          <a:noFill/>
        </p:spPr>
        <p:txBody>
          <a:bodyPr wrap="square" lIns="0" tIns="0" rIns="0" bIns="0" rtlCol="0" anchor="ctr"/>
          <a:lstStyle/>
          <a:p>
            <a:pPr marL="0" indent="0" algn="ctr">
              <a:buNone/>
            </a:pPr>
            <a:r>
              <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Moderate</a:t>
            </a:r>
            <a:endPar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73" name="Text 71"/>
          <p:cNvSpPr/>
          <p:nvPr/>
        </p:nvSpPr>
        <p:spPr>
          <a:xfrm>
            <a:off x="6345936" y="4354830"/>
            <a:ext cx="2084832" cy="292608"/>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Uttar Pradesh, Madhya Pradesh, Bihar</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74" name="Shape 72"/>
          <p:cNvSpPr/>
          <p:nvPr/>
        </p:nvSpPr>
        <p:spPr>
          <a:xfrm>
            <a:off x="5669280" y="4711446"/>
            <a:ext cx="603504" cy="150876"/>
          </a:xfrm>
          <a:prstGeom prst="roundRect">
            <a:avLst>
              <a:gd name="adj" fmla="val 48485"/>
            </a:avLst>
          </a:prstGeom>
          <a:solidFill>
            <a:schemeClr val="accent6">
              <a:lumMod val="40000"/>
              <a:lumOff val="60000"/>
            </a:schemeClr>
          </a:solidFill>
        </p:spPr>
      </p:sp>
      <p:sp>
        <p:nvSpPr>
          <p:cNvPr id="75" name="Text 73"/>
          <p:cNvSpPr/>
          <p:nvPr/>
        </p:nvSpPr>
        <p:spPr>
          <a:xfrm>
            <a:off x="5669280" y="4711446"/>
            <a:ext cx="603504" cy="150876"/>
          </a:xfrm>
          <a:prstGeom prst="rect">
            <a:avLst/>
          </a:prstGeom>
          <a:noFill/>
        </p:spPr>
        <p:txBody>
          <a:bodyPr wrap="square" lIns="0" tIns="0" rIns="0" bIns="0" rtlCol="0" anchor="ctr"/>
          <a:lstStyle/>
          <a:p>
            <a:pPr marL="0" indent="0" algn="ctr">
              <a:buNone/>
            </a:pPr>
            <a:r>
              <a:rPr lang="en-US" sz="860" b="1" dirty="0">
                <a:solidFill>
                  <a:srgbClr val="16233F"/>
                </a:solidFill>
                <a:latin typeface="Calibri" panose="020F0502020204030204" pitchFamily="34" charset="0"/>
                <a:ea typeface="Calibri" panose="020F0502020204030204" pitchFamily="34" charset="-122"/>
                <a:cs typeface="Calibri" panose="020F0502020204030204" pitchFamily="34" charset="-120"/>
              </a:rPr>
              <a:t>Weak</a:t>
            </a:r>
            <a:endParaRPr lang="en-US" sz="86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76" name="Text 74"/>
          <p:cNvSpPr/>
          <p:nvPr/>
        </p:nvSpPr>
        <p:spPr>
          <a:xfrm>
            <a:off x="6345936" y="4693158"/>
            <a:ext cx="2084832" cy="187452"/>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Jharkhand</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77" name="Shape 75"/>
          <p:cNvSpPr/>
          <p:nvPr/>
        </p:nvSpPr>
        <p:spPr>
          <a:xfrm>
            <a:off x="8695944" y="4251960"/>
            <a:ext cx="2999232" cy="731520"/>
          </a:xfrm>
          <a:prstGeom prst="roundRect">
            <a:avLst>
              <a:gd name="adj" fmla="val 6250"/>
            </a:avLst>
          </a:prstGeom>
          <a:solidFill>
            <a:srgbClr val="F4F4F2"/>
          </a:solidFill>
          <a:ln w="12700">
            <a:solidFill>
              <a:srgbClr val="E1E1DD"/>
            </a:solidFill>
            <a:prstDash val="solid"/>
          </a:ln>
        </p:spPr>
      </p:sp>
      <p:sp>
        <p:nvSpPr>
          <p:cNvPr id="78" name="Shape 76"/>
          <p:cNvSpPr/>
          <p:nvPr/>
        </p:nvSpPr>
        <p:spPr>
          <a:xfrm>
            <a:off x="8805672" y="4425696"/>
            <a:ext cx="603504" cy="150876"/>
          </a:xfrm>
          <a:prstGeom prst="roundRect">
            <a:avLst>
              <a:gd name="adj" fmla="val 48485"/>
            </a:avLst>
          </a:prstGeom>
          <a:solidFill>
            <a:schemeClr val="accent6">
              <a:lumMod val="75000"/>
            </a:schemeClr>
          </a:solidFill>
        </p:spPr>
      </p:sp>
      <p:sp>
        <p:nvSpPr>
          <p:cNvPr id="79" name="Text 77"/>
          <p:cNvSpPr/>
          <p:nvPr/>
        </p:nvSpPr>
        <p:spPr>
          <a:xfrm>
            <a:off x="8805672" y="4425696"/>
            <a:ext cx="603504" cy="150876"/>
          </a:xfrm>
          <a:prstGeom prst="rect">
            <a:avLst/>
          </a:prstGeom>
          <a:noFill/>
        </p:spPr>
        <p:txBody>
          <a:bodyPr wrap="square" lIns="0" tIns="0" rIns="0" bIns="0" rtlCol="0" anchor="ctr"/>
          <a:lstStyle/>
          <a:p>
            <a:pPr marL="0" indent="0" algn="ctr">
              <a:buNone/>
            </a:pPr>
            <a:r>
              <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Moderate</a:t>
            </a:r>
            <a:endPar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80" name="Text 78"/>
          <p:cNvSpPr/>
          <p:nvPr/>
        </p:nvSpPr>
        <p:spPr>
          <a:xfrm>
            <a:off x="9482328" y="4407408"/>
            <a:ext cx="2084832" cy="187452"/>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Manipur</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81" name="Shape 79"/>
          <p:cNvSpPr/>
          <p:nvPr/>
        </p:nvSpPr>
        <p:spPr>
          <a:xfrm>
            <a:off x="8805672" y="4658868"/>
            <a:ext cx="603504" cy="150876"/>
          </a:xfrm>
          <a:prstGeom prst="roundRect">
            <a:avLst>
              <a:gd name="adj" fmla="val 48485"/>
            </a:avLst>
          </a:prstGeom>
          <a:solidFill>
            <a:schemeClr val="accent6">
              <a:lumMod val="50000"/>
            </a:schemeClr>
          </a:solidFill>
        </p:spPr>
      </p:sp>
      <p:sp>
        <p:nvSpPr>
          <p:cNvPr id="82" name="Text 80"/>
          <p:cNvSpPr/>
          <p:nvPr/>
        </p:nvSpPr>
        <p:spPr>
          <a:xfrm>
            <a:off x="8805672" y="4658868"/>
            <a:ext cx="603504" cy="150876"/>
          </a:xfrm>
          <a:prstGeom prst="rect">
            <a:avLst/>
          </a:prstGeom>
          <a:noFill/>
        </p:spPr>
        <p:txBody>
          <a:bodyPr wrap="square" lIns="0" tIns="0" rIns="0" bIns="0" rtlCol="0" anchor="ctr"/>
          <a:lstStyle/>
          <a:p>
            <a:pPr marL="0" indent="0" algn="ctr">
              <a:buNone/>
            </a:pPr>
            <a:r>
              <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rPr>
              <a:t>Strong</a:t>
            </a:r>
            <a:endParaRPr lang="en-US" sz="86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83" name="Text 81"/>
          <p:cNvSpPr/>
          <p:nvPr/>
        </p:nvSpPr>
        <p:spPr>
          <a:xfrm>
            <a:off x="9482328" y="4640580"/>
            <a:ext cx="2084832" cy="187452"/>
          </a:xfrm>
          <a:prstGeom prst="rect">
            <a:avLst/>
          </a:prstGeom>
          <a:noFill/>
        </p:spPr>
        <p:txBody>
          <a:bodyPr wrap="square" lIns="0" tIns="0" rIns="0" bIns="0" rtlCol="0" anchor="ctr"/>
          <a:lstStyle/>
          <a:p>
            <a:pPr marL="0" indent="0" algn="l">
              <a:lnSpc>
                <a:spcPct val="100000"/>
              </a:lnSpc>
              <a:buNone/>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Nagaland, Meghalaya</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84" name="Shape 82"/>
          <p:cNvSpPr/>
          <p:nvPr/>
        </p:nvSpPr>
        <p:spPr>
          <a:xfrm>
            <a:off x="548640" y="5056505"/>
            <a:ext cx="5431790" cy="1352550"/>
          </a:xfrm>
          <a:prstGeom prst="roundRect">
            <a:avLst>
              <a:gd name="adj" fmla="val 5714"/>
            </a:avLst>
          </a:prstGeom>
          <a:solidFill>
            <a:srgbClr val="F4F4F2"/>
          </a:solidFill>
          <a:ln w="12700">
            <a:solidFill>
              <a:srgbClr val="E1E1DD"/>
            </a:solidFill>
            <a:prstDash val="solid"/>
          </a:ln>
        </p:spPr>
      </p:sp>
      <p:sp>
        <p:nvSpPr>
          <p:cNvPr id="85" name="Text 83"/>
          <p:cNvSpPr/>
          <p:nvPr/>
        </p:nvSpPr>
        <p:spPr>
          <a:xfrm>
            <a:off x="749808" y="5129784"/>
            <a:ext cx="5029200" cy="164592"/>
          </a:xfrm>
          <a:prstGeom prst="rect">
            <a:avLst/>
          </a:prstGeom>
          <a:noFill/>
        </p:spPr>
        <p:txBody>
          <a:bodyPr wrap="square" lIns="0" tIns="0" rIns="0" bIns="0" rtlCol="0" anchor="ctr"/>
          <a:lstStyle/>
          <a:p>
            <a:pPr marL="0" indent="0">
              <a:buNone/>
            </a:pPr>
            <a:r>
              <a:rPr lang="en-US" sz="1020" b="1" kern="0" spc="100" dirty="0">
                <a:solidFill>
                  <a:srgbClr val="16233F"/>
                </a:solidFill>
                <a:latin typeface="Calibri" panose="020F0502020204030204" pitchFamily="34" charset="0"/>
                <a:ea typeface="Calibri" panose="020F0502020204030204" pitchFamily="34" charset="-122"/>
                <a:cs typeface="Calibri" panose="020F0502020204030204" pitchFamily="34" charset="-120"/>
              </a:rPr>
              <a:t>KEY FINDINGS</a:t>
            </a:r>
            <a:endParaRPr lang="en-US" sz="1020" dirty="0"/>
          </a:p>
        </p:txBody>
      </p:sp>
      <p:sp>
        <p:nvSpPr>
          <p:cNvPr id="86" name="Text 84"/>
          <p:cNvSpPr/>
          <p:nvPr/>
        </p:nvSpPr>
        <p:spPr>
          <a:xfrm>
            <a:off x="749808" y="5330952"/>
            <a:ext cx="182880" cy="146304"/>
          </a:xfrm>
          <a:prstGeom prst="rect">
            <a:avLst/>
          </a:prstGeom>
          <a:noFill/>
        </p:spPr>
        <p:txBody>
          <a:bodyPr wrap="square" lIns="0" tIns="0" rIns="0" bIns="0" rtlCol="0" anchor="ctr"/>
          <a:lstStyle/>
          <a:p>
            <a:pPr marL="0" indent="0">
              <a:buNone/>
            </a:pPr>
            <a:r>
              <a:rPr lang="en-US" sz="850" b="1" dirty="0">
                <a:solidFill>
                  <a:srgbClr val="16233F"/>
                </a:solidFill>
                <a:latin typeface="Calibri" panose="020F0502020204030204" pitchFamily="34" charset="0"/>
                <a:ea typeface="Calibri" panose="020F0502020204030204" pitchFamily="34" charset="-122"/>
                <a:cs typeface="Calibri" panose="020F0502020204030204" pitchFamily="34" charset="-120"/>
              </a:rPr>
              <a:t>✓</a:t>
            </a:r>
            <a:endParaRPr lang="en-US" sz="850" dirty="0"/>
          </a:p>
        </p:txBody>
      </p:sp>
      <p:sp>
        <p:nvSpPr>
          <p:cNvPr id="87" name="Text 85"/>
          <p:cNvSpPr/>
          <p:nvPr/>
        </p:nvSpPr>
        <p:spPr>
          <a:xfrm>
            <a:off x="932688" y="5330952"/>
            <a:ext cx="4846320" cy="146304"/>
          </a:xfrm>
          <a:prstGeom prst="rect">
            <a:avLst/>
          </a:prstGeom>
          <a:noFill/>
        </p:spPr>
        <p:txBody>
          <a:bodyPr wrap="square" lIns="0" tIns="0" rIns="0" bIns="0" rtlCol="0" anchor="ctr"/>
          <a:lstStyle/>
          <a:p>
            <a:pPr marL="0" indent="0">
              <a:lnSpc>
                <a:spcPct val="105000"/>
              </a:lnSpc>
              <a:buNone/>
            </a:pPr>
            <a:r>
              <a:rPr lang="en-US" sz="830" dirty="0">
                <a:solidFill>
                  <a:srgbClr val="2B2F36"/>
                </a:solidFill>
                <a:latin typeface="Calibri" panose="020F0502020204030204" pitchFamily="34" charset="0"/>
                <a:ea typeface="Calibri" panose="020F0502020204030204" pitchFamily="34" charset="-122"/>
                <a:cs typeface="Calibri" panose="020F0502020204030204" pitchFamily="34" charset="-120"/>
              </a:rPr>
              <a:t>All three pathways appear among Financial Inclusion Leaders.</a:t>
            </a:r>
            <a:endParaRPr lang="en-US" sz="830" dirty="0"/>
          </a:p>
        </p:txBody>
      </p:sp>
      <p:sp>
        <p:nvSpPr>
          <p:cNvPr id="88" name="Text 86"/>
          <p:cNvSpPr/>
          <p:nvPr/>
        </p:nvSpPr>
        <p:spPr>
          <a:xfrm>
            <a:off x="749808" y="5472684"/>
            <a:ext cx="182880" cy="146304"/>
          </a:xfrm>
          <a:prstGeom prst="rect">
            <a:avLst/>
          </a:prstGeom>
          <a:noFill/>
        </p:spPr>
        <p:txBody>
          <a:bodyPr wrap="square" lIns="0" tIns="0" rIns="0" bIns="0" rtlCol="0" anchor="ctr"/>
          <a:lstStyle/>
          <a:p>
            <a:pPr marL="0" indent="0">
              <a:buNone/>
            </a:pPr>
            <a:r>
              <a:rPr lang="en-US" sz="850" b="1" dirty="0">
                <a:solidFill>
                  <a:srgbClr val="16233F"/>
                </a:solidFill>
                <a:latin typeface="Calibri" panose="020F0502020204030204" pitchFamily="34" charset="0"/>
                <a:ea typeface="Calibri" panose="020F0502020204030204" pitchFamily="34" charset="-122"/>
                <a:cs typeface="Calibri" panose="020F0502020204030204" pitchFamily="34" charset="-120"/>
              </a:rPr>
              <a:t>✓</a:t>
            </a:r>
            <a:endParaRPr lang="en-US" sz="850" dirty="0"/>
          </a:p>
        </p:txBody>
      </p:sp>
      <p:sp>
        <p:nvSpPr>
          <p:cNvPr id="89" name="Text 87"/>
          <p:cNvSpPr/>
          <p:nvPr/>
        </p:nvSpPr>
        <p:spPr>
          <a:xfrm>
            <a:off x="932688" y="5472684"/>
            <a:ext cx="4846320" cy="146304"/>
          </a:xfrm>
          <a:prstGeom prst="rect">
            <a:avLst/>
          </a:prstGeom>
          <a:noFill/>
        </p:spPr>
        <p:txBody>
          <a:bodyPr wrap="square" lIns="0" tIns="0" rIns="0" bIns="0" rtlCol="0" anchor="ctr"/>
          <a:lstStyle/>
          <a:p>
            <a:pPr marL="0" indent="0">
              <a:lnSpc>
                <a:spcPct val="105000"/>
              </a:lnSpc>
              <a:buNone/>
            </a:pPr>
            <a:r>
              <a:rPr lang="en-US" sz="830" dirty="0">
                <a:solidFill>
                  <a:srgbClr val="2B2F36"/>
                </a:solidFill>
                <a:latin typeface="Calibri" panose="020F0502020204030204" pitchFamily="34" charset="0"/>
                <a:ea typeface="Calibri" panose="020F0502020204030204" pitchFamily="34" charset="-122"/>
                <a:cs typeface="Calibri" panose="020F0502020204030204" pitchFamily="34" charset="-120"/>
              </a:rPr>
              <a:t>Usage dominates the Emerging group (8 of 14 states).</a:t>
            </a:r>
            <a:endParaRPr lang="en-US" sz="830" dirty="0"/>
          </a:p>
        </p:txBody>
      </p:sp>
      <p:grpSp>
        <p:nvGrpSpPr>
          <p:cNvPr id="111" name="Group 110"/>
          <p:cNvGrpSpPr/>
          <p:nvPr/>
        </p:nvGrpSpPr>
        <p:grpSpPr>
          <a:xfrm>
            <a:off x="749935" y="5614670"/>
            <a:ext cx="5029200" cy="146050"/>
            <a:chOff x="1181" y="8842"/>
            <a:chExt cx="7920" cy="230"/>
          </a:xfrm>
        </p:grpSpPr>
        <p:sp>
          <p:nvSpPr>
            <p:cNvPr id="90" name="Text 88"/>
            <p:cNvSpPr/>
            <p:nvPr/>
          </p:nvSpPr>
          <p:spPr>
            <a:xfrm>
              <a:off x="1181" y="8842"/>
              <a:ext cx="288" cy="230"/>
            </a:xfrm>
            <a:prstGeom prst="rect">
              <a:avLst/>
            </a:prstGeom>
            <a:noFill/>
          </p:spPr>
          <p:txBody>
            <a:bodyPr wrap="square" lIns="0" tIns="0" rIns="0" bIns="0" rtlCol="0" anchor="ctr"/>
            <a:lstStyle/>
            <a:p>
              <a:pPr marL="0" indent="0">
                <a:buNone/>
              </a:pPr>
              <a:r>
                <a:rPr lang="en-US" sz="850" b="1" dirty="0">
                  <a:solidFill>
                    <a:srgbClr val="16233F"/>
                  </a:solidFill>
                  <a:latin typeface="Calibri" panose="020F0502020204030204" pitchFamily="34" charset="0"/>
                  <a:ea typeface="Calibri" panose="020F0502020204030204" pitchFamily="34" charset="-122"/>
                  <a:cs typeface="Calibri" panose="020F0502020204030204" pitchFamily="34" charset="-120"/>
                </a:rPr>
                <a:t>✓</a:t>
              </a:r>
              <a:endParaRPr lang="en-US" sz="850" dirty="0"/>
            </a:p>
          </p:txBody>
        </p:sp>
        <p:sp>
          <p:nvSpPr>
            <p:cNvPr id="91" name="Text 89"/>
            <p:cNvSpPr/>
            <p:nvPr/>
          </p:nvSpPr>
          <p:spPr>
            <a:xfrm>
              <a:off x="1469" y="8842"/>
              <a:ext cx="7632" cy="230"/>
            </a:xfrm>
            <a:prstGeom prst="rect">
              <a:avLst/>
            </a:prstGeom>
            <a:noFill/>
          </p:spPr>
          <p:txBody>
            <a:bodyPr wrap="square" lIns="0" tIns="0" rIns="0" bIns="0" rtlCol="0" anchor="ctr"/>
            <a:lstStyle/>
            <a:p>
              <a:pPr marL="0" indent="0">
                <a:lnSpc>
                  <a:spcPct val="105000"/>
                </a:lnSpc>
                <a:buNone/>
              </a:pPr>
              <a:r>
                <a:rPr lang="en-US" sz="830" dirty="0">
                  <a:solidFill>
                    <a:srgbClr val="2B2F36"/>
                  </a:solidFill>
                  <a:latin typeface="Calibri" panose="020F0502020204030204" pitchFamily="34" charset="0"/>
                  <a:ea typeface="Calibri" panose="020F0502020204030204" pitchFamily="34" charset="-122"/>
                  <a:cs typeface="Calibri" panose="020F0502020204030204" pitchFamily="34" charset="-120"/>
                </a:rPr>
                <a:t>No Financial Inclusion Priority State is Usage-driven.</a:t>
              </a:r>
              <a:endParaRPr lang="en-US" sz="830" dirty="0"/>
            </a:p>
          </p:txBody>
        </p:sp>
      </p:grpSp>
      <p:grpSp>
        <p:nvGrpSpPr>
          <p:cNvPr id="119" name="Group 118"/>
          <p:cNvGrpSpPr/>
          <p:nvPr/>
        </p:nvGrpSpPr>
        <p:grpSpPr>
          <a:xfrm>
            <a:off x="4225290" y="5330825"/>
            <a:ext cx="1638300" cy="911225"/>
            <a:chOff x="6623" y="8078"/>
            <a:chExt cx="2477" cy="1273"/>
          </a:xfrm>
        </p:grpSpPr>
        <p:grpSp>
          <p:nvGrpSpPr>
            <p:cNvPr id="110" name="Group 109"/>
            <p:cNvGrpSpPr/>
            <p:nvPr/>
          </p:nvGrpSpPr>
          <p:grpSpPr>
            <a:xfrm>
              <a:off x="6624" y="8078"/>
              <a:ext cx="2476" cy="346"/>
              <a:chOff x="1181" y="9072"/>
              <a:chExt cx="2476" cy="346"/>
            </a:xfrm>
          </p:grpSpPr>
          <p:sp>
            <p:nvSpPr>
              <p:cNvPr id="92" name="Shape 90"/>
              <p:cNvSpPr/>
              <p:nvPr/>
            </p:nvSpPr>
            <p:spPr>
              <a:xfrm>
                <a:off x="1181" y="9072"/>
                <a:ext cx="2477" cy="346"/>
              </a:xfrm>
              <a:prstGeom prst="roundRect">
                <a:avLst>
                  <a:gd name="adj" fmla="val 50000"/>
                </a:avLst>
              </a:prstGeom>
              <a:solidFill>
                <a:srgbClr val="C9D3EA"/>
              </a:solidFill>
            </p:spPr>
          </p:sp>
          <p:sp>
            <p:nvSpPr>
              <p:cNvPr id="93" name="Text 91"/>
              <p:cNvSpPr/>
              <p:nvPr/>
            </p:nvSpPr>
            <p:spPr>
              <a:xfrm>
                <a:off x="1181" y="9072"/>
                <a:ext cx="2477" cy="346"/>
              </a:xfrm>
              <a:prstGeom prst="rect">
                <a:avLst/>
              </a:prstGeom>
              <a:noFill/>
            </p:spPr>
            <p:txBody>
              <a:bodyPr wrap="square" lIns="0" tIns="0" rIns="0" bIns="0" rtlCol="0" anchor="ctr"/>
              <a:lstStyle/>
              <a:p>
                <a:pPr marL="0" indent="0" algn="ctr">
                  <a:buNone/>
                </a:pPr>
                <a:r>
                  <a:rPr lang="en-US" sz="900" b="1" dirty="0">
                    <a:solidFill>
                      <a:srgbClr val="16233F"/>
                    </a:solidFill>
                    <a:latin typeface="Calibri" panose="020F0502020204030204" pitchFamily="34" charset="0"/>
                    <a:ea typeface="Calibri" panose="020F0502020204030204" pitchFamily="34" charset="-122"/>
                    <a:cs typeface="Calibri" panose="020F0502020204030204" pitchFamily="34" charset="-120"/>
                  </a:rPr>
                  <a:t>6.24  </a:t>
                </a:r>
                <a:r>
                  <a:rPr lang="en-US" sz="760" dirty="0">
                    <a:solidFill>
                      <a:srgbClr val="16233F"/>
                    </a:solidFill>
                    <a:latin typeface="Calibri" panose="020F0502020204030204" pitchFamily="34" charset="0"/>
                    <a:ea typeface="Calibri" panose="020F0502020204030204" pitchFamily="34" charset="-122"/>
                    <a:cs typeface="Calibri" panose="020F0502020204030204" pitchFamily="34" charset="-120"/>
                  </a:rPr>
                  <a:t>Usage</a:t>
                </a:r>
                <a:endParaRPr lang="en-US" sz="900" dirty="0"/>
              </a:p>
            </p:txBody>
          </p:sp>
        </p:grpSp>
        <p:grpSp>
          <p:nvGrpSpPr>
            <p:cNvPr id="115" name="Group 114"/>
            <p:cNvGrpSpPr/>
            <p:nvPr/>
          </p:nvGrpSpPr>
          <p:grpSpPr>
            <a:xfrm>
              <a:off x="6623" y="8546"/>
              <a:ext cx="2476" cy="346"/>
              <a:chOff x="6624" y="8503"/>
              <a:chExt cx="2476" cy="346"/>
            </a:xfrm>
          </p:grpSpPr>
          <p:sp>
            <p:nvSpPr>
              <p:cNvPr id="94" name="Shape 92"/>
              <p:cNvSpPr/>
              <p:nvPr/>
            </p:nvSpPr>
            <p:spPr>
              <a:xfrm>
                <a:off x="6624" y="8503"/>
                <a:ext cx="2477" cy="346"/>
              </a:xfrm>
              <a:prstGeom prst="roundRect">
                <a:avLst>
                  <a:gd name="adj" fmla="val 50000"/>
                </a:avLst>
              </a:prstGeom>
              <a:solidFill>
                <a:srgbClr val="7C93BC"/>
              </a:solidFill>
            </p:spPr>
          </p:sp>
          <p:sp>
            <p:nvSpPr>
              <p:cNvPr id="95" name="Text 93"/>
              <p:cNvSpPr/>
              <p:nvPr/>
            </p:nvSpPr>
            <p:spPr>
              <a:xfrm>
                <a:off x="6624" y="8503"/>
                <a:ext cx="2477" cy="346"/>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4.90  </a:t>
                </a:r>
                <a:r>
                  <a:rPr lang="en-US" sz="760" dirty="0">
                    <a:solidFill>
                      <a:srgbClr val="FFFFFF"/>
                    </a:solidFill>
                    <a:latin typeface="Calibri" panose="020F0502020204030204" pitchFamily="34" charset="0"/>
                    <a:ea typeface="Calibri" panose="020F0502020204030204" pitchFamily="34" charset="-122"/>
                    <a:cs typeface="Calibri" panose="020F0502020204030204" pitchFamily="34" charset="-120"/>
                  </a:rPr>
                  <a:t>Penetration</a:t>
                </a:r>
                <a:endParaRPr lang="en-US" sz="900" dirty="0"/>
              </a:p>
            </p:txBody>
          </p:sp>
        </p:grpSp>
        <p:sp>
          <p:nvSpPr>
            <p:cNvPr id="96" name="Shape 94"/>
            <p:cNvSpPr/>
            <p:nvPr/>
          </p:nvSpPr>
          <p:spPr>
            <a:xfrm>
              <a:off x="6624" y="9005"/>
              <a:ext cx="2477" cy="346"/>
            </a:xfrm>
            <a:prstGeom prst="roundRect">
              <a:avLst>
                <a:gd name="adj" fmla="val 50000"/>
              </a:avLst>
            </a:prstGeom>
            <a:solidFill>
              <a:srgbClr val="16233F"/>
            </a:solidFill>
          </p:spPr>
        </p:sp>
        <p:sp>
          <p:nvSpPr>
            <p:cNvPr id="97" name="Text 95"/>
            <p:cNvSpPr/>
            <p:nvPr/>
          </p:nvSpPr>
          <p:spPr>
            <a:xfrm>
              <a:off x="6624" y="9005"/>
              <a:ext cx="2477" cy="346"/>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3.74  </a:t>
              </a:r>
              <a:r>
                <a:rPr lang="en-US" sz="760" dirty="0">
                  <a:solidFill>
                    <a:srgbClr val="FFFFFF"/>
                  </a:solidFill>
                  <a:latin typeface="Calibri" panose="020F0502020204030204" pitchFamily="34" charset="0"/>
                  <a:ea typeface="Calibri" panose="020F0502020204030204" pitchFamily="34" charset="-122"/>
                  <a:cs typeface="Calibri" panose="020F0502020204030204" pitchFamily="34" charset="-120"/>
                </a:rPr>
                <a:t>Availability</a:t>
              </a:r>
              <a:endParaRPr lang="en-US" sz="900" dirty="0"/>
            </a:p>
          </p:txBody>
        </p:sp>
      </p:grpSp>
      <p:sp>
        <p:nvSpPr>
          <p:cNvPr id="98" name="Shape 96"/>
          <p:cNvSpPr/>
          <p:nvPr/>
        </p:nvSpPr>
        <p:spPr>
          <a:xfrm>
            <a:off x="6208776" y="5056632"/>
            <a:ext cx="5431536" cy="960120"/>
          </a:xfrm>
          <a:prstGeom prst="roundRect">
            <a:avLst>
              <a:gd name="adj" fmla="val 5714"/>
            </a:avLst>
          </a:prstGeom>
          <a:solidFill>
            <a:srgbClr val="F4F4F2"/>
          </a:solidFill>
          <a:ln w="12700">
            <a:solidFill>
              <a:srgbClr val="E1E1DD"/>
            </a:solidFill>
            <a:prstDash val="solid"/>
          </a:ln>
        </p:spPr>
      </p:sp>
      <p:sp>
        <p:nvSpPr>
          <p:cNvPr id="99" name="Text 97"/>
          <p:cNvSpPr/>
          <p:nvPr/>
        </p:nvSpPr>
        <p:spPr>
          <a:xfrm>
            <a:off x="6409944" y="5129784"/>
            <a:ext cx="5029200" cy="164592"/>
          </a:xfrm>
          <a:prstGeom prst="rect">
            <a:avLst/>
          </a:prstGeom>
          <a:noFill/>
        </p:spPr>
        <p:txBody>
          <a:bodyPr wrap="square" lIns="0" tIns="0" rIns="0" bIns="0" rtlCol="0" anchor="ctr"/>
          <a:lstStyle/>
          <a:p>
            <a:pPr marL="0" indent="0">
              <a:buNone/>
            </a:pPr>
            <a:r>
              <a:rPr lang="en-US" sz="1020" b="1" kern="0" spc="100" dirty="0">
                <a:solidFill>
                  <a:srgbClr val="16233F"/>
                </a:solidFill>
                <a:latin typeface="Calibri" panose="020F0502020204030204" pitchFamily="34" charset="0"/>
                <a:ea typeface="Calibri" panose="020F0502020204030204" pitchFamily="34" charset="-122"/>
                <a:cs typeface="Calibri" panose="020F0502020204030204" pitchFamily="34" charset="-120"/>
              </a:rPr>
              <a:t>POLICY DIRECTION</a:t>
            </a:r>
            <a:endParaRPr lang="en-US" sz="1020" dirty="0"/>
          </a:p>
        </p:txBody>
      </p:sp>
      <p:sp>
        <p:nvSpPr>
          <p:cNvPr id="100" name="Text 98"/>
          <p:cNvSpPr/>
          <p:nvPr/>
        </p:nvSpPr>
        <p:spPr>
          <a:xfrm>
            <a:off x="6409944" y="5330952"/>
            <a:ext cx="1005840" cy="201168"/>
          </a:xfrm>
          <a:prstGeom prst="rect">
            <a:avLst/>
          </a:prstGeom>
          <a:noFill/>
        </p:spPr>
        <p:txBody>
          <a:bodyPr wrap="square" lIns="0" tIns="0" rIns="0" bIns="0" rtlCol="0" anchor="ctr"/>
          <a:lstStyle/>
          <a:p>
            <a:pPr marL="0" indent="0">
              <a:buNone/>
            </a:pPr>
            <a:r>
              <a:rPr lang="en-US" sz="860" b="1" dirty="0">
                <a:solidFill>
                  <a:srgbClr val="16233F"/>
                </a:solidFill>
                <a:latin typeface="Calibri" panose="020F0502020204030204" pitchFamily="34" charset="0"/>
                <a:ea typeface="Calibri" panose="020F0502020204030204" pitchFamily="34" charset="-122"/>
                <a:cs typeface="Calibri" panose="020F0502020204030204" pitchFamily="34" charset="-120"/>
              </a:rPr>
              <a:t>Leaders:  </a:t>
            </a:r>
            <a:endParaRPr lang="en-US" sz="860" dirty="0"/>
          </a:p>
        </p:txBody>
      </p:sp>
      <p:sp>
        <p:nvSpPr>
          <p:cNvPr id="101" name="Text 99"/>
          <p:cNvSpPr/>
          <p:nvPr/>
        </p:nvSpPr>
        <p:spPr>
          <a:xfrm>
            <a:off x="7397496" y="5330952"/>
            <a:ext cx="4041648" cy="201168"/>
          </a:xfrm>
          <a:prstGeom prst="rect">
            <a:avLst/>
          </a:prstGeom>
          <a:noFill/>
        </p:spPr>
        <p:txBody>
          <a:bodyPr wrap="square" lIns="0" tIns="0" rIns="0" bIns="0" rtlCol="0" anchor="t"/>
          <a:lstStyle/>
          <a:p>
            <a:pPr marL="0" indent="0">
              <a:lnSpc>
                <a:spcPct val="105000"/>
              </a:lnSpc>
              <a:buNone/>
            </a:pPr>
            <a:r>
              <a:rPr lang="en-US" sz="830" dirty="0">
                <a:solidFill>
                  <a:srgbClr val="2B2F36"/>
                </a:solidFill>
                <a:latin typeface="Calibri" panose="020F0502020204030204" pitchFamily="34" charset="0"/>
                <a:ea typeface="Calibri" panose="020F0502020204030204" pitchFamily="34" charset="-122"/>
                <a:cs typeface="Calibri" panose="020F0502020204030204" pitchFamily="34" charset="-120"/>
              </a:rPr>
              <a:t>Deepen quality, innovation and active usage.</a:t>
            </a:r>
            <a:endParaRPr lang="en-US" sz="830" dirty="0"/>
          </a:p>
        </p:txBody>
      </p:sp>
      <p:sp>
        <p:nvSpPr>
          <p:cNvPr id="102" name="Text 100"/>
          <p:cNvSpPr/>
          <p:nvPr/>
        </p:nvSpPr>
        <p:spPr>
          <a:xfrm>
            <a:off x="6409944" y="5554980"/>
            <a:ext cx="1005840" cy="201168"/>
          </a:xfrm>
          <a:prstGeom prst="rect">
            <a:avLst/>
          </a:prstGeom>
          <a:noFill/>
        </p:spPr>
        <p:txBody>
          <a:bodyPr wrap="square" lIns="0" tIns="0" rIns="0" bIns="0" rtlCol="0" anchor="ctr"/>
          <a:lstStyle/>
          <a:p>
            <a:pPr marL="0" indent="0">
              <a:buNone/>
            </a:pPr>
            <a:r>
              <a:rPr lang="en-US" sz="860" b="1" dirty="0">
                <a:solidFill>
                  <a:srgbClr val="16233F"/>
                </a:solidFill>
                <a:latin typeface="Calibri" panose="020F0502020204030204" pitchFamily="34" charset="0"/>
                <a:ea typeface="Calibri" panose="020F0502020204030204" pitchFamily="34" charset="-122"/>
                <a:cs typeface="Calibri" panose="020F0502020204030204" pitchFamily="34" charset="-120"/>
              </a:rPr>
              <a:t>Emerging:  </a:t>
            </a:r>
            <a:endParaRPr lang="en-US" sz="860" dirty="0"/>
          </a:p>
        </p:txBody>
      </p:sp>
      <p:sp>
        <p:nvSpPr>
          <p:cNvPr id="103" name="Text 101"/>
          <p:cNvSpPr/>
          <p:nvPr/>
        </p:nvSpPr>
        <p:spPr>
          <a:xfrm>
            <a:off x="7397496" y="5554980"/>
            <a:ext cx="4041648" cy="201168"/>
          </a:xfrm>
          <a:prstGeom prst="rect">
            <a:avLst/>
          </a:prstGeom>
          <a:noFill/>
        </p:spPr>
        <p:txBody>
          <a:bodyPr wrap="square" lIns="0" tIns="0" rIns="0" bIns="0" rtlCol="0" anchor="t"/>
          <a:lstStyle/>
          <a:p>
            <a:pPr marL="0" indent="0">
              <a:lnSpc>
                <a:spcPct val="105000"/>
              </a:lnSpc>
              <a:buNone/>
            </a:pPr>
            <a:r>
              <a:rPr lang="en-US" sz="830" dirty="0">
                <a:solidFill>
                  <a:srgbClr val="2B2F36"/>
                </a:solidFill>
                <a:latin typeface="Calibri" panose="020F0502020204030204" pitchFamily="34" charset="0"/>
                <a:ea typeface="Calibri" panose="020F0502020204030204" pitchFamily="34" charset="-122"/>
                <a:cs typeface="Calibri" panose="020F0502020204030204" pitchFamily="34" charset="-120"/>
              </a:rPr>
              <a:t>Strengthen complementary dimensions while sustaining current momentum.</a:t>
            </a:r>
            <a:endParaRPr lang="en-US" sz="830" dirty="0"/>
          </a:p>
        </p:txBody>
      </p:sp>
      <p:sp>
        <p:nvSpPr>
          <p:cNvPr id="104" name="Text 102"/>
          <p:cNvSpPr/>
          <p:nvPr/>
        </p:nvSpPr>
        <p:spPr>
          <a:xfrm>
            <a:off x="6409944" y="5779008"/>
            <a:ext cx="1005840" cy="201168"/>
          </a:xfrm>
          <a:prstGeom prst="rect">
            <a:avLst/>
          </a:prstGeom>
          <a:noFill/>
        </p:spPr>
        <p:txBody>
          <a:bodyPr wrap="square" lIns="0" tIns="0" rIns="0" bIns="0" rtlCol="0" anchor="ctr"/>
          <a:lstStyle/>
          <a:p>
            <a:pPr marL="0" indent="0">
              <a:buNone/>
            </a:pPr>
            <a:r>
              <a:rPr lang="en-US" sz="860" b="1" dirty="0">
                <a:solidFill>
                  <a:srgbClr val="16233F"/>
                </a:solidFill>
                <a:latin typeface="Calibri" panose="020F0502020204030204" pitchFamily="34" charset="0"/>
                <a:ea typeface="Calibri" panose="020F0502020204030204" pitchFamily="34" charset="-122"/>
                <a:cs typeface="Calibri" panose="020F0502020204030204" pitchFamily="34" charset="-120"/>
              </a:rPr>
              <a:t>Priority:  </a:t>
            </a:r>
            <a:endParaRPr lang="en-US" sz="860" dirty="0"/>
          </a:p>
        </p:txBody>
      </p:sp>
      <p:sp>
        <p:nvSpPr>
          <p:cNvPr id="105" name="Text 103"/>
          <p:cNvSpPr/>
          <p:nvPr/>
        </p:nvSpPr>
        <p:spPr>
          <a:xfrm>
            <a:off x="7397496" y="5779008"/>
            <a:ext cx="4041648" cy="201168"/>
          </a:xfrm>
          <a:prstGeom prst="rect">
            <a:avLst/>
          </a:prstGeom>
          <a:noFill/>
        </p:spPr>
        <p:txBody>
          <a:bodyPr wrap="square" lIns="0" tIns="0" rIns="0" bIns="0" rtlCol="0" anchor="t"/>
          <a:lstStyle/>
          <a:p>
            <a:pPr marL="0" indent="0">
              <a:lnSpc>
                <a:spcPct val="105000"/>
              </a:lnSpc>
              <a:buNone/>
            </a:pPr>
            <a:r>
              <a:rPr lang="en-US" sz="830" dirty="0">
                <a:solidFill>
                  <a:srgbClr val="2B2F36"/>
                </a:solidFill>
                <a:latin typeface="Calibri" panose="020F0502020204030204" pitchFamily="34" charset="0"/>
                <a:ea typeface="Calibri" panose="020F0502020204030204" pitchFamily="34" charset="-122"/>
                <a:cs typeface="Calibri" panose="020F0502020204030204" pitchFamily="34" charset="-120"/>
              </a:rPr>
              <a:t>Address foundational outreach and infrastructure gaps before scaling usage.</a:t>
            </a:r>
            <a:endParaRPr lang="en-US" sz="830" dirty="0"/>
          </a:p>
        </p:txBody>
      </p:sp>
      <p:grpSp>
        <p:nvGrpSpPr>
          <p:cNvPr id="112" name="Group 111"/>
          <p:cNvGrpSpPr/>
          <p:nvPr/>
        </p:nvGrpSpPr>
        <p:grpSpPr>
          <a:xfrm>
            <a:off x="6209030" y="6089650"/>
            <a:ext cx="5434330" cy="659130"/>
            <a:chOff x="864" y="9590"/>
            <a:chExt cx="17472" cy="1038"/>
          </a:xfrm>
        </p:grpSpPr>
        <p:sp>
          <p:nvSpPr>
            <p:cNvPr id="106" name="Shape 104"/>
            <p:cNvSpPr/>
            <p:nvPr/>
          </p:nvSpPr>
          <p:spPr>
            <a:xfrm>
              <a:off x="864" y="9590"/>
              <a:ext cx="17472" cy="1038"/>
            </a:xfrm>
            <a:prstGeom prst="roundRect">
              <a:avLst>
                <a:gd name="adj" fmla="val 18000"/>
              </a:avLst>
            </a:prstGeom>
            <a:solidFill>
              <a:srgbClr val="16233F"/>
            </a:solidFill>
          </p:spPr>
        </p:sp>
        <p:sp>
          <p:nvSpPr>
            <p:cNvPr id="107" name="Text 105"/>
            <p:cNvSpPr/>
            <p:nvPr/>
          </p:nvSpPr>
          <p:spPr>
            <a:xfrm>
              <a:off x="1210" y="9677"/>
              <a:ext cx="16780" cy="230"/>
            </a:xfrm>
            <a:prstGeom prst="rect">
              <a:avLst/>
            </a:prstGeom>
            <a:noFill/>
          </p:spPr>
          <p:txBody>
            <a:bodyPr wrap="square" lIns="0" tIns="0" rIns="0" bIns="0" rtlCol="0" anchor="ctr"/>
            <a:lstStyle/>
            <a:p>
              <a:pPr marL="0" indent="0">
                <a:buNone/>
              </a:pPr>
              <a:r>
                <a:rPr lang="en-US" sz="9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WHAT THE FIDT REVEALS</a:t>
              </a:r>
              <a:endParaRPr lang="en-US" sz="900" dirty="0"/>
            </a:p>
          </p:txBody>
        </p:sp>
        <p:sp>
          <p:nvSpPr>
            <p:cNvPr id="108" name="Text 106"/>
            <p:cNvSpPr/>
            <p:nvPr/>
          </p:nvSpPr>
          <p:spPr>
            <a:xfrm>
              <a:off x="1252" y="9981"/>
              <a:ext cx="16780" cy="346"/>
            </a:xfrm>
            <a:prstGeom prst="rect">
              <a:avLst/>
            </a:prstGeom>
            <a:noFill/>
          </p:spPr>
          <p:txBody>
            <a:bodyPr wrap="square" lIns="0" tIns="0" rIns="0" bIns="0" rtlCol="0" anchor="ctr"/>
            <a:lstStyle/>
            <a:p>
              <a:pPr marL="0" indent="0">
                <a:lnSpc>
                  <a:spcPct val="112000"/>
                </a:lnSpc>
                <a:buNone/>
              </a:pPr>
              <a:r>
                <a:rPr lang="en-US" sz="1000" dirty="0">
                  <a:solidFill>
                    <a:srgbClr val="E4E8F0"/>
                  </a:solidFill>
                  <a:latin typeface="Calibri" panose="020F0502020204030204" pitchFamily="34" charset="0"/>
                  <a:ea typeface="Calibri" panose="020F0502020204030204" pitchFamily="34" charset="-122"/>
                  <a:cs typeface="Calibri" panose="020F0502020204030204" pitchFamily="34" charset="-120"/>
                </a:rPr>
                <a:t>The </a:t>
              </a:r>
              <a:r>
                <a:rPr lang="en-US" altLang="en-US" sz="1000" dirty="0">
                  <a:solidFill>
                    <a:srgbClr val="E4E8F0"/>
                  </a:solidFill>
                  <a:latin typeface="Calibri" panose="020F0502020204030204" pitchFamily="34" charset="0"/>
                  <a:ea typeface="Calibri" panose="020F0502020204030204" pitchFamily="34" charset="-122"/>
                  <a:cs typeface="Calibri" panose="020F0502020204030204" pitchFamily="34" charset="-120"/>
                </a:rPr>
                <a:t>FIDT extends conventional financial inclusion classification by combining financial inclusion level, dominant growth pathway and pathway strength into a unified framework for targeted policy design</a:t>
              </a:r>
              <a:r>
                <a:rPr lang="en-US" sz="1000" dirty="0">
                  <a:solidFill>
                    <a:srgbClr val="E4E8F0"/>
                  </a:solidFill>
                  <a:latin typeface="Calibri" panose="020F0502020204030204" pitchFamily="34" charset="0"/>
                  <a:ea typeface="Calibri" panose="020F0502020204030204" pitchFamily="34" charset="-122"/>
                  <a:cs typeface="Calibri" panose="020F0502020204030204" pitchFamily="34" charset="-120"/>
                </a:rPr>
                <a:t>.</a:t>
              </a:r>
              <a:endParaRPr lang="en-US" sz="1000" dirty="0"/>
            </a:p>
          </p:txBody>
        </p:sp>
      </p:grpSp>
      <p:sp>
        <p:nvSpPr>
          <p:cNvPr id="109" name="Text 107"/>
          <p:cNvSpPr/>
          <p:nvPr/>
        </p:nvSpPr>
        <p:spPr>
          <a:xfrm>
            <a:off x="548640" y="6620256"/>
            <a:ext cx="6675120" cy="164592"/>
          </a:xfrm>
          <a:prstGeom prst="rect">
            <a:avLst/>
          </a:prstGeom>
          <a:noFill/>
        </p:spPr>
        <p:txBody>
          <a:bodyPr wrap="square" lIns="0" tIns="0" rIns="0" bIns="0" rtlCol="0" anchor="ctr"/>
          <a:lstStyle/>
          <a:p>
            <a:pPr marL="0" indent="0">
              <a:buNone/>
            </a:pPr>
            <a:r>
              <a:rPr lang="en-US" sz="80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800" dirty="0"/>
          </a:p>
        </p:txBody>
      </p:sp>
      <p:sp>
        <p:nvSpPr>
          <p:cNvPr id="113" name="Text 88"/>
          <p:cNvSpPr/>
          <p:nvPr/>
        </p:nvSpPr>
        <p:spPr>
          <a:xfrm>
            <a:off x="749300" y="5760720"/>
            <a:ext cx="182880" cy="146050"/>
          </a:xfrm>
          <a:prstGeom prst="rect">
            <a:avLst/>
          </a:prstGeom>
          <a:noFill/>
        </p:spPr>
        <p:txBody>
          <a:bodyPr wrap="square" lIns="0" tIns="0" rIns="0" bIns="0" rtlCol="0" anchor="ctr"/>
          <a:lstStyle/>
          <a:p>
            <a:pPr marL="0" indent="0">
              <a:buNone/>
            </a:pPr>
            <a:r>
              <a:rPr lang="en-US" sz="850" b="1" dirty="0">
                <a:solidFill>
                  <a:srgbClr val="16233F"/>
                </a:solidFill>
                <a:latin typeface="Calibri" panose="020F0502020204030204" pitchFamily="34" charset="0"/>
                <a:ea typeface="Calibri" panose="020F0502020204030204" pitchFamily="34" charset="-122"/>
                <a:cs typeface="Calibri" panose="020F0502020204030204" pitchFamily="34" charset="-120"/>
              </a:rPr>
              <a:t>✓</a:t>
            </a:r>
            <a:endParaRPr lang="en-US" sz="850" dirty="0"/>
          </a:p>
        </p:txBody>
      </p:sp>
      <p:sp>
        <p:nvSpPr>
          <p:cNvPr id="114" name="Text 89"/>
          <p:cNvSpPr/>
          <p:nvPr/>
        </p:nvSpPr>
        <p:spPr>
          <a:xfrm>
            <a:off x="932815" y="5791835"/>
            <a:ext cx="4846320" cy="182880"/>
          </a:xfrm>
          <a:prstGeom prst="rect">
            <a:avLst/>
          </a:prstGeom>
          <a:noFill/>
        </p:spPr>
        <p:txBody>
          <a:bodyPr wrap="square" lIns="0" tIns="0" rIns="0" bIns="0" rtlCol="0" anchor="ctr"/>
          <a:lstStyle/>
          <a:p>
            <a:pPr marL="0" indent="0">
              <a:lnSpc>
                <a:spcPct val="100000"/>
              </a:lnSpc>
              <a:buNone/>
            </a:pPr>
            <a:r>
              <a:rPr lang="en-US" altLang="en-US" sz="830" dirty="0"/>
              <a:t>Driver Strength distinguishes states with clearly dominant pathways from </a:t>
            </a:r>
            <a:endParaRPr lang="en-US" altLang="en-US" sz="830" dirty="0"/>
          </a:p>
          <a:p>
            <a:pPr marL="0" indent="0">
              <a:lnSpc>
                <a:spcPct val="100000"/>
              </a:lnSpc>
              <a:buNone/>
            </a:pPr>
            <a:r>
              <a:rPr lang="en-US" altLang="en-US" sz="830" dirty="0"/>
              <a:t>those exhibiting more balanced multidimensional growth.</a:t>
            </a:r>
            <a:endParaRPr lang="en-US" altLang="en-US" sz="830" dirty="0"/>
          </a:p>
        </p:txBody>
      </p:sp>
      <p:sp>
        <p:nvSpPr>
          <p:cNvPr id="116" name="Text 88"/>
          <p:cNvSpPr/>
          <p:nvPr/>
        </p:nvSpPr>
        <p:spPr>
          <a:xfrm>
            <a:off x="749300" y="6016625"/>
            <a:ext cx="182880" cy="146050"/>
          </a:xfrm>
          <a:prstGeom prst="rect">
            <a:avLst/>
          </a:prstGeom>
          <a:noFill/>
        </p:spPr>
        <p:txBody>
          <a:bodyPr wrap="square" lIns="0" tIns="0" rIns="0" bIns="0" rtlCol="0" anchor="ctr"/>
          <a:lstStyle/>
          <a:p>
            <a:pPr marL="0" indent="0">
              <a:buNone/>
            </a:pPr>
            <a:r>
              <a:rPr lang="en-US" sz="850" b="1" dirty="0">
                <a:solidFill>
                  <a:srgbClr val="16233F"/>
                </a:solidFill>
                <a:latin typeface="Calibri" panose="020F0502020204030204" pitchFamily="34" charset="0"/>
                <a:ea typeface="Calibri" panose="020F0502020204030204" pitchFamily="34" charset="-122"/>
                <a:cs typeface="Calibri" panose="020F0502020204030204" pitchFamily="34" charset="-120"/>
              </a:rPr>
              <a:t>✓</a:t>
            </a:r>
            <a:endParaRPr lang="en-US" sz="850" dirty="0"/>
          </a:p>
        </p:txBody>
      </p:sp>
      <p:sp>
        <p:nvSpPr>
          <p:cNvPr id="117" name="Text 89"/>
          <p:cNvSpPr/>
          <p:nvPr/>
        </p:nvSpPr>
        <p:spPr>
          <a:xfrm>
            <a:off x="932815" y="6030595"/>
            <a:ext cx="3272790" cy="241935"/>
          </a:xfrm>
          <a:prstGeom prst="rect">
            <a:avLst/>
          </a:prstGeom>
          <a:noFill/>
        </p:spPr>
        <p:txBody>
          <a:bodyPr wrap="square" lIns="0" tIns="0" rIns="0" bIns="0" rtlCol="0" anchor="ctr"/>
          <a:lstStyle/>
          <a:p>
            <a:pPr marL="0" indent="0">
              <a:lnSpc>
                <a:spcPct val="105000"/>
              </a:lnSpc>
              <a:buNone/>
            </a:pPr>
            <a:r>
              <a:rPr lang="en-US" sz="830" dirty="0">
                <a:solidFill>
                  <a:srgbClr val="2B2F36"/>
                </a:solidFill>
                <a:latin typeface="Calibri" panose="020F0502020204030204" pitchFamily="34" charset="0"/>
                <a:ea typeface="Calibri" panose="020F0502020204030204" pitchFamily="34" charset="-122"/>
                <a:cs typeface="Calibri" panose="020F0502020204030204" pitchFamily="34" charset="-120"/>
              </a:rPr>
              <a:t>No </a:t>
            </a:r>
            <a:r>
              <a:rPr lang="en-US" altLang="en-US" sz="830" dirty="0">
                <a:solidFill>
                  <a:srgbClr val="2B2F36"/>
                </a:solidFill>
                <a:latin typeface="Calibri" panose="020F0502020204030204" pitchFamily="34" charset="0"/>
                <a:ea typeface="Calibri" panose="020F0502020204030204" pitchFamily="34" charset="-122"/>
                <a:cs typeface="Calibri" panose="020F0502020204030204" pitchFamily="34" charset="-120"/>
              </a:rPr>
              <a:t>Usage-driven states recorded the highest average Financial Inclusion </a:t>
            </a:r>
            <a:endParaRPr lang="en-US" altLang="en-US" sz="8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05000"/>
              </a:lnSpc>
              <a:buNone/>
            </a:pPr>
            <a:r>
              <a:rPr lang="en-US" altLang="en-US" sz="830" dirty="0">
                <a:solidFill>
                  <a:srgbClr val="2B2F36"/>
                </a:solidFill>
                <a:latin typeface="Calibri" panose="020F0502020204030204" pitchFamily="34" charset="0"/>
                <a:ea typeface="Calibri" panose="020F0502020204030204" pitchFamily="34" charset="-122"/>
                <a:cs typeface="Calibri" panose="020F0502020204030204" pitchFamily="34" charset="-120"/>
              </a:rPr>
              <a:t>Index (6.24), followed by Penetration (4.90) and Availability (3.74).</a:t>
            </a:r>
            <a:endParaRPr lang="en-US" altLang="en-US" sz="8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548640" y="329184"/>
            <a:ext cx="7315200" cy="256032"/>
          </a:xfrm>
          <a:prstGeom prst="rect">
            <a:avLst/>
          </a:prstGeom>
          <a:noFill/>
        </p:spPr>
        <p:txBody>
          <a:bodyPr wrap="square" lIns="0" tIns="0" rIns="0" bIns="0" rtlCol="0" anchor="ctr"/>
          <a:lstStyle/>
          <a:p>
            <a:pPr marL="0" indent="0">
              <a:buNone/>
            </a:pPr>
            <a:r>
              <a:rPr lang="en-US" sz="115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15  ·  CONVERGENCE ANALYSIS</a:t>
            </a:r>
            <a:endParaRPr lang="en-US" sz="1150" dirty="0"/>
          </a:p>
        </p:txBody>
      </p:sp>
      <p:sp>
        <p:nvSpPr>
          <p:cNvPr id="3" name="Shape 1"/>
          <p:cNvSpPr/>
          <p:nvPr/>
        </p:nvSpPr>
        <p:spPr>
          <a:xfrm>
            <a:off x="548640" y="621792"/>
            <a:ext cx="502920" cy="0"/>
          </a:xfrm>
          <a:prstGeom prst="line">
            <a:avLst/>
          </a:prstGeom>
          <a:noFill/>
          <a:ln w="28575">
            <a:solidFill>
              <a:srgbClr val="16233F"/>
            </a:solidFill>
            <a:prstDash val="solid"/>
          </a:ln>
        </p:spPr>
      </p:sp>
      <p:sp>
        <p:nvSpPr>
          <p:cNvPr id="4" name="Text 2"/>
          <p:cNvSpPr/>
          <p:nvPr/>
        </p:nvSpPr>
        <p:spPr>
          <a:xfrm>
            <a:off x="548640" y="676656"/>
            <a:ext cx="11094415" cy="402336"/>
          </a:xfrm>
          <a:prstGeom prst="rect">
            <a:avLst/>
          </a:prstGeom>
          <a:noFill/>
        </p:spPr>
        <p:txBody>
          <a:bodyPr wrap="square" lIns="0" tIns="0" rIns="0" bIns="0" rtlCol="0" anchor="ctr"/>
          <a:lstStyle/>
          <a:p>
            <a:pPr marL="0" indent="0">
              <a:lnSpc>
                <a:spcPct val="105000"/>
              </a:lnSpc>
              <a:buNone/>
            </a:pPr>
            <a:r>
              <a:rPr lang="en-US" sz="2100" b="1" dirty="0">
                <a:solidFill>
                  <a:srgbClr val="16233F"/>
                </a:solidFill>
                <a:latin typeface="Cambria" panose="02040503050406030204" pitchFamily="34" charset="0"/>
                <a:ea typeface="Cambria" panose="02040503050406030204" pitchFamily="34" charset="-122"/>
                <a:cs typeface="Cambria" panose="02040503050406030204" pitchFamily="34" charset="-120"/>
              </a:rPr>
              <a:t>Sigma Convergence: Did Interstate Financial Inclusion Gaps Narrow Over Time?</a:t>
            </a:r>
            <a:endParaRPr lang="en-US" sz="2100" dirty="0"/>
          </a:p>
        </p:txBody>
      </p:sp>
      <p:sp>
        <p:nvSpPr>
          <p:cNvPr id="5" name="Text 3"/>
          <p:cNvSpPr/>
          <p:nvPr/>
        </p:nvSpPr>
        <p:spPr>
          <a:xfrm>
            <a:off x="548640" y="1097280"/>
            <a:ext cx="11094415" cy="237744"/>
          </a:xfrm>
          <a:prstGeom prst="rect">
            <a:avLst/>
          </a:prstGeom>
          <a:noFill/>
        </p:spPr>
        <p:txBody>
          <a:bodyPr wrap="square" lIns="0" tIns="0" rIns="0" bIns="0" rtlCol="0" anchor="ctr"/>
          <a:lstStyle/>
          <a:p>
            <a:pPr marL="0" indent="0">
              <a:buNone/>
            </a:pPr>
            <a:r>
              <a:rPr lang="en-US" sz="1080" i="1" dirty="0">
                <a:solidFill>
                  <a:srgbClr val="5B6472"/>
                </a:solidFill>
                <a:latin typeface="Calibri" panose="020F0502020204030204" pitchFamily="34" charset="0"/>
                <a:ea typeface="Calibri" panose="020F0502020204030204" pitchFamily="34" charset="-122"/>
                <a:cs typeface="Calibri" panose="020F0502020204030204" pitchFamily="34" charset="-120"/>
              </a:rPr>
              <a:t>Examining whether interstate disparities in financial inclusion became smaller as overall financial inclusion improved (2016–17 to 2024–25).</a:t>
            </a:r>
            <a:endParaRPr lang="en-US" sz="1080" dirty="0"/>
          </a:p>
        </p:txBody>
      </p:sp>
      <p:sp>
        <p:nvSpPr>
          <p:cNvPr id="6" name="Text 4"/>
          <p:cNvSpPr/>
          <p:nvPr/>
        </p:nvSpPr>
        <p:spPr>
          <a:xfrm>
            <a:off x="548640" y="1371600"/>
            <a:ext cx="5410048" cy="219456"/>
          </a:xfrm>
          <a:prstGeom prst="rect">
            <a:avLst/>
          </a:prstGeom>
          <a:noFill/>
        </p:spPr>
        <p:txBody>
          <a:bodyPr wrap="square" lIns="0" tIns="0" rIns="0" bIns="0" rtlCol="0" anchor="ctr"/>
          <a:lstStyle/>
          <a:p>
            <a:pPr marL="0" indent="0">
              <a:buNone/>
            </a:pPr>
            <a:r>
              <a:rPr lang="en-US" sz="960" b="1" kern="0" spc="40" dirty="0">
                <a:solidFill>
                  <a:srgbClr val="16233F"/>
                </a:solidFill>
                <a:latin typeface="Calibri" panose="020F0502020204030204" pitchFamily="34" charset="0"/>
                <a:ea typeface="Calibri" panose="020F0502020204030204" pitchFamily="34" charset="-122"/>
                <a:cs typeface="Calibri" panose="020F0502020204030204" pitchFamily="34" charset="-120"/>
              </a:rPr>
              <a:t>ABSOLUTE SIGMA CONVERGENCE  ·  STANDARD DEVIATION OF THE FII</a:t>
            </a:r>
            <a:endParaRPr lang="en-US" sz="960" dirty="0"/>
          </a:p>
        </p:txBody>
      </p:sp>
      <p:pic>
        <p:nvPicPr>
          <p:cNvPr id="7" name="Image 0" descr="/home/claude/build/slide14_assets/sd_chart.png"/>
          <p:cNvPicPr>
            <a:picLocks noChangeAspect="1"/>
          </p:cNvPicPr>
          <p:nvPr/>
        </p:nvPicPr>
        <p:blipFill>
          <a:blip r:embed="rId1"/>
          <a:stretch>
            <a:fillRect/>
          </a:stretch>
        </p:blipFill>
        <p:spPr>
          <a:xfrm>
            <a:off x="782682" y="1591056"/>
            <a:ext cx="4941964" cy="3154680"/>
          </a:xfrm>
          <a:prstGeom prst="rect">
            <a:avLst/>
          </a:prstGeom>
        </p:spPr>
      </p:pic>
      <p:sp>
        <p:nvSpPr>
          <p:cNvPr id="8" name="Text 5"/>
          <p:cNvSpPr/>
          <p:nvPr/>
        </p:nvSpPr>
        <p:spPr>
          <a:xfrm>
            <a:off x="6233008" y="1371600"/>
            <a:ext cx="5410048" cy="219456"/>
          </a:xfrm>
          <a:prstGeom prst="rect">
            <a:avLst/>
          </a:prstGeom>
          <a:noFill/>
        </p:spPr>
        <p:txBody>
          <a:bodyPr wrap="square" lIns="0" tIns="0" rIns="0" bIns="0" rtlCol="0" anchor="ctr"/>
          <a:lstStyle/>
          <a:p>
            <a:pPr marL="0" indent="0">
              <a:buNone/>
            </a:pPr>
            <a:r>
              <a:rPr lang="en-US" sz="960" b="1" kern="0" spc="40" dirty="0">
                <a:solidFill>
                  <a:srgbClr val="16233F"/>
                </a:solidFill>
                <a:latin typeface="Calibri" panose="020F0502020204030204" pitchFamily="34" charset="0"/>
                <a:ea typeface="Calibri" panose="020F0502020204030204" pitchFamily="34" charset="-122"/>
                <a:cs typeface="Calibri" panose="020F0502020204030204" pitchFamily="34" charset="-120"/>
              </a:rPr>
              <a:t>RELATIVE SIGMA CONVERGENCE  ·  COEFFICIENT OF VARIATION OF THE FII</a:t>
            </a:r>
            <a:endParaRPr lang="en-US" sz="960" dirty="0"/>
          </a:p>
        </p:txBody>
      </p:sp>
      <p:pic>
        <p:nvPicPr>
          <p:cNvPr id="9" name="Image 1" descr="/home/claude/build/slide14_assets/cv_chart.png"/>
          <p:cNvPicPr>
            <a:picLocks noChangeAspect="1"/>
          </p:cNvPicPr>
          <p:nvPr/>
        </p:nvPicPr>
        <p:blipFill>
          <a:blip r:embed="rId2"/>
          <a:stretch>
            <a:fillRect/>
          </a:stretch>
        </p:blipFill>
        <p:spPr>
          <a:xfrm>
            <a:off x="6431163" y="1591056"/>
            <a:ext cx="5013736" cy="3154680"/>
          </a:xfrm>
          <a:prstGeom prst="rect">
            <a:avLst/>
          </a:prstGeom>
        </p:spPr>
      </p:pic>
      <p:sp>
        <p:nvSpPr>
          <p:cNvPr id="10" name="Shape 6"/>
          <p:cNvSpPr/>
          <p:nvPr/>
        </p:nvSpPr>
        <p:spPr>
          <a:xfrm>
            <a:off x="548640" y="4837176"/>
            <a:ext cx="5410048" cy="1051560"/>
          </a:xfrm>
          <a:prstGeom prst="roundRect">
            <a:avLst>
              <a:gd name="adj" fmla="val 6957"/>
            </a:avLst>
          </a:prstGeom>
          <a:solidFill>
            <a:srgbClr val="F4F4F2"/>
          </a:solidFill>
          <a:ln w="12700">
            <a:solidFill>
              <a:srgbClr val="E1E1DD"/>
            </a:solidFill>
            <a:prstDash val="solid"/>
          </a:ln>
        </p:spPr>
      </p:sp>
      <p:grpSp>
        <p:nvGrpSpPr>
          <p:cNvPr id="23" name="Group 22"/>
          <p:cNvGrpSpPr/>
          <p:nvPr/>
        </p:nvGrpSpPr>
        <p:grpSpPr>
          <a:xfrm>
            <a:off x="890905" y="5002530"/>
            <a:ext cx="5007610" cy="645160"/>
            <a:chOff x="1181" y="7762"/>
            <a:chExt cx="7886" cy="1016"/>
          </a:xfrm>
        </p:grpSpPr>
        <p:sp>
          <p:nvSpPr>
            <p:cNvPr id="11" name="Text 7"/>
            <p:cNvSpPr/>
            <p:nvPr/>
          </p:nvSpPr>
          <p:spPr>
            <a:xfrm>
              <a:off x="1181" y="7762"/>
              <a:ext cx="7886" cy="288"/>
            </a:xfrm>
            <a:prstGeom prst="rect">
              <a:avLst/>
            </a:prstGeom>
            <a:noFill/>
          </p:spPr>
          <p:txBody>
            <a:bodyPr wrap="square" lIns="0" tIns="0" rIns="0" bIns="0" rtlCol="0" anchor="ctr"/>
            <a:lstStyle/>
            <a:p>
              <a:pPr marL="0" indent="0">
                <a:buNone/>
              </a:pPr>
              <a:r>
                <a:rPr lang="en-US" sz="1200" b="1" kern="0" spc="50" dirty="0">
                  <a:solidFill>
                    <a:srgbClr val="16233F"/>
                  </a:solidFill>
                  <a:latin typeface="Calibri" panose="020F0502020204030204" pitchFamily="34" charset="0"/>
                  <a:ea typeface="Calibri" panose="020F0502020204030204" pitchFamily="34" charset="-122"/>
                  <a:cs typeface="Calibri" panose="020F0502020204030204" pitchFamily="34" charset="-120"/>
                </a:rPr>
                <a:t>ABSOLUTE CONVERGENCE</a:t>
              </a:r>
              <a:endParaRPr lang="en-US" sz="1200" b="1" kern="0" spc="50"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8"/>
            <p:cNvSpPr/>
            <p:nvPr/>
          </p:nvSpPr>
          <p:spPr>
            <a:xfrm>
              <a:off x="1181" y="8078"/>
              <a:ext cx="3785" cy="701"/>
            </a:xfrm>
            <a:prstGeom prst="rect">
              <a:avLst/>
            </a:prstGeom>
            <a:noFill/>
          </p:spPr>
          <p:txBody>
            <a:bodyPr wrap="square" lIns="0" tIns="0" rIns="0" bIns="0" rtlCol="0" anchor="ctr"/>
            <a:lstStyle/>
            <a:p>
              <a:pPr marL="0" indent="0">
                <a:buNone/>
              </a:pPr>
              <a:r>
                <a:rPr lang="en-US" sz="1600" b="1" dirty="0">
                  <a:solidFill>
                    <a:srgbClr val="7A2E2E"/>
                  </a:solidFill>
                  <a:latin typeface="Calibri" panose="020F0502020204030204" pitchFamily="34" charset="0"/>
                  <a:ea typeface="Calibri" panose="020F0502020204030204" pitchFamily="34" charset="-122"/>
                  <a:cs typeface="Calibri" panose="020F0502020204030204" pitchFamily="34" charset="-120"/>
                </a:rPr>
                <a:t>1.65 → 2.49  </a:t>
              </a:r>
              <a:endParaRPr lang="en-US" sz="1600" b="1" dirty="0">
                <a:solidFill>
                  <a:srgbClr val="7A2E2E"/>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Standard Deviation</a:t>
              </a:r>
              <a:endPar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13" name="Text 9"/>
          <p:cNvSpPr/>
          <p:nvPr/>
        </p:nvSpPr>
        <p:spPr>
          <a:xfrm>
            <a:off x="3162300" y="4972050"/>
            <a:ext cx="2595245" cy="794385"/>
          </a:xfrm>
          <a:prstGeom prst="rect">
            <a:avLst/>
          </a:prstGeom>
          <a:noFill/>
        </p:spPr>
        <p:txBody>
          <a:bodyPr wrap="square" lIns="0" tIns="0" rIns="0" bIns="0" rtlCol="0" anchor="ctr"/>
          <a:lstStyle/>
          <a:p>
            <a:pPr marL="152400" indent="-152400">
              <a:lnSpc>
                <a:spcPct val="115000"/>
              </a:lnSpc>
              <a:buSzPct val="100000"/>
              <a:buChar char="•"/>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Absolute interstate disparities widened steadily.</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a:p>
            <a:pPr marL="152400" indent="-152400">
              <a:lnSpc>
                <a:spcPct val="115000"/>
              </a:lnSpc>
              <a:buSzPct val="100000"/>
              <a:buChar char="•"/>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No evidence of absolute sigma convergence.</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0"/>
          <p:cNvSpPr/>
          <p:nvPr/>
        </p:nvSpPr>
        <p:spPr>
          <a:xfrm>
            <a:off x="6233008" y="4837176"/>
            <a:ext cx="5410048" cy="1051560"/>
          </a:xfrm>
          <a:prstGeom prst="roundRect">
            <a:avLst>
              <a:gd name="adj" fmla="val 6957"/>
            </a:avLst>
          </a:prstGeom>
          <a:solidFill>
            <a:srgbClr val="F4F4F2"/>
          </a:solidFill>
          <a:ln w="12700">
            <a:solidFill>
              <a:srgbClr val="E1E1DD"/>
            </a:solidFill>
            <a:prstDash val="solid"/>
          </a:ln>
        </p:spPr>
      </p:sp>
      <p:grpSp>
        <p:nvGrpSpPr>
          <p:cNvPr id="24" name="Group 23"/>
          <p:cNvGrpSpPr/>
          <p:nvPr/>
        </p:nvGrpSpPr>
        <p:grpSpPr>
          <a:xfrm>
            <a:off x="6635750" y="5002530"/>
            <a:ext cx="5007610" cy="624840"/>
            <a:chOff x="10133" y="7762"/>
            <a:chExt cx="7886" cy="984"/>
          </a:xfrm>
        </p:grpSpPr>
        <p:sp>
          <p:nvSpPr>
            <p:cNvPr id="15" name="Text 11"/>
            <p:cNvSpPr/>
            <p:nvPr/>
          </p:nvSpPr>
          <p:spPr>
            <a:xfrm>
              <a:off x="10133" y="7762"/>
              <a:ext cx="7886" cy="288"/>
            </a:xfrm>
            <a:prstGeom prst="rect">
              <a:avLst/>
            </a:prstGeom>
            <a:noFill/>
          </p:spPr>
          <p:txBody>
            <a:bodyPr wrap="square" lIns="0" tIns="0" rIns="0" bIns="0" rtlCol="0" anchor="ctr"/>
            <a:lstStyle/>
            <a:p>
              <a:pPr marL="0" indent="0">
                <a:buNone/>
              </a:pPr>
              <a:r>
                <a:rPr lang="en-US" sz="1200" b="1" kern="0" spc="50" dirty="0">
                  <a:solidFill>
                    <a:srgbClr val="16233F"/>
                  </a:solidFill>
                  <a:latin typeface="Calibri" panose="020F0502020204030204" pitchFamily="34" charset="0"/>
                  <a:ea typeface="Calibri" panose="020F0502020204030204" pitchFamily="34" charset="-122"/>
                  <a:cs typeface="Calibri" panose="020F0502020204030204" pitchFamily="34" charset="-120"/>
                </a:rPr>
                <a:t>RELATIVE CONVERGENCE</a:t>
              </a:r>
              <a:endParaRPr lang="en-US" sz="1200" b="1" kern="0" spc="50"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2"/>
            <p:cNvSpPr/>
            <p:nvPr/>
          </p:nvSpPr>
          <p:spPr>
            <a:xfrm>
              <a:off x="10133" y="8078"/>
              <a:ext cx="3559" cy="669"/>
            </a:xfrm>
            <a:prstGeom prst="rect">
              <a:avLst/>
            </a:prstGeom>
            <a:noFill/>
          </p:spPr>
          <p:txBody>
            <a:bodyPr wrap="square" lIns="0" tIns="0" rIns="0" bIns="0" rtlCol="0" anchor="ctr"/>
            <a:lstStyle/>
            <a:p>
              <a:pPr marL="0" indent="0">
                <a:buNone/>
              </a:pPr>
              <a:r>
                <a:rPr lang="en-US" sz="1600" b="1" dirty="0">
                  <a:solidFill>
                    <a:srgbClr val="2E5E42"/>
                  </a:solidFill>
                  <a:latin typeface="Calibri" panose="020F0502020204030204" pitchFamily="34" charset="0"/>
                  <a:ea typeface="Calibri" panose="020F0502020204030204" pitchFamily="34" charset="-122"/>
                  <a:cs typeface="Calibri" panose="020F0502020204030204" pitchFamily="34" charset="-120"/>
                </a:rPr>
                <a:t>0.543 → 0.460 → 0.486  </a:t>
              </a:r>
              <a:endParaRPr lang="en-US" sz="1600" b="1" dirty="0">
                <a:solidFill>
                  <a:srgbClr val="2E5E42"/>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CV</a:t>
              </a:r>
              <a:endPar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17" name="Text 13"/>
          <p:cNvSpPr/>
          <p:nvPr/>
        </p:nvSpPr>
        <p:spPr>
          <a:xfrm>
            <a:off x="8861425" y="5024755"/>
            <a:ext cx="2580640" cy="754380"/>
          </a:xfrm>
          <a:prstGeom prst="rect">
            <a:avLst/>
          </a:prstGeom>
          <a:noFill/>
        </p:spPr>
        <p:txBody>
          <a:bodyPr wrap="square" lIns="0" tIns="0" rIns="0" bIns="0" rtlCol="0" anchor="ctr"/>
          <a:lstStyle/>
          <a:p>
            <a:pPr marL="152400" indent="-152400">
              <a:lnSpc>
                <a:spcPct val="100000"/>
              </a:lnSpc>
              <a:buSzPct val="100000"/>
              <a:buChar char="•"/>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Relative disparities narrowed initially.</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a:p>
            <a:pPr marL="152400" indent="-152400">
              <a:lnSpc>
                <a:spcPct val="100000"/>
              </a:lnSpc>
              <a:buSzPct val="100000"/>
              <a:buChar char="•"/>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Mild divergence emerged after 2021–22.</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a:p>
            <a:pPr marL="152400" indent="-152400">
              <a:lnSpc>
                <a:spcPct val="100000"/>
              </a:lnSpc>
              <a:buSzPct val="100000"/>
              <a:buChar char="•"/>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sym typeface="+mn-ea"/>
              </a:rPr>
              <a:t>Still below the 2016–17 level overall</a:t>
            </a: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sym typeface="+mn-ea"/>
              </a:rPr>
              <a:t>.</a:t>
            </a: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
</a:t>
            </a:r>
            <a:endParaRPr lang="en-US" sz="930" dirty="0"/>
          </a:p>
        </p:txBody>
      </p:sp>
      <p:sp>
        <p:nvSpPr>
          <p:cNvPr id="18" name="Shape 14"/>
          <p:cNvSpPr/>
          <p:nvPr/>
        </p:nvSpPr>
        <p:spPr>
          <a:xfrm>
            <a:off x="548640" y="5980176"/>
            <a:ext cx="11094415" cy="566928"/>
          </a:xfrm>
          <a:prstGeom prst="roundRect">
            <a:avLst>
              <a:gd name="adj" fmla="val 14516"/>
            </a:avLst>
          </a:prstGeom>
          <a:solidFill>
            <a:srgbClr val="16233F"/>
          </a:solidFill>
        </p:spPr>
      </p:sp>
      <p:grpSp>
        <p:nvGrpSpPr>
          <p:cNvPr id="25" name="Group 24"/>
          <p:cNvGrpSpPr/>
          <p:nvPr/>
        </p:nvGrpSpPr>
        <p:grpSpPr>
          <a:xfrm>
            <a:off x="782955" y="6023610"/>
            <a:ext cx="10618470" cy="438150"/>
            <a:chOff x="1238" y="9533"/>
            <a:chExt cx="16722" cy="690"/>
          </a:xfrm>
        </p:grpSpPr>
        <p:sp>
          <p:nvSpPr>
            <p:cNvPr id="19" name="Text 15"/>
            <p:cNvSpPr/>
            <p:nvPr/>
          </p:nvSpPr>
          <p:spPr>
            <a:xfrm>
              <a:off x="1238" y="9533"/>
              <a:ext cx="16723" cy="288"/>
            </a:xfrm>
            <a:prstGeom prst="rect">
              <a:avLst/>
            </a:prstGeom>
            <a:noFill/>
          </p:spPr>
          <p:txBody>
            <a:bodyPr wrap="square" lIns="0" tIns="0" rIns="0" bIns="0" rtlCol="0" anchor="ctr"/>
            <a:lstStyle/>
            <a:p>
              <a:pPr marL="0" indent="0">
                <a:buNone/>
              </a:pPr>
              <a:r>
                <a:rPr lang="en-US" sz="1000" b="1" kern="0" spc="60" dirty="0">
                  <a:solidFill>
                    <a:srgbClr val="FFFFFF"/>
                  </a:solidFill>
                  <a:latin typeface="Calibri" panose="020F0502020204030204" pitchFamily="34" charset="0"/>
                  <a:ea typeface="Calibri" panose="020F0502020204030204" pitchFamily="34" charset="-122"/>
                  <a:cs typeface="Calibri" panose="020F0502020204030204" pitchFamily="34" charset="-120"/>
                </a:rPr>
                <a:t>WHAT THE ANALYSIS REVEALS</a:t>
              </a:r>
              <a:endParaRPr lang="en-US" sz="1000" dirty="0"/>
            </a:p>
          </p:txBody>
        </p:sp>
        <p:sp>
          <p:nvSpPr>
            <p:cNvPr id="20" name="Text 16"/>
            <p:cNvSpPr/>
            <p:nvPr/>
          </p:nvSpPr>
          <p:spPr>
            <a:xfrm>
              <a:off x="1238" y="9821"/>
              <a:ext cx="16723" cy="403"/>
            </a:xfrm>
            <a:prstGeom prst="rect">
              <a:avLst/>
            </a:prstGeom>
            <a:noFill/>
          </p:spPr>
          <p:txBody>
            <a:bodyPr wrap="square" lIns="0" tIns="0" rIns="0" bIns="0" rtlCol="0" anchor="ctr"/>
            <a:lstStyle/>
            <a:p>
              <a:pPr marL="0" indent="0">
                <a:lnSpc>
                  <a:spcPct val="115000"/>
                </a:lnSpc>
                <a:buNone/>
              </a:pPr>
              <a:r>
                <a:rPr lang="en-US" sz="1200" dirty="0">
                  <a:solidFill>
                    <a:srgbClr val="E4E8F0"/>
                  </a:solidFill>
                  <a:latin typeface="Calibri" panose="020F0502020204030204" pitchFamily="34" charset="0"/>
                  <a:ea typeface="Calibri" panose="020F0502020204030204" pitchFamily="34" charset="-122"/>
                  <a:cs typeface="Calibri" panose="020F0502020204030204" pitchFamily="34" charset="-120"/>
                </a:rPr>
                <a:t>F</a:t>
              </a:r>
              <a:r>
                <a:rPr lang="en-US" altLang="en-US" sz="1200" dirty="0">
                  <a:solidFill>
                    <a:srgbClr val="E4E8F0"/>
                  </a:solidFill>
                  <a:latin typeface="Calibri" panose="020F0502020204030204" pitchFamily="34" charset="0"/>
                  <a:ea typeface="Calibri" panose="020F0502020204030204" pitchFamily="34" charset="-122"/>
                  <a:cs typeface="Calibri" panose="020F0502020204030204" pitchFamily="34" charset="-120"/>
                </a:rPr>
                <a:t>inancial </a:t>
              </a:r>
              <a:r>
                <a:rPr lang="en-US" altLang="en-US" sz="900" dirty="0">
                  <a:solidFill>
                    <a:srgbClr val="E4E8F0"/>
                  </a:solidFill>
                  <a:latin typeface="Calibri" panose="020F0502020204030204" pitchFamily="34" charset="0"/>
                  <a:ea typeface="Calibri" panose="020F0502020204030204" pitchFamily="34" charset="-122"/>
                  <a:cs typeface="Calibri" panose="020F0502020204030204" pitchFamily="34" charset="-120"/>
                </a:rPr>
                <a:t>inclusion improved across all states, but these gains did not produce sustained convergence. Absolute interstate disparities widened continuously, while relative disparities narrowed only temporarily before increasing modestly in the later years. Overall, the evidence indicates limited sigma convergence across Indian states.</a:t>
              </a:r>
              <a:endParaRPr lang="en-US" altLang="en-US" sz="900" dirty="0">
                <a:solidFill>
                  <a:srgbClr val="E4E8F0"/>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21" name="Text 17"/>
          <p:cNvSpPr/>
          <p:nvPr/>
        </p:nvSpPr>
        <p:spPr>
          <a:xfrm>
            <a:off x="548640" y="6601968"/>
            <a:ext cx="7315200" cy="182880"/>
          </a:xfrm>
          <a:prstGeom prst="rect">
            <a:avLst/>
          </a:prstGeom>
          <a:noFill/>
        </p:spPr>
        <p:txBody>
          <a:bodyPr wrap="square" lIns="0" tIns="0" rIns="0" bIns="0" rtlCol="0" anchor="ctr"/>
          <a:lstStyle/>
          <a:p>
            <a:pPr marL="0" indent="0">
              <a:buNone/>
            </a:pPr>
            <a:r>
              <a:rPr lang="en-US" sz="83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8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548640" y="329184"/>
            <a:ext cx="7315200" cy="256032"/>
          </a:xfrm>
          <a:prstGeom prst="rect">
            <a:avLst/>
          </a:prstGeom>
          <a:noFill/>
        </p:spPr>
        <p:txBody>
          <a:bodyPr wrap="square" lIns="0" tIns="0" rIns="0" bIns="0" rtlCol="0" anchor="ctr"/>
          <a:lstStyle/>
          <a:p>
            <a:pPr marL="0" indent="0">
              <a:buNone/>
            </a:pPr>
            <a:r>
              <a:rPr lang="en-US" sz="115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16  ·  CONVERGENCE ANALYSIS</a:t>
            </a:r>
            <a:endParaRPr lang="en-US" sz="1150" dirty="0"/>
          </a:p>
        </p:txBody>
      </p:sp>
      <p:sp>
        <p:nvSpPr>
          <p:cNvPr id="3" name="Shape 1"/>
          <p:cNvSpPr/>
          <p:nvPr/>
        </p:nvSpPr>
        <p:spPr>
          <a:xfrm>
            <a:off x="548640" y="621792"/>
            <a:ext cx="502920" cy="0"/>
          </a:xfrm>
          <a:prstGeom prst="line">
            <a:avLst/>
          </a:prstGeom>
          <a:noFill/>
          <a:ln w="28575">
            <a:solidFill>
              <a:srgbClr val="16233F"/>
            </a:solidFill>
            <a:prstDash val="solid"/>
          </a:ln>
        </p:spPr>
      </p:sp>
      <p:sp>
        <p:nvSpPr>
          <p:cNvPr id="4" name="Text 2"/>
          <p:cNvSpPr/>
          <p:nvPr/>
        </p:nvSpPr>
        <p:spPr>
          <a:xfrm>
            <a:off x="548640" y="676656"/>
            <a:ext cx="11094415" cy="402336"/>
          </a:xfrm>
          <a:prstGeom prst="rect">
            <a:avLst/>
          </a:prstGeom>
          <a:noFill/>
        </p:spPr>
        <p:txBody>
          <a:bodyPr wrap="square" lIns="0" tIns="0" rIns="0" bIns="0" rtlCol="0" anchor="ctr"/>
          <a:lstStyle/>
          <a:p>
            <a:pPr marL="0" indent="0">
              <a:lnSpc>
                <a:spcPct val="105000"/>
              </a:lnSpc>
              <a:buNone/>
            </a:pPr>
            <a:r>
              <a:rPr lang="en-US" sz="2000" b="1" dirty="0">
                <a:solidFill>
                  <a:srgbClr val="16233F"/>
                </a:solidFill>
                <a:latin typeface="Cambria" panose="02040503050406030204" pitchFamily="34" charset="0"/>
                <a:ea typeface="Cambria" panose="02040503050406030204" pitchFamily="34" charset="-122"/>
                <a:cs typeface="Cambria" panose="02040503050406030204" pitchFamily="34" charset="-120"/>
              </a:rPr>
              <a:t>Markov Transition Analysis: Did States Change Their Relative Position Over Time?</a:t>
            </a:r>
            <a:endParaRPr lang="en-US" sz="2000" dirty="0"/>
          </a:p>
        </p:txBody>
      </p:sp>
      <p:sp>
        <p:nvSpPr>
          <p:cNvPr id="5" name="Text 3"/>
          <p:cNvSpPr/>
          <p:nvPr/>
        </p:nvSpPr>
        <p:spPr>
          <a:xfrm>
            <a:off x="548640" y="1097280"/>
            <a:ext cx="11094415" cy="237744"/>
          </a:xfrm>
          <a:prstGeom prst="rect">
            <a:avLst/>
          </a:prstGeom>
          <a:noFill/>
        </p:spPr>
        <p:txBody>
          <a:bodyPr wrap="square" lIns="0" tIns="0" rIns="0" bIns="0" rtlCol="0" anchor="ctr"/>
          <a:lstStyle/>
          <a:p>
            <a:pPr marL="0" indent="0">
              <a:buNone/>
            </a:pPr>
            <a:r>
              <a:rPr lang="en-US" sz="1080" i="1" dirty="0">
                <a:solidFill>
                  <a:srgbClr val="5B6472"/>
                </a:solidFill>
                <a:latin typeface="Calibri" panose="020F0502020204030204" pitchFamily="34" charset="0"/>
                <a:ea typeface="Calibri" panose="020F0502020204030204" pitchFamily="34" charset="-122"/>
                <a:cs typeface="Calibri" panose="020F0502020204030204" pitchFamily="34" charset="-120"/>
              </a:rPr>
              <a:t>Examining interstate mobility across financial inclusion quartiles between 2016–17 and 2024–25.</a:t>
            </a:r>
            <a:endParaRPr lang="en-US" sz="1080" dirty="0"/>
          </a:p>
        </p:txBody>
      </p:sp>
      <p:sp>
        <p:nvSpPr>
          <p:cNvPr id="6" name="Text 4"/>
          <p:cNvSpPr/>
          <p:nvPr/>
        </p:nvSpPr>
        <p:spPr>
          <a:xfrm>
            <a:off x="548640" y="1371600"/>
            <a:ext cx="5410048" cy="219456"/>
          </a:xfrm>
          <a:prstGeom prst="rect">
            <a:avLst/>
          </a:prstGeom>
          <a:noFill/>
        </p:spPr>
        <p:txBody>
          <a:bodyPr wrap="square" lIns="0" tIns="0" rIns="0" bIns="0" rtlCol="0" anchor="ctr"/>
          <a:lstStyle/>
          <a:p>
            <a:pPr marL="0" indent="0">
              <a:buNone/>
            </a:pPr>
            <a:r>
              <a:rPr lang="en-US" sz="960" b="1" kern="0" spc="40" dirty="0">
                <a:solidFill>
                  <a:srgbClr val="16233F"/>
                </a:solidFill>
                <a:latin typeface="Calibri" panose="020F0502020204030204" pitchFamily="34" charset="0"/>
                <a:ea typeface="Calibri" panose="020F0502020204030204" pitchFamily="34" charset="-122"/>
                <a:cs typeface="Calibri" panose="020F0502020204030204" pitchFamily="34" charset="-120"/>
              </a:rPr>
              <a:t>MARKOV TRANSITION PROBABILITY MATRIX</a:t>
            </a:r>
            <a:endParaRPr lang="en-US" sz="960" dirty="0"/>
          </a:p>
        </p:txBody>
      </p:sp>
      <p:pic>
        <p:nvPicPr>
          <p:cNvPr id="7" name="Image 0" descr="/home/claude/build/slide15_assets/markov_heatmap.png"/>
          <p:cNvPicPr>
            <a:picLocks noChangeAspect="1"/>
          </p:cNvPicPr>
          <p:nvPr/>
        </p:nvPicPr>
        <p:blipFill>
          <a:blip r:embed="rId1"/>
          <a:stretch>
            <a:fillRect/>
          </a:stretch>
        </p:blipFill>
        <p:spPr>
          <a:xfrm>
            <a:off x="1273175" y="1591310"/>
            <a:ext cx="3784600" cy="2889250"/>
          </a:xfrm>
          <a:prstGeom prst="rect">
            <a:avLst/>
          </a:prstGeom>
        </p:spPr>
      </p:pic>
      <p:grpSp>
        <p:nvGrpSpPr>
          <p:cNvPr id="66" name="Group 65"/>
          <p:cNvGrpSpPr/>
          <p:nvPr/>
        </p:nvGrpSpPr>
        <p:grpSpPr>
          <a:xfrm>
            <a:off x="548640" y="4583430"/>
            <a:ext cx="11094720" cy="1076960"/>
            <a:chOff x="864" y="7114"/>
            <a:chExt cx="17472" cy="1800"/>
          </a:xfrm>
        </p:grpSpPr>
        <p:grpSp>
          <p:nvGrpSpPr>
            <p:cNvPr id="62" name="Group 61"/>
            <p:cNvGrpSpPr/>
            <p:nvPr/>
          </p:nvGrpSpPr>
          <p:grpSpPr>
            <a:xfrm>
              <a:off x="864" y="7114"/>
              <a:ext cx="8520" cy="1800"/>
              <a:chOff x="864" y="7114"/>
              <a:chExt cx="8520" cy="1800"/>
            </a:xfrm>
          </p:grpSpPr>
          <p:sp>
            <p:nvSpPr>
              <p:cNvPr id="10" name="Shape 6"/>
              <p:cNvSpPr/>
              <p:nvPr/>
            </p:nvSpPr>
            <p:spPr>
              <a:xfrm>
                <a:off x="864" y="7114"/>
                <a:ext cx="8520" cy="1800"/>
              </a:xfrm>
              <a:prstGeom prst="roundRect">
                <a:avLst>
                  <a:gd name="adj" fmla="val 6400"/>
                </a:avLst>
              </a:prstGeom>
              <a:solidFill>
                <a:srgbClr val="F4F4F2"/>
              </a:solidFill>
              <a:ln w="12700">
                <a:solidFill>
                  <a:srgbClr val="E1E1DD"/>
                </a:solidFill>
                <a:prstDash val="solid"/>
              </a:ln>
            </p:spPr>
          </p:sp>
          <p:sp>
            <p:nvSpPr>
              <p:cNvPr id="11" name="Text 7"/>
              <p:cNvSpPr/>
              <p:nvPr/>
            </p:nvSpPr>
            <p:spPr>
              <a:xfrm>
                <a:off x="1152" y="7344"/>
                <a:ext cx="2520" cy="864"/>
              </a:xfrm>
              <a:prstGeom prst="rect">
                <a:avLst/>
              </a:prstGeom>
              <a:noFill/>
            </p:spPr>
            <p:txBody>
              <a:bodyPr wrap="square" lIns="0" tIns="0" rIns="0" bIns="0" rtlCol="0" anchor="ctr"/>
              <a:lstStyle/>
              <a:p>
                <a:pPr marL="0" indent="0" algn="ctr">
                  <a:buNone/>
                </a:pPr>
                <a:r>
                  <a:rPr lang="en-US" sz="2000" b="1" dirty="0">
                    <a:solidFill>
                      <a:srgbClr val="16233F"/>
                    </a:solidFill>
                    <a:latin typeface="Cambria" panose="02040503050406030204" pitchFamily="34" charset="0"/>
                    <a:ea typeface="Cambria" panose="02040503050406030204" pitchFamily="34" charset="-122"/>
                    <a:cs typeface="Cambria" panose="02040503050406030204" pitchFamily="34" charset="-120"/>
                  </a:rPr>
                  <a:t>87–93%</a:t>
                </a:r>
                <a:endParaRPr lang="en-US" sz="2000" b="1" dirty="0">
                  <a:solidFill>
                    <a:srgbClr val="16233F"/>
                  </a:solidFill>
                  <a:latin typeface="Cambria" panose="02040503050406030204" pitchFamily="34" charset="0"/>
                  <a:ea typeface="Cambria" panose="02040503050406030204" pitchFamily="34" charset="-122"/>
                  <a:cs typeface="Cambria" panose="02040503050406030204" pitchFamily="34" charset="-120"/>
                </a:endParaRPr>
              </a:p>
            </p:txBody>
          </p:sp>
          <p:sp>
            <p:nvSpPr>
              <p:cNvPr id="12" name="Text 8"/>
              <p:cNvSpPr/>
              <p:nvPr/>
            </p:nvSpPr>
            <p:spPr>
              <a:xfrm>
                <a:off x="1152" y="8122"/>
                <a:ext cx="2520" cy="576"/>
              </a:xfrm>
              <a:prstGeom prst="rect">
                <a:avLst/>
              </a:prstGeom>
              <a:noFill/>
            </p:spPr>
            <p:txBody>
              <a:bodyPr wrap="square" lIns="0" tIns="0" rIns="0" bIns="0" rtlCol="0" anchor="ctr"/>
              <a:lstStyle/>
              <a:p>
                <a:pPr marL="0" indent="0" algn="ctr">
                  <a:lnSpc>
                    <a:spcPct val="105000"/>
                  </a:lnSpc>
                  <a:buNone/>
                </a:pP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Quartile</a:t>
                </a:r>
                <a:endParaRPr lang="en-US" sz="1200" dirty="0"/>
              </a:p>
              <a:p>
                <a:pPr marL="0" indent="0" algn="ctr">
                  <a:lnSpc>
                    <a:spcPct val="105000"/>
                  </a:lnSpc>
                  <a:buNone/>
                </a:pP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Persistence</a:t>
                </a:r>
                <a:endPar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9"/>
              <p:cNvSpPr/>
              <p:nvPr/>
            </p:nvSpPr>
            <p:spPr>
              <a:xfrm>
                <a:off x="3787" y="7330"/>
                <a:ext cx="0" cy="1368"/>
              </a:xfrm>
              <a:prstGeom prst="line">
                <a:avLst/>
              </a:prstGeom>
              <a:noFill/>
              <a:ln w="12700">
                <a:solidFill>
                  <a:srgbClr val="E1E1DD"/>
                </a:solidFill>
                <a:prstDash val="solid"/>
              </a:ln>
            </p:spPr>
          </p:sp>
          <p:sp>
            <p:nvSpPr>
              <p:cNvPr id="14" name="Text 10"/>
              <p:cNvSpPr/>
              <p:nvPr/>
            </p:nvSpPr>
            <p:spPr>
              <a:xfrm>
                <a:off x="4104" y="7315"/>
                <a:ext cx="4963" cy="1397"/>
              </a:xfrm>
              <a:prstGeom prst="rect">
                <a:avLst/>
              </a:prstGeom>
              <a:noFill/>
            </p:spPr>
            <p:txBody>
              <a:bodyPr wrap="square" lIns="0" tIns="0" rIns="0" bIns="0" rtlCol="0" anchor="ctr"/>
              <a:lstStyle/>
              <a:p>
                <a:pPr marL="152400" indent="-152400">
                  <a:lnSpc>
                    <a:spcPct val="76000"/>
                  </a:lnSpc>
                  <a:buSzPct val="100000"/>
                  <a:buChar char="•"/>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Persistence exceeded 87% across every quartile.
</a:t>
                </a:r>
                <a:endParaRPr lang="en-US" sz="1200" dirty="0"/>
              </a:p>
              <a:p>
                <a:pPr marL="152400" indent="-152400">
                  <a:lnSpc>
                    <a:spcPct val="76000"/>
                  </a:lnSpc>
                  <a:buSzPct val="100000"/>
                  <a:buChar char="•"/>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Highest persistence occurred in Q1 (92.9%).
</a:t>
                </a:r>
                <a:endParaRPr lang="en-US" sz="1200" dirty="0"/>
              </a:p>
              <a:p>
                <a:pPr marL="152400" indent="-152400">
                  <a:lnSpc>
                    <a:spcPct val="76000"/>
                  </a:lnSpc>
                  <a:buSzPct val="100000"/>
                  <a:buChar char="•"/>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Transitions were almost entirely confined to adjacent quartiles.</a:t>
                </a:r>
                <a:endPar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15" name="Shape 11"/>
            <p:cNvSpPr/>
            <p:nvPr/>
          </p:nvSpPr>
          <p:spPr>
            <a:xfrm>
              <a:off x="9816" y="7114"/>
              <a:ext cx="8520" cy="1800"/>
            </a:xfrm>
            <a:prstGeom prst="roundRect">
              <a:avLst>
                <a:gd name="adj" fmla="val 6400"/>
              </a:avLst>
            </a:prstGeom>
            <a:solidFill>
              <a:srgbClr val="F4F4F2"/>
            </a:solidFill>
            <a:ln w="12700">
              <a:solidFill>
                <a:srgbClr val="E1E1DD"/>
              </a:solidFill>
              <a:prstDash val="solid"/>
            </a:ln>
          </p:spPr>
        </p:sp>
        <p:sp>
          <p:nvSpPr>
            <p:cNvPr id="16" name="Text 12"/>
            <p:cNvSpPr/>
            <p:nvPr/>
          </p:nvSpPr>
          <p:spPr>
            <a:xfrm>
              <a:off x="10104" y="7344"/>
              <a:ext cx="2520" cy="864"/>
            </a:xfrm>
            <a:prstGeom prst="rect">
              <a:avLst/>
            </a:prstGeom>
            <a:noFill/>
          </p:spPr>
          <p:txBody>
            <a:bodyPr wrap="square" lIns="0" tIns="0" rIns="0" bIns="0" rtlCol="0" anchor="ctr"/>
            <a:lstStyle/>
            <a:p>
              <a:pPr marL="0" indent="0" algn="ctr">
                <a:buNone/>
              </a:pPr>
              <a:r>
                <a:rPr lang="en-US" sz="2000" b="1" dirty="0">
                  <a:solidFill>
                    <a:srgbClr val="16233F"/>
                  </a:solidFill>
                  <a:latin typeface="Cambria" panose="02040503050406030204" pitchFamily="34" charset="0"/>
                  <a:ea typeface="Cambria" panose="02040503050406030204" pitchFamily="34" charset="-122"/>
                  <a:cs typeface="Cambria" panose="02040503050406030204" pitchFamily="34" charset="-120"/>
                </a:rPr>
                <a:t>0.131</a:t>
              </a:r>
              <a:endParaRPr lang="en-US" sz="2000" b="1" dirty="0">
                <a:solidFill>
                  <a:srgbClr val="16233F"/>
                </a:solidFill>
                <a:latin typeface="Cambria" panose="02040503050406030204" pitchFamily="34" charset="0"/>
                <a:ea typeface="Cambria" panose="02040503050406030204" pitchFamily="34" charset="-122"/>
                <a:cs typeface="Cambria" panose="02040503050406030204" pitchFamily="34" charset="-120"/>
              </a:endParaRPr>
            </a:p>
          </p:txBody>
        </p:sp>
        <p:sp>
          <p:nvSpPr>
            <p:cNvPr id="17" name="Text 13"/>
            <p:cNvSpPr/>
            <p:nvPr/>
          </p:nvSpPr>
          <p:spPr>
            <a:xfrm>
              <a:off x="10104" y="8108"/>
              <a:ext cx="2520" cy="576"/>
            </a:xfrm>
            <a:prstGeom prst="rect">
              <a:avLst/>
            </a:prstGeom>
            <a:noFill/>
          </p:spPr>
          <p:txBody>
            <a:bodyPr wrap="square" lIns="0" tIns="0" rIns="0" bIns="0" rtlCol="0" anchor="ctr"/>
            <a:lstStyle/>
            <a:p>
              <a:pPr marL="0" indent="0" algn="ctr">
                <a:lnSpc>
                  <a:spcPct val="105000"/>
                </a:lnSpc>
                <a:buNone/>
              </a:pPr>
              <a:r>
                <a:rPr lang="en-US" sz="1060" dirty="0">
                  <a:solidFill>
                    <a:srgbClr val="5B6472"/>
                  </a:solidFill>
                  <a:latin typeface="Calibri" panose="020F0502020204030204" pitchFamily="34" charset="0"/>
                  <a:ea typeface="Calibri" panose="020F0502020204030204" pitchFamily="34" charset="-122"/>
                  <a:cs typeface="Calibri" panose="020F0502020204030204" pitchFamily="34" charset="-120"/>
                </a:rPr>
                <a:t>Shorrocks</a:t>
              </a:r>
              <a:endParaRPr lang="en-US" sz="1060" dirty="0"/>
            </a:p>
            <a:p>
              <a:pPr marL="0" indent="0" algn="ctr">
                <a:lnSpc>
                  <a:spcPct val="105000"/>
                </a:lnSpc>
                <a:buNone/>
              </a:pPr>
              <a:r>
                <a:rPr lang="en-US" sz="1060" dirty="0">
                  <a:solidFill>
                    <a:srgbClr val="5B6472"/>
                  </a:solidFill>
                  <a:latin typeface="Calibri" panose="020F0502020204030204" pitchFamily="34" charset="0"/>
                  <a:ea typeface="Calibri" panose="020F0502020204030204" pitchFamily="34" charset="-122"/>
                  <a:cs typeface="Calibri" panose="020F0502020204030204" pitchFamily="34" charset="-120"/>
                </a:rPr>
                <a:t>Mobility Index</a:t>
              </a:r>
              <a:endParaRPr lang="en-US" sz="106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4"/>
            <p:cNvSpPr/>
            <p:nvPr/>
          </p:nvSpPr>
          <p:spPr>
            <a:xfrm>
              <a:off x="12739" y="7330"/>
              <a:ext cx="0" cy="1368"/>
            </a:xfrm>
            <a:prstGeom prst="line">
              <a:avLst/>
            </a:prstGeom>
            <a:noFill/>
            <a:ln w="12700">
              <a:solidFill>
                <a:srgbClr val="E1E1DD"/>
              </a:solidFill>
              <a:prstDash val="solid"/>
            </a:ln>
          </p:spPr>
        </p:sp>
        <p:sp>
          <p:nvSpPr>
            <p:cNvPr id="19" name="Text 15"/>
            <p:cNvSpPr/>
            <p:nvPr/>
          </p:nvSpPr>
          <p:spPr>
            <a:xfrm>
              <a:off x="13056" y="7315"/>
              <a:ext cx="4963" cy="1397"/>
            </a:xfrm>
            <a:prstGeom prst="rect">
              <a:avLst/>
            </a:prstGeom>
            <a:noFill/>
          </p:spPr>
          <p:txBody>
            <a:bodyPr wrap="square" lIns="0" tIns="0" rIns="0" bIns="0" rtlCol="0" anchor="ctr"/>
            <a:lstStyle/>
            <a:p>
              <a:pPr marL="152400" indent="-152400">
                <a:lnSpc>
                  <a:spcPct val="76000"/>
                </a:lnSpc>
                <a:buSzPct val="100000"/>
                <a:buChar char="•"/>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Indicates low interstate mobility.
</a:t>
              </a:r>
              <a:endParaRPr lang="en-US" sz="1200" dirty="0"/>
            </a:p>
            <a:p>
              <a:pPr marL="152400" indent="-152400">
                <a:lnSpc>
                  <a:spcPct val="76000"/>
                </a:lnSpc>
                <a:buSzPct val="100000"/>
                <a:buChar char="•"/>
              </a:pPr>
              <a:r>
                <a:rPr 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Very few states changed quartiles.
</a:t>
              </a:r>
              <a:endParaRPr lang="en-US" sz="1200" dirty="0"/>
            </a:p>
            <a:p>
              <a:pPr marL="152400" indent="-152400">
                <a:lnSpc>
                  <a:spcPct val="76000"/>
                </a:lnSpc>
                <a:buSzPct val="100000"/>
                <a:buChar char="•"/>
              </a:pPr>
              <a:r>
                <a:rPr lang="en-US" alt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rPr>
                <a:t>The interstate hierarchy remained largely unchanged.</a:t>
              </a:r>
              <a:endParaRPr lang="en-US" altLang="en-US" sz="12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20" name="Shape 16"/>
          <p:cNvSpPr/>
          <p:nvPr/>
        </p:nvSpPr>
        <p:spPr>
          <a:xfrm>
            <a:off x="548640" y="5751830"/>
            <a:ext cx="11094720" cy="652780"/>
          </a:xfrm>
          <a:prstGeom prst="roundRect">
            <a:avLst>
              <a:gd name="adj" fmla="val 14063"/>
            </a:avLst>
          </a:prstGeom>
          <a:solidFill>
            <a:srgbClr val="16233F"/>
          </a:solidFill>
        </p:spPr>
      </p:sp>
      <p:sp>
        <p:nvSpPr>
          <p:cNvPr id="21" name="Text 17"/>
          <p:cNvSpPr/>
          <p:nvPr/>
        </p:nvSpPr>
        <p:spPr>
          <a:xfrm>
            <a:off x="786384" y="5760593"/>
            <a:ext cx="10618927" cy="182880"/>
          </a:xfrm>
          <a:prstGeom prst="rect">
            <a:avLst/>
          </a:prstGeom>
          <a:noFill/>
        </p:spPr>
        <p:txBody>
          <a:bodyPr wrap="square" lIns="0" tIns="0" rIns="0" bIns="0" rtlCol="0" anchor="ctr"/>
          <a:lstStyle/>
          <a:p>
            <a:pPr marL="0" indent="0">
              <a:buNone/>
            </a:pPr>
            <a:r>
              <a:rPr lang="en-US" sz="1000" b="1" kern="0" spc="60" dirty="0">
                <a:solidFill>
                  <a:srgbClr val="FFFFFF"/>
                </a:solidFill>
                <a:latin typeface="Calibri" panose="020F0502020204030204" pitchFamily="34" charset="0"/>
                <a:ea typeface="Calibri" panose="020F0502020204030204" pitchFamily="34" charset="-122"/>
                <a:cs typeface="Calibri" panose="020F0502020204030204" pitchFamily="34" charset="-120"/>
              </a:rPr>
              <a:t>WHAT THE ANALYSIS REVEALS</a:t>
            </a:r>
            <a:endParaRPr lang="en-US" sz="1000" dirty="0"/>
          </a:p>
        </p:txBody>
      </p:sp>
      <p:sp>
        <p:nvSpPr>
          <p:cNvPr id="22" name="Text 18"/>
          <p:cNvSpPr/>
          <p:nvPr/>
        </p:nvSpPr>
        <p:spPr>
          <a:xfrm>
            <a:off x="786384" y="6007608"/>
            <a:ext cx="10618927" cy="274320"/>
          </a:xfrm>
          <a:prstGeom prst="rect">
            <a:avLst/>
          </a:prstGeom>
          <a:noFill/>
        </p:spPr>
        <p:txBody>
          <a:bodyPr wrap="square" lIns="0" tIns="0" rIns="0" bIns="0" rtlCol="0" anchor="ctr"/>
          <a:lstStyle/>
          <a:p>
            <a:pPr marL="0" indent="0">
              <a:lnSpc>
                <a:spcPct val="85000"/>
              </a:lnSpc>
              <a:buNone/>
            </a:pPr>
            <a:r>
              <a:rPr lang="en-US" sz="1200" dirty="0">
                <a:solidFill>
                  <a:srgbClr val="E4E8F0"/>
                </a:solidFill>
                <a:latin typeface="Calibri" panose="020F0502020204030204" pitchFamily="34" charset="0"/>
                <a:ea typeface="Calibri" panose="020F0502020204030204" pitchFamily="34" charset="-122"/>
                <a:cs typeface="Calibri" panose="020F0502020204030204" pitchFamily="34" charset="-120"/>
              </a:rPr>
              <a:t>Interstate mobility remained limited: most states stayed within their original quartile, and the few transitions observed occurred almost exclusively between adjacent quartiles </a:t>
            </a:r>
            <a:r>
              <a:rPr lang="en-US" altLang="en-US" sz="1200" dirty="0">
                <a:solidFill>
                  <a:srgbClr val="E4E8F0"/>
                </a:solidFill>
                <a:latin typeface="Calibri" panose="020F0502020204030204" pitchFamily="34" charset="0"/>
                <a:ea typeface="Calibri" panose="020F0502020204030204" pitchFamily="34" charset="-122"/>
                <a:cs typeface="Calibri" panose="020F0502020204030204" pitchFamily="34" charset="-120"/>
              </a:rPr>
              <a:t>, indicating gradual rather than abrupt changes.</a:t>
            </a:r>
            <a:endParaRPr lang="en-US" altLang="en-US" sz="1200" dirty="0">
              <a:solidFill>
                <a:srgbClr val="E4E8F0"/>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19"/>
          <p:cNvSpPr/>
          <p:nvPr/>
        </p:nvSpPr>
        <p:spPr>
          <a:xfrm>
            <a:off x="548640" y="6492240"/>
            <a:ext cx="7315200" cy="182880"/>
          </a:xfrm>
          <a:prstGeom prst="rect">
            <a:avLst/>
          </a:prstGeom>
          <a:noFill/>
        </p:spPr>
        <p:txBody>
          <a:bodyPr wrap="square" lIns="0" tIns="0" rIns="0" bIns="0" rtlCol="0" anchor="ctr"/>
          <a:lstStyle/>
          <a:p>
            <a:pPr marL="0" indent="0">
              <a:buNone/>
            </a:pPr>
            <a:r>
              <a:rPr lang="en-US" sz="83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830" dirty="0"/>
          </a:p>
        </p:txBody>
      </p:sp>
      <p:sp>
        <p:nvSpPr>
          <p:cNvPr id="9" name="Shape 0"/>
          <p:cNvSpPr/>
          <p:nvPr/>
        </p:nvSpPr>
        <p:spPr>
          <a:xfrm>
            <a:off x="6233160" y="1371600"/>
            <a:ext cx="5410200" cy="3054350"/>
          </a:xfrm>
          <a:prstGeom prst="roundRect">
            <a:avLst>
              <a:gd name="adj" fmla="val 2695"/>
            </a:avLst>
          </a:prstGeom>
          <a:solidFill>
            <a:srgbClr val="FFFFFF"/>
          </a:solidFill>
          <a:ln w="12700">
            <a:solidFill>
              <a:srgbClr val="E5E7EB"/>
            </a:solidFill>
            <a:prstDash val="solid"/>
          </a:ln>
          <a:effectLst>
            <a:outerShdw blurRad="76200" dist="25400" dir="5400000" algn="bl" rotWithShape="0">
              <a:srgbClr val="8A8A85">
                <a:alpha val="16000"/>
              </a:srgbClr>
            </a:outerShdw>
          </a:effectLst>
        </p:spPr>
      </p:sp>
      <p:sp>
        <p:nvSpPr>
          <p:cNvPr id="25" name="Shape 1"/>
          <p:cNvSpPr/>
          <p:nvPr/>
        </p:nvSpPr>
        <p:spPr>
          <a:xfrm>
            <a:off x="6452235" y="1508760"/>
            <a:ext cx="137160" cy="137160"/>
          </a:xfrm>
          <a:prstGeom prst="rect">
            <a:avLst/>
          </a:prstGeom>
          <a:ln w="16510">
            <a:solidFill>
              <a:srgbClr val="1F355D"/>
            </a:solidFill>
            <a:prstDash val="solid"/>
          </a:ln>
        </p:spPr>
      </p:sp>
      <p:sp>
        <p:nvSpPr>
          <p:cNvPr id="26" name="Shape 2"/>
          <p:cNvSpPr/>
          <p:nvPr/>
        </p:nvSpPr>
        <p:spPr>
          <a:xfrm>
            <a:off x="6497955" y="1508760"/>
            <a:ext cx="635" cy="137160"/>
          </a:xfrm>
          <a:prstGeom prst="line">
            <a:avLst/>
          </a:prstGeom>
          <a:noFill/>
          <a:ln w="12700">
            <a:solidFill>
              <a:srgbClr val="1F355D"/>
            </a:solidFill>
            <a:prstDash val="solid"/>
          </a:ln>
        </p:spPr>
      </p:sp>
      <p:sp>
        <p:nvSpPr>
          <p:cNvPr id="27" name="Shape 3"/>
          <p:cNvSpPr/>
          <p:nvPr/>
        </p:nvSpPr>
        <p:spPr>
          <a:xfrm>
            <a:off x="6543675" y="1508760"/>
            <a:ext cx="635" cy="137160"/>
          </a:xfrm>
          <a:prstGeom prst="line">
            <a:avLst/>
          </a:prstGeom>
          <a:noFill/>
          <a:ln w="12700">
            <a:solidFill>
              <a:srgbClr val="1F355D"/>
            </a:solidFill>
            <a:prstDash val="solid"/>
          </a:ln>
        </p:spPr>
      </p:sp>
      <p:sp>
        <p:nvSpPr>
          <p:cNvPr id="28" name="Shape 4"/>
          <p:cNvSpPr/>
          <p:nvPr/>
        </p:nvSpPr>
        <p:spPr>
          <a:xfrm>
            <a:off x="6452235" y="1554480"/>
            <a:ext cx="137160" cy="635"/>
          </a:xfrm>
          <a:prstGeom prst="line">
            <a:avLst/>
          </a:prstGeom>
          <a:noFill/>
          <a:ln w="12700">
            <a:solidFill>
              <a:srgbClr val="1F355D"/>
            </a:solidFill>
            <a:prstDash val="solid"/>
          </a:ln>
        </p:spPr>
      </p:sp>
      <p:sp>
        <p:nvSpPr>
          <p:cNvPr id="29" name="Shape 5"/>
          <p:cNvSpPr/>
          <p:nvPr/>
        </p:nvSpPr>
        <p:spPr>
          <a:xfrm>
            <a:off x="6452235" y="1600200"/>
            <a:ext cx="137160" cy="635"/>
          </a:xfrm>
          <a:prstGeom prst="line">
            <a:avLst/>
          </a:prstGeom>
          <a:noFill/>
          <a:ln w="12700">
            <a:solidFill>
              <a:srgbClr val="1F355D"/>
            </a:solidFill>
            <a:prstDash val="solid"/>
          </a:ln>
        </p:spPr>
      </p:sp>
      <p:sp>
        <p:nvSpPr>
          <p:cNvPr id="30" name="Text 6"/>
          <p:cNvSpPr/>
          <p:nvPr/>
        </p:nvSpPr>
        <p:spPr>
          <a:xfrm>
            <a:off x="6680835" y="1463040"/>
            <a:ext cx="4742815" cy="201295"/>
          </a:xfrm>
          <a:prstGeom prst="rect">
            <a:avLst/>
          </a:prstGeom>
          <a:noFill/>
        </p:spPr>
        <p:txBody>
          <a:bodyPr wrap="square" lIns="0" tIns="0" rIns="0" bIns="0" rtlCol="0" anchor="ctr"/>
          <a:lstStyle/>
          <a:p>
            <a:pPr marL="0" indent="0">
              <a:buNone/>
            </a:pPr>
            <a:r>
              <a:rPr lang="en-US" sz="1150" b="1" dirty="0">
                <a:solidFill>
                  <a:srgbClr val="1F355D"/>
                </a:solidFill>
                <a:latin typeface="Calibri" panose="020F0502020204030204" pitchFamily="34" charset="0"/>
                <a:ea typeface="Calibri" panose="020F0502020204030204" pitchFamily="34" charset="-122"/>
                <a:cs typeface="Calibri" panose="020F0502020204030204" pitchFamily="34" charset="-120"/>
              </a:rPr>
              <a:t>Understanding the Transition Matrix</a:t>
            </a:r>
            <a:endParaRPr lang="en-US" sz="1150" dirty="0"/>
          </a:p>
        </p:txBody>
      </p:sp>
      <p:sp>
        <p:nvSpPr>
          <p:cNvPr id="46" name="Text 23"/>
          <p:cNvSpPr/>
          <p:nvPr/>
        </p:nvSpPr>
        <p:spPr>
          <a:xfrm>
            <a:off x="6452235" y="1711960"/>
            <a:ext cx="4971415" cy="128270"/>
          </a:xfrm>
          <a:prstGeom prst="rect">
            <a:avLst/>
          </a:prstGeom>
          <a:noFill/>
        </p:spPr>
        <p:txBody>
          <a:bodyPr wrap="square" lIns="0" tIns="0" rIns="0" bIns="0" rtlCol="0" anchor="ctr"/>
          <a:lstStyle/>
          <a:p>
            <a:pPr marL="0" indent="0">
              <a:buNone/>
            </a:pPr>
            <a:r>
              <a:rPr lang="en-US" sz="940" b="1" kern="0" spc="60" dirty="0">
                <a:solidFill>
                  <a:srgbClr val="6B7280"/>
                </a:solidFill>
                <a:latin typeface="Calibri" panose="020F0502020204030204" pitchFamily="34" charset="0"/>
                <a:ea typeface="Calibri" panose="020F0502020204030204" pitchFamily="34" charset="-122"/>
                <a:cs typeface="Calibri" panose="020F0502020204030204" pitchFamily="34" charset="-120"/>
              </a:rPr>
              <a:t>EXAMPLE INTERPRETATION</a:t>
            </a:r>
            <a:endParaRPr lang="en-US" sz="940" b="1" kern="0" spc="60"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47" name="Text 24"/>
          <p:cNvSpPr/>
          <p:nvPr/>
        </p:nvSpPr>
        <p:spPr>
          <a:xfrm>
            <a:off x="6452235" y="1887220"/>
            <a:ext cx="4971415" cy="237490"/>
          </a:xfrm>
          <a:prstGeom prst="rect">
            <a:avLst/>
          </a:prstGeom>
          <a:noFill/>
        </p:spPr>
        <p:txBody>
          <a:bodyPr wrap="square" lIns="0" tIns="0" rIns="0" bIns="0" rtlCol="0" anchor="ctr"/>
          <a:lstStyle/>
          <a:p>
            <a:pPr marL="0" indent="0">
              <a:buNone/>
            </a:pPr>
            <a:r>
              <a:rPr lang="en-US" sz="1400" dirty="0">
                <a:solidFill>
                  <a:srgbClr val="2B2F36"/>
                </a:solidFill>
                <a:latin typeface="Cambria" panose="02040503050406030204" pitchFamily="34" charset="0"/>
                <a:ea typeface="Cambria" panose="02040503050406030204" pitchFamily="34" charset="-122"/>
                <a:cs typeface="Cambria" panose="02040503050406030204" pitchFamily="34" charset="-120"/>
              </a:rPr>
              <a:t>Q1 → Q1  =  </a:t>
            </a:r>
            <a:r>
              <a:rPr lang="en-US" sz="2000" b="1" dirty="0">
                <a:solidFill>
                  <a:srgbClr val="1F355D"/>
                </a:solidFill>
                <a:latin typeface="Cambria" panose="02040503050406030204" pitchFamily="34" charset="0"/>
                <a:ea typeface="Cambria" panose="02040503050406030204" pitchFamily="34" charset="-122"/>
                <a:cs typeface="Cambria" panose="02040503050406030204" pitchFamily="34" charset="-120"/>
              </a:rPr>
              <a:t>92.9%</a:t>
            </a:r>
            <a:endParaRPr lang="en-US" sz="2000" b="1" dirty="0">
              <a:solidFill>
                <a:srgbClr val="1F355D"/>
              </a:solidFill>
              <a:latin typeface="Cambria" panose="02040503050406030204" pitchFamily="34" charset="0"/>
              <a:ea typeface="Cambria" panose="02040503050406030204" pitchFamily="34" charset="-122"/>
              <a:cs typeface="Cambria" panose="02040503050406030204" pitchFamily="34" charset="-120"/>
            </a:endParaRPr>
          </a:p>
        </p:txBody>
      </p:sp>
      <p:grpSp>
        <p:nvGrpSpPr>
          <p:cNvPr id="63" name="Group 62"/>
          <p:cNvGrpSpPr/>
          <p:nvPr/>
        </p:nvGrpSpPr>
        <p:grpSpPr>
          <a:xfrm>
            <a:off x="6452870" y="2344420"/>
            <a:ext cx="4970780" cy="146050"/>
            <a:chOff x="10161" y="4752"/>
            <a:chExt cx="7828" cy="230"/>
          </a:xfrm>
        </p:grpSpPr>
        <p:sp>
          <p:nvSpPr>
            <p:cNvPr id="49" name="Text 26"/>
            <p:cNvSpPr/>
            <p:nvPr/>
          </p:nvSpPr>
          <p:spPr>
            <a:xfrm>
              <a:off x="10161" y="4752"/>
              <a:ext cx="7829" cy="230"/>
            </a:xfrm>
            <a:prstGeom prst="rect">
              <a:avLst/>
            </a:prstGeom>
            <a:noFill/>
          </p:spPr>
          <p:txBody>
            <a:bodyPr wrap="square" lIns="0" tIns="0" rIns="0" bIns="0" rtlCol="0" anchor="ctr"/>
            <a:lstStyle/>
            <a:p>
              <a:pPr marL="0" indent="0">
                <a:buNone/>
              </a:pPr>
              <a:r>
                <a:rPr lang="en-US" sz="1040" i="1" dirty="0">
                  <a:solidFill>
                    <a:srgbClr val="6B7280"/>
                  </a:solidFill>
                  <a:latin typeface="Calibri" panose="020F0502020204030204" pitchFamily="34" charset="0"/>
                  <a:ea typeface="Calibri" panose="020F0502020204030204" pitchFamily="34" charset="-122"/>
                  <a:cs typeface="Calibri" panose="020F0502020204030204" pitchFamily="34" charset="-120"/>
                </a:rPr>
                <a:t>The same interpretation applies to every cell in the transition matrix.</a:t>
              </a:r>
              <a:endParaRPr lang="en-US" sz="1040" i="1"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50" name="Shape 27"/>
            <p:cNvSpPr/>
            <p:nvPr/>
          </p:nvSpPr>
          <p:spPr>
            <a:xfrm>
              <a:off x="10161" y="4982"/>
              <a:ext cx="7829" cy="0"/>
            </a:xfrm>
            <a:prstGeom prst="line">
              <a:avLst/>
            </a:prstGeom>
            <a:noFill/>
            <a:ln w="12700">
              <a:solidFill>
                <a:srgbClr val="E5E7EB"/>
              </a:solidFill>
              <a:prstDash val="solid"/>
            </a:ln>
          </p:spPr>
        </p:sp>
      </p:grpSp>
      <p:sp>
        <p:nvSpPr>
          <p:cNvPr id="48" name="Text 25"/>
          <p:cNvSpPr/>
          <p:nvPr/>
        </p:nvSpPr>
        <p:spPr>
          <a:xfrm>
            <a:off x="6452235" y="2124710"/>
            <a:ext cx="5177155" cy="219710"/>
          </a:xfrm>
          <a:prstGeom prst="rect">
            <a:avLst/>
          </a:prstGeom>
          <a:noFill/>
        </p:spPr>
        <p:txBody>
          <a:bodyPr wrap="square" lIns="0" tIns="0" rIns="0" bIns="0" rtlCol="0" anchor="ctr"/>
          <a:lstStyle/>
          <a:p>
            <a:pPr marL="0" indent="0">
              <a:lnSpc>
                <a:spcPct val="112000"/>
              </a:lnSpc>
              <a:buNone/>
            </a:pPr>
            <a:r>
              <a:rPr lang="en-US" alt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A state in Quartile 1 has a 92.9% probability of remaining in Quartile 1 in the next year.</a:t>
            </a:r>
            <a:r>
              <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rPr>
              <a:t>.</a:t>
            </a:r>
            <a:endParaRPr lang="en-US" sz="110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51" name="Text 28"/>
          <p:cNvSpPr/>
          <p:nvPr/>
        </p:nvSpPr>
        <p:spPr>
          <a:xfrm>
            <a:off x="6452235" y="2551430"/>
            <a:ext cx="4971415" cy="128270"/>
          </a:xfrm>
          <a:prstGeom prst="rect">
            <a:avLst/>
          </a:prstGeom>
          <a:noFill/>
        </p:spPr>
        <p:txBody>
          <a:bodyPr wrap="square" lIns="0" tIns="0" rIns="0" bIns="0" rtlCol="0" anchor="ctr"/>
          <a:lstStyle/>
          <a:p>
            <a:pPr marL="0" indent="0">
              <a:buNone/>
            </a:pPr>
            <a:r>
              <a:rPr lang="en-US" sz="940" b="1" kern="0" spc="60" dirty="0">
                <a:solidFill>
                  <a:srgbClr val="6B7280"/>
                </a:solidFill>
                <a:latin typeface="Calibri" panose="020F0502020204030204" pitchFamily="34" charset="0"/>
                <a:ea typeface="Calibri" panose="020F0502020204030204" pitchFamily="34" charset="-122"/>
                <a:cs typeface="Calibri" panose="020F0502020204030204" pitchFamily="34" charset="-120"/>
              </a:rPr>
              <a:t>WHAT THE MATRIX SHOWS</a:t>
            </a:r>
            <a:endParaRPr lang="en-US" sz="940" b="1" kern="0" spc="60"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53" name="Text 30"/>
          <p:cNvSpPr/>
          <p:nvPr/>
        </p:nvSpPr>
        <p:spPr>
          <a:xfrm>
            <a:off x="7816850" y="2734945"/>
            <a:ext cx="3812540" cy="206375"/>
          </a:xfrm>
          <a:prstGeom prst="rect">
            <a:avLst/>
          </a:prstGeom>
          <a:noFill/>
        </p:spPr>
        <p:txBody>
          <a:bodyPr wrap="square" lIns="0" tIns="0" rIns="0" bIns="0" rtlCol="0" anchor="ctr"/>
          <a:lstStyle/>
          <a:p>
            <a:pPr marL="0" indent="0">
              <a:lnSpc>
                <a:spcPct val="90000"/>
              </a:lnSpc>
              <a:buNone/>
            </a:pPr>
            <a:r>
              <a:rPr lang="en-US" altLang="en-US" sz="1060" dirty="0">
                <a:solidFill>
                  <a:srgbClr val="2B2F36"/>
                </a:solidFill>
                <a:latin typeface="Calibri" panose="020F0502020204030204" pitchFamily="34" charset="0"/>
                <a:ea typeface="Calibri" panose="020F0502020204030204" pitchFamily="34" charset="-122"/>
                <a:cs typeface="Calibri" panose="020F0502020204030204" pitchFamily="34" charset="-120"/>
              </a:rPr>
              <a:t>A state in Quartile 1 has a 92.9% probability of remaining in Quartile 1 in the next year.</a:t>
            </a:r>
            <a:endParaRPr lang="en-US" altLang="en-US" sz="106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55" name="Text 32"/>
          <p:cNvSpPr/>
          <p:nvPr/>
        </p:nvSpPr>
        <p:spPr>
          <a:xfrm>
            <a:off x="7824470" y="3040380"/>
            <a:ext cx="3599815" cy="109855"/>
          </a:xfrm>
          <a:prstGeom prst="rect">
            <a:avLst/>
          </a:prstGeom>
          <a:noFill/>
        </p:spPr>
        <p:txBody>
          <a:bodyPr wrap="square" lIns="0" tIns="0" rIns="0" bIns="0" rtlCol="0" anchor="ctr"/>
          <a:lstStyle/>
          <a:p>
            <a:pPr marL="0" indent="0">
              <a:lnSpc>
                <a:spcPct val="90000"/>
              </a:lnSpc>
              <a:buNone/>
            </a:pPr>
            <a:r>
              <a:rPr lang="en-US" altLang="en-US" sz="1060" dirty="0">
                <a:solidFill>
                  <a:srgbClr val="2B2F36"/>
                </a:solidFill>
                <a:latin typeface="Calibri" panose="020F0502020204030204" pitchFamily="34" charset="0"/>
                <a:ea typeface="Calibri" panose="020F0502020204030204" pitchFamily="34" charset="-122"/>
                <a:cs typeface="Calibri" panose="020F0502020204030204" pitchFamily="34" charset="-120"/>
              </a:rPr>
              <a:t>Very limited movement</a:t>
            </a:r>
            <a:r>
              <a:rPr lang="en-US" sz="1060" dirty="0">
                <a:solidFill>
                  <a:srgbClr val="2B2F36"/>
                </a:solidFill>
                <a:latin typeface="Calibri" panose="020F0502020204030204" pitchFamily="34" charset="0"/>
                <a:ea typeface="Calibri" panose="020F0502020204030204" pitchFamily="34" charset="-122"/>
                <a:cs typeface="Calibri" panose="020F0502020204030204" pitchFamily="34" charset="-120"/>
              </a:rPr>
              <a:t>.</a:t>
            </a:r>
            <a:endParaRPr lang="en-US" sz="106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57" name="Text 34"/>
          <p:cNvSpPr/>
          <p:nvPr/>
        </p:nvSpPr>
        <p:spPr>
          <a:xfrm>
            <a:off x="7816850" y="3267075"/>
            <a:ext cx="3599815" cy="109855"/>
          </a:xfrm>
          <a:prstGeom prst="rect">
            <a:avLst/>
          </a:prstGeom>
          <a:noFill/>
        </p:spPr>
        <p:txBody>
          <a:bodyPr wrap="square" lIns="0" tIns="0" rIns="0" bIns="0" rtlCol="0" anchor="ctr"/>
          <a:lstStyle/>
          <a:p>
            <a:pPr marL="0" indent="0">
              <a:lnSpc>
                <a:spcPct val="90000"/>
              </a:lnSpc>
              <a:buNone/>
            </a:pPr>
            <a:r>
              <a:rPr lang="en-US" altLang="en-US" sz="1060" dirty="0">
                <a:solidFill>
                  <a:srgbClr val="2B2F36"/>
                </a:solidFill>
                <a:latin typeface="Calibri" panose="020F0502020204030204" pitchFamily="34" charset="0"/>
                <a:ea typeface="Calibri" panose="020F0502020204030204" pitchFamily="34" charset="-122"/>
                <a:cs typeface="Calibri" panose="020F0502020204030204" pitchFamily="34" charset="-120"/>
              </a:rPr>
              <a:t>Moderate persistence</a:t>
            </a:r>
            <a:r>
              <a:rPr lang="en-US" sz="1060" dirty="0">
                <a:solidFill>
                  <a:srgbClr val="2B2F36"/>
                </a:solidFill>
                <a:latin typeface="Calibri" panose="020F0502020204030204" pitchFamily="34" charset="0"/>
                <a:ea typeface="Calibri" panose="020F0502020204030204" pitchFamily="34" charset="-122"/>
                <a:cs typeface="Calibri" panose="020F0502020204030204" pitchFamily="34" charset="-120"/>
              </a:rPr>
              <a:t>.</a:t>
            </a:r>
            <a:endParaRPr lang="en-US" sz="106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52" name="Text 29"/>
          <p:cNvSpPr/>
          <p:nvPr/>
        </p:nvSpPr>
        <p:spPr>
          <a:xfrm>
            <a:off x="6452870" y="2734945"/>
            <a:ext cx="1371600" cy="109855"/>
          </a:xfrm>
          <a:prstGeom prst="rect">
            <a:avLst/>
          </a:prstGeom>
          <a:noFill/>
        </p:spPr>
        <p:txBody>
          <a:bodyPr wrap="square" lIns="0" tIns="0" rIns="0" bIns="0" rtlCol="0" anchor="ctr"/>
          <a:lstStyle/>
          <a:p>
            <a:pPr marL="0" indent="0">
              <a:lnSpc>
                <a:spcPct val="100000"/>
              </a:lnSpc>
              <a:buNone/>
            </a:pPr>
            <a:r>
              <a:rPr lang="en-US" sz="1200" b="1" dirty="0">
                <a:solidFill>
                  <a:srgbClr val="1F355D"/>
                </a:solidFill>
                <a:latin typeface="Calibri" panose="020F0502020204030204" pitchFamily="34" charset="0"/>
                <a:ea typeface="Calibri" panose="020F0502020204030204" pitchFamily="34" charset="-122"/>
                <a:cs typeface="Calibri" panose="020F0502020204030204" pitchFamily="34" charset="-120"/>
              </a:rPr>
              <a:t>Q1 → Q1 (92.9%)</a:t>
            </a:r>
            <a:endParaRPr lang="en-US" sz="1200" b="1" dirty="0">
              <a:solidFill>
                <a:srgbClr val="1F355D"/>
              </a:solidFill>
              <a:latin typeface="Calibri" panose="020F0502020204030204" pitchFamily="34" charset="0"/>
              <a:ea typeface="Calibri" panose="020F0502020204030204" pitchFamily="34" charset="-122"/>
              <a:cs typeface="Calibri" panose="020F0502020204030204" pitchFamily="34" charset="-120"/>
            </a:endParaRPr>
          </a:p>
        </p:txBody>
      </p:sp>
      <p:sp>
        <p:nvSpPr>
          <p:cNvPr id="54" name="Text 31"/>
          <p:cNvSpPr/>
          <p:nvPr/>
        </p:nvSpPr>
        <p:spPr>
          <a:xfrm>
            <a:off x="6452870" y="3040380"/>
            <a:ext cx="1371600" cy="109855"/>
          </a:xfrm>
          <a:prstGeom prst="rect">
            <a:avLst/>
          </a:prstGeom>
          <a:noFill/>
        </p:spPr>
        <p:txBody>
          <a:bodyPr wrap="square" lIns="0" tIns="0" rIns="0" bIns="0" rtlCol="0" anchor="ctr"/>
          <a:lstStyle/>
          <a:p>
            <a:pPr marL="0" indent="0">
              <a:lnSpc>
                <a:spcPct val="100000"/>
              </a:lnSpc>
              <a:buNone/>
            </a:pPr>
            <a:r>
              <a:rPr lang="en-US" sz="1200" b="1" dirty="0">
                <a:solidFill>
                  <a:srgbClr val="1F355D"/>
                </a:solidFill>
                <a:latin typeface="Calibri" panose="020F0502020204030204" pitchFamily="34" charset="0"/>
                <a:ea typeface="Calibri" panose="020F0502020204030204" pitchFamily="34" charset="-122"/>
                <a:cs typeface="Calibri" panose="020F0502020204030204" pitchFamily="34" charset="-120"/>
              </a:rPr>
              <a:t>Q2 → Q2 (91.1%)</a:t>
            </a:r>
            <a:endParaRPr lang="en-US" sz="1200" b="1" dirty="0">
              <a:solidFill>
                <a:srgbClr val="1F355D"/>
              </a:solidFill>
              <a:latin typeface="Calibri" panose="020F0502020204030204" pitchFamily="34" charset="0"/>
              <a:ea typeface="Calibri" panose="020F0502020204030204" pitchFamily="34" charset="-122"/>
              <a:cs typeface="Calibri" panose="020F0502020204030204" pitchFamily="34" charset="-120"/>
            </a:endParaRPr>
          </a:p>
        </p:txBody>
      </p:sp>
      <p:sp>
        <p:nvSpPr>
          <p:cNvPr id="56" name="Text 33"/>
          <p:cNvSpPr/>
          <p:nvPr/>
        </p:nvSpPr>
        <p:spPr>
          <a:xfrm>
            <a:off x="6452235" y="3267075"/>
            <a:ext cx="1371600" cy="109855"/>
          </a:xfrm>
          <a:prstGeom prst="rect">
            <a:avLst/>
          </a:prstGeom>
          <a:noFill/>
        </p:spPr>
        <p:txBody>
          <a:bodyPr wrap="square" lIns="0" tIns="0" rIns="0" bIns="0" rtlCol="0" anchor="ctr"/>
          <a:lstStyle/>
          <a:p>
            <a:pPr marL="0" indent="0">
              <a:lnSpc>
                <a:spcPct val="100000"/>
              </a:lnSpc>
              <a:buNone/>
            </a:pPr>
            <a:r>
              <a:rPr lang="en-US" sz="1200" b="1" dirty="0">
                <a:solidFill>
                  <a:srgbClr val="1F355D"/>
                </a:solidFill>
                <a:latin typeface="Calibri" panose="020F0502020204030204" pitchFamily="34" charset="0"/>
                <a:ea typeface="Calibri" panose="020F0502020204030204" pitchFamily="34" charset="-122"/>
                <a:cs typeface="Calibri" panose="020F0502020204030204" pitchFamily="34" charset="-120"/>
              </a:rPr>
              <a:t>Q3 → Q3 (87.5%)</a:t>
            </a:r>
            <a:endParaRPr lang="en-US" sz="1200" b="1" dirty="0">
              <a:solidFill>
                <a:srgbClr val="1F355D"/>
              </a:solidFill>
              <a:latin typeface="Calibri" panose="020F0502020204030204" pitchFamily="34" charset="0"/>
              <a:ea typeface="Calibri" panose="020F0502020204030204" pitchFamily="34" charset="-122"/>
              <a:cs typeface="Calibri" panose="020F0502020204030204" pitchFamily="34" charset="-120"/>
            </a:endParaRPr>
          </a:p>
        </p:txBody>
      </p:sp>
      <p:sp>
        <p:nvSpPr>
          <p:cNvPr id="58" name="Text 35"/>
          <p:cNvSpPr/>
          <p:nvPr/>
        </p:nvSpPr>
        <p:spPr>
          <a:xfrm>
            <a:off x="6452870" y="3486785"/>
            <a:ext cx="1371600" cy="109855"/>
          </a:xfrm>
          <a:prstGeom prst="rect">
            <a:avLst/>
          </a:prstGeom>
          <a:noFill/>
        </p:spPr>
        <p:txBody>
          <a:bodyPr wrap="square" lIns="0" tIns="0" rIns="0" bIns="0" rtlCol="0" anchor="ctr"/>
          <a:lstStyle/>
          <a:p>
            <a:pPr marL="0" indent="0">
              <a:lnSpc>
                <a:spcPct val="100000"/>
              </a:lnSpc>
              <a:buNone/>
            </a:pPr>
            <a:r>
              <a:rPr lang="en-US" sz="1200" b="1" dirty="0">
                <a:solidFill>
                  <a:srgbClr val="1F355D"/>
                </a:solidFill>
                <a:latin typeface="Calibri" panose="020F0502020204030204" pitchFamily="34" charset="0"/>
                <a:ea typeface="Calibri" panose="020F0502020204030204" pitchFamily="34" charset="-122"/>
                <a:cs typeface="Calibri" panose="020F0502020204030204" pitchFamily="34" charset="-120"/>
              </a:rPr>
              <a:t>Q4 → Q4 (89.3%)</a:t>
            </a:r>
            <a:endParaRPr lang="en-US" sz="1200" b="1" dirty="0">
              <a:solidFill>
                <a:srgbClr val="1F355D"/>
              </a:solidFill>
              <a:latin typeface="Calibri" panose="020F0502020204030204" pitchFamily="34" charset="0"/>
              <a:ea typeface="Calibri" panose="020F0502020204030204" pitchFamily="34" charset="-122"/>
              <a:cs typeface="Calibri" panose="020F0502020204030204" pitchFamily="34" charset="-120"/>
            </a:endParaRPr>
          </a:p>
        </p:txBody>
      </p:sp>
      <p:sp>
        <p:nvSpPr>
          <p:cNvPr id="59" name="Text 36"/>
          <p:cNvSpPr/>
          <p:nvPr/>
        </p:nvSpPr>
        <p:spPr>
          <a:xfrm>
            <a:off x="7824470" y="3486785"/>
            <a:ext cx="3599815" cy="109855"/>
          </a:xfrm>
          <a:prstGeom prst="rect">
            <a:avLst/>
          </a:prstGeom>
          <a:noFill/>
        </p:spPr>
        <p:txBody>
          <a:bodyPr wrap="square" lIns="0" tIns="0" rIns="0" bIns="0" rtlCol="0" anchor="ctr"/>
          <a:lstStyle/>
          <a:p>
            <a:pPr marL="0" indent="0">
              <a:lnSpc>
                <a:spcPct val="90000"/>
              </a:lnSpc>
              <a:buNone/>
            </a:pPr>
            <a:r>
              <a:rPr lang="en-US" altLang="en-US" sz="1060" dirty="0">
                <a:solidFill>
                  <a:srgbClr val="2B2F36"/>
                </a:solidFill>
                <a:latin typeface="Calibri" panose="020F0502020204030204" pitchFamily="34" charset="0"/>
                <a:ea typeface="Calibri" panose="020F0502020204030204" pitchFamily="34" charset="-122"/>
                <a:cs typeface="Calibri" panose="020F0502020204030204" pitchFamily="34" charset="-120"/>
              </a:rPr>
              <a:t>High-performing states largely retained their position</a:t>
            </a:r>
            <a:endParaRPr lang="en-US" altLang="en-US" sz="106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60" name="Text 37"/>
          <p:cNvSpPr/>
          <p:nvPr/>
        </p:nvSpPr>
        <p:spPr>
          <a:xfrm>
            <a:off x="6452870" y="3712845"/>
            <a:ext cx="4971415" cy="146050"/>
          </a:xfrm>
          <a:prstGeom prst="rect">
            <a:avLst/>
          </a:prstGeom>
          <a:noFill/>
        </p:spPr>
        <p:txBody>
          <a:bodyPr wrap="square" lIns="0" tIns="0" rIns="0" bIns="0" rtlCol="0" anchor="ctr"/>
          <a:lstStyle/>
          <a:p>
            <a:pPr marL="0" indent="0">
              <a:buNone/>
            </a:pPr>
            <a:r>
              <a:rPr lang="en-US" sz="1020" b="1" kern="0" spc="50" dirty="0">
                <a:solidFill>
                  <a:srgbClr val="6B7280"/>
                </a:solidFill>
                <a:latin typeface="Calibri" panose="020F0502020204030204" pitchFamily="34" charset="0"/>
                <a:ea typeface="Calibri" panose="020F0502020204030204" pitchFamily="34" charset="-122"/>
                <a:cs typeface="Calibri" panose="020F0502020204030204" pitchFamily="34" charset="-120"/>
              </a:rPr>
              <a:t>OBSERVED MOBILITY   </a:t>
            </a:r>
            <a:r>
              <a:rPr lang="en-US" sz="1060" dirty="0">
                <a:solidFill>
                  <a:srgbClr val="2B2F36"/>
                </a:solidFill>
                <a:latin typeface="Calibri" panose="020F0502020204030204" pitchFamily="34" charset="0"/>
                <a:ea typeface="Calibri" panose="020F0502020204030204" pitchFamily="34" charset="-122"/>
                <a:cs typeface="Calibri" panose="020F0502020204030204" pitchFamily="34" charset="-120"/>
              </a:rPr>
              <a:t>Q1→Q2: 7.1%   ·   Q2→Q3: 1.8%   ·   Q3→Q4: 10.7%</a:t>
            </a:r>
            <a:endParaRPr lang="en-US" sz="106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61" name="Text 38"/>
          <p:cNvSpPr/>
          <p:nvPr/>
        </p:nvSpPr>
        <p:spPr>
          <a:xfrm>
            <a:off x="6452235" y="4050665"/>
            <a:ext cx="4971415" cy="201295"/>
          </a:xfrm>
          <a:prstGeom prst="rect">
            <a:avLst/>
          </a:prstGeom>
          <a:noFill/>
        </p:spPr>
        <p:txBody>
          <a:bodyPr wrap="square" lIns="0" tIns="0" rIns="0" bIns="0" rtlCol="0" anchor="ctr"/>
          <a:lstStyle/>
          <a:p>
            <a:pPr marL="0" indent="0">
              <a:lnSpc>
                <a:spcPct val="112000"/>
              </a:lnSpc>
              <a:buNone/>
            </a:pPr>
            <a:r>
              <a:rPr lang="en-US" sz="940" i="1" dirty="0">
                <a:solidFill>
                  <a:srgbClr val="6B7280"/>
                </a:solidFill>
                <a:latin typeface="Calibri" panose="020F0502020204030204" pitchFamily="34" charset="0"/>
                <a:ea typeface="Calibri" panose="020F0502020204030204" pitchFamily="34" charset="-122"/>
                <a:cs typeface="Calibri" panose="020F0502020204030204" pitchFamily="34" charset="-120"/>
              </a:rPr>
              <a:t>No direct transitions occurred between non-adjacent quartiles (e.g., Q1→Q3 or Q1→Q4) —</a:t>
            </a:r>
            <a:r>
              <a:rPr lang="en-US" altLang="en-US" sz="940" i="1" dirty="0">
                <a:solidFill>
                  <a:srgbClr val="6B7280"/>
                </a:solidFill>
                <a:latin typeface="Calibri" panose="020F0502020204030204" pitchFamily="34" charset="0"/>
                <a:ea typeface="Calibri" panose="020F0502020204030204" pitchFamily="34" charset="-122"/>
                <a:cs typeface="Calibri" panose="020F0502020204030204" pitchFamily="34" charset="-120"/>
              </a:rPr>
              <a:t>No direct transitions occurred between non-adjacent quartiles, indicating that interstate financial inclusion evolved gradually rather than through abrupt jumps.</a:t>
            </a:r>
            <a:endParaRPr lang="en-US" altLang="en-US" sz="940" i="1"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548640" y="310896"/>
            <a:ext cx="7315200" cy="237744"/>
          </a:xfrm>
          <a:prstGeom prst="rect">
            <a:avLst/>
          </a:prstGeom>
          <a:noFill/>
        </p:spPr>
        <p:txBody>
          <a:bodyPr wrap="square" lIns="0" tIns="0" rIns="0" bIns="0" rtlCol="0" anchor="ctr"/>
          <a:lstStyle/>
          <a:p>
            <a:pPr marL="0" indent="0">
              <a:buNone/>
            </a:pPr>
            <a:r>
              <a:rPr lang="en-US" sz="110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18  ·  CONCLUSIONS</a:t>
            </a:r>
            <a:endParaRPr lang="en-US" sz="1100" dirty="0"/>
          </a:p>
        </p:txBody>
      </p:sp>
      <p:sp>
        <p:nvSpPr>
          <p:cNvPr id="3" name="Shape 1"/>
          <p:cNvSpPr/>
          <p:nvPr/>
        </p:nvSpPr>
        <p:spPr>
          <a:xfrm>
            <a:off x="548640" y="566928"/>
            <a:ext cx="502920" cy="0"/>
          </a:xfrm>
          <a:prstGeom prst="line">
            <a:avLst/>
          </a:prstGeom>
          <a:noFill/>
          <a:ln w="28575">
            <a:solidFill>
              <a:srgbClr val="16233F"/>
            </a:solidFill>
            <a:prstDash val="solid"/>
          </a:ln>
        </p:spPr>
      </p:sp>
      <p:sp>
        <p:nvSpPr>
          <p:cNvPr id="4" name="Text 2"/>
          <p:cNvSpPr/>
          <p:nvPr/>
        </p:nvSpPr>
        <p:spPr>
          <a:xfrm>
            <a:off x="548640" y="621792"/>
            <a:ext cx="11094415" cy="420624"/>
          </a:xfrm>
          <a:prstGeom prst="rect">
            <a:avLst/>
          </a:prstGeom>
          <a:noFill/>
        </p:spPr>
        <p:txBody>
          <a:bodyPr wrap="square" lIns="0" tIns="0" rIns="0" bIns="0" rtlCol="0" anchor="ctr"/>
          <a:lstStyle/>
          <a:p>
            <a:pPr marL="0" indent="0">
              <a:buNone/>
            </a:pPr>
            <a:r>
              <a:rPr lang="en-US" sz="2600" b="1" dirty="0">
                <a:solidFill>
                  <a:srgbClr val="16233F"/>
                </a:solidFill>
                <a:latin typeface="Cambria" panose="02040503050406030204" pitchFamily="34" charset="0"/>
                <a:ea typeface="Cambria" panose="02040503050406030204" pitchFamily="34" charset="-122"/>
                <a:cs typeface="Cambria" panose="02040503050406030204" pitchFamily="34" charset="-120"/>
              </a:rPr>
              <a:t>Key Findings</a:t>
            </a:r>
            <a:endParaRPr lang="en-US" sz="2600" dirty="0"/>
          </a:p>
        </p:txBody>
      </p:sp>
      <p:sp>
        <p:nvSpPr>
          <p:cNvPr id="5" name="Text 3"/>
          <p:cNvSpPr/>
          <p:nvPr/>
        </p:nvSpPr>
        <p:spPr>
          <a:xfrm>
            <a:off x="548640" y="1060704"/>
            <a:ext cx="11094415" cy="219456"/>
          </a:xfrm>
          <a:prstGeom prst="rect">
            <a:avLst/>
          </a:prstGeom>
          <a:noFill/>
        </p:spPr>
        <p:txBody>
          <a:bodyPr wrap="square" lIns="0" tIns="0" rIns="0" bIns="0" rtlCol="0" anchor="ctr"/>
          <a:lstStyle/>
          <a:p>
            <a:pPr marL="0" indent="0">
              <a:buNone/>
            </a:pPr>
            <a:r>
              <a:rPr lang="en-US" sz="1080" i="1" dirty="0">
                <a:solidFill>
                  <a:srgbClr val="5B6472"/>
                </a:solidFill>
                <a:latin typeface="Calibri" panose="020F0502020204030204" pitchFamily="34" charset="0"/>
                <a:ea typeface="Calibri" panose="020F0502020204030204" pitchFamily="34" charset="-122"/>
                <a:cs typeface="Calibri" panose="020F0502020204030204" pitchFamily="34" charset="-120"/>
              </a:rPr>
              <a:t>Six principal findings emerging from the Two-Stage PCA analysis of financial inclusion across Indian states (2016–17 to 2024–25).</a:t>
            </a:r>
            <a:endParaRPr lang="en-US" sz="1080" dirty="0"/>
          </a:p>
        </p:txBody>
      </p:sp>
      <p:sp>
        <p:nvSpPr>
          <p:cNvPr id="6" name="Shape 4"/>
          <p:cNvSpPr/>
          <p:nvPr/>
        </p:nvSpPr>
        <p:spPr>
          <a:xfrm>
            <a:off x="548640" y="1298448"/>
            <a:ext cx="3564026" cy="1737360"/>
          </a:xfrm>
          <a:prstGeom prst="roundRect">
            <a:avLst>
              <a:gd name="adj" fmla="val 4737"/>
            </a:avLst>
          </a:prstGeom>
          <a:solidFill>
            <a:srgbClr val="FFFFFF"/>
          </a:solidFill>
          <a:ln w="12700">
            <a:solidFill>
              <a:srgbClr val="E1E1DD"/>
            </a:solidFill>
            <a:prstDash val="solid"/>
          </a:ln>
          <a:effectLst>
            <a:outerShdw blurRad="76200" dist="25400" dir="5400000" algn="bl" rotWithShape="0">
              <a:srgbClr val="8A8A85">
                <a:alpha val="18000"/>
              </a:srgbClr>
            </a:outerShdw>
          </a:effectLst>
        </p:spPr>
      </p:sp>
      <p:sp>
        <p:nvSpPr>
          <p:cNvPr id="7" name="Shape 5"/>
          <p:cNvSpPr/>
          <p:nvPr/>
        </p:nvSpPr>
        <p:spPr>
          <a:xfrm>
            <a:off x="676656" y="1600200"/>
            <a:ext cx="54864" cy="109728"/>
          </a:xfrm>
          <a:prstGeom prst="rect">
            <a:avLst/>
          </a:prstGeom>
          <a:solidFill>
            <a:srgbClr val="16233F"/>
          </a:solidFill>
        </p:spPr>
      </p:sp>
      <p:sp>
        <p:nvSpPr>
          <p:cNvPr id="8" name="Shape 6"/>
          <p:cNvSpPr/>
          <p:nvPr/>
        </p:nvSpPr>
        <p:spPr>
          <a:xfrm>
            <a:off x="758952" y="1536192"/>
            <a:ext cx="54864" cy="173736"/>
          </a:xfrm>
          <a:prstGeom prst="rect">
            <a:avLst/>
          </a:prstGeom>
          <a:solidFill>
            <a:srgbClr val="16233F"/>
          </a:solidFill>
        </p:spPr>
      </p:sp>
      <p:sp>
        <p:nvSpPr>
          <p:cNvPr id="9" name="Shape 7"/>
          <p:cNvSpPr/>
          <p:nvPr/>
        </p:nvSpPr>
        <p:spPr>
          <a:xfrm>
            <a:off x="841248" y="1572768"/>
            <a:ext cx="54864" cy="137160"/>
          </a:xfrm>
          <a:prstGeom prst="rect">
            <a:avLst/>
          </a:prstGeom>
          <a:solidFill>
            <a:srgbClr val="16233F"/>
          </a:solidFill>
        </p:spPr>
      </p:sp>
      <p:sp>
        <p:nvSpPr>
          <p:cNvPr id="10" name="Shape 8"/>
          <p:cNvSpPr/>
          <p:nvPr/>
        </p:nvSpPr>
        <p:spPr>
          <a:xfrm>
            <a:off x="923544" y="1490472"/>
            <a:ext cx="54864" cy="219456"/>
          </a:xfrm>
          <a:prstGeom prst="rect">
            <a:avLst/>
          </a:prstGeom>
          <a:solidFill>
            <a:srgbClr val="16233F"/>
          </a:solidFill>
        </p:spPr>
      </p:sp>
      <p:sp>
        <p:nvSpPr>
          <p:cNvPr id="11" name="Text 9"/>
          <p:cNvSpPr/>
          <p:nvPr/>
        </p:nvSpPr>
        <p:spPr>
          <a:xfrm>
            <a:off x="1078992" y="1444752"/>
            <a:ext cx="2869082" cy="365760"/>
          </a:xfrm>
          <a:prstGeom prst="rect">
            <a:avLst/>
          </a:prstGeom>
          <a:noFill/>
        </p:spPr>
        <p:txBody>
          <a:bodyPr wrap="square" lIns="0" tIns="0" rIns="0" bIns="0" rtlCol="0" anchor="ctr"/>
          <a:lstStyle/>
          <a:p>
            <a:pPr marL="0" indent="0">
              <a:lnSpc>
                <a:spcPct val="105000"/>
              </a:lnSpc>
              <a:buNone/>
            </a:pPr>
            <a:r>
              <a:rPr lang="en-US" sz="1150" b="1" dirty="0">
                <a:solidFill>
                  <a:srgbClr val="16233F"/>
                </a:solidFill>
                <a:latin typeface="Calibri" panose="020F0502020204030204" pitchFamily="34" charset="0"/>
                <a:ea typeface="Calibri" panose="020F0502020204030204" pitchFamily="34" charset="-122"/>
                <a:cs typeface="Calibri" panose="020F0502020204030204" pitchFamily="34" charset="-120"/>
              </a:rPr>
              <a:t>Persistent Interstate Disparities</a:t>
            </a:r>
            <a:endParaRPr lang="en-US" sz="1150" dirty="0"/>
          </a:p>
        </p:txBody>
      </p:sp>
      <p:sp>
        <p:nvSpPr>
          <p:cNvPr id="12" name="Shape 10"/>
          <p:cNvSpPr/>
          <p:nvPr/>
        </p:nvSpPr>
        <p:spPr>
          <a:xfrm>
            <a:off x="768096" y="1828800"/>
            <a:ext cx="3125114" cy="0"/>
          </a:xfrm>
          <a:prstGeom prst="line">
            <a:avLst/>
          </a:prstGeom>
          <a:noFill/>
          <a:ln w="12700">
            <a:solidFill>
              <a:srgbClr val="E1E1DD"/>
            </a:solidFill>
            <a:prstDash val="solid"/>
          </a:ln>
        </p:spPr>
      </p:sp>
      <p:sp>
        <p:nvSpPr>
          <p:cNvPr id="13" name="Text 11"/>
          <p:cNvSpPr/>
          <p:nvPr/>
        </p:nvSpPr>
        <p:spPr>
          <a:xfrm>
            <a:off x="768096" y="1920240"/>
            <a:ext cx="3125114" cy="1005840"/>
          </a:xfrm>
          <a:prstGeom prst="rect">
            <a:avLst/>
          </a:prstGeom>
          <a:noFill/>
        </p:spPr>
        <p:txBody>
          <a:bodyPr wrap="square" lIns="0" tIns="0" rIns="0" bIns="0" rtlCol="0" anchor="ctr"/>
          <a:lstStyle/>
          <a:p>
            <a:pPr marL="152400" indent="-152400">
              <a:lnSpc>
                <a:spcPct val="122000"/>
              </a:lnSpc>
              <a:buSzPct val="100000"/>
              <a:buChar char="•"/>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Financial inclusion improved in every state, 2016–17 to 2024–25.
</a:t>
            </a:r>
            <a:endParaRPr lang="en-US" sz="930" dirty="0"/>
          </a:p>
          <a:p>
            <a:pPr marL="152400" indent="-152400">
              <a:lnSpc>
                <a:spcPct val="122000"/>
              </a:lnSpc>
              <a:buSzPct val="100000"/>
              <a:buChar char="•"/>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Goa consistently ranked highest, Bihar lowest, throughout.
</a:t>
            </a:r>
            <a:endParaRPr lang="en-US" sz="930" dirty="0"/>
          </a:p>
          <a:p>
            <a:pPr marL="152400" indent="-152400">
              <a:lnSpc>
                <a:spcPct val="122000"/>
              </a:lnSpc>
              <a:buSzPct val="100000"/>
              <a:buChar char="•"/>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Interstate rankings changed only modestly despite progress.</a:t>
            </a:r>
            <a:endParaRPr lang="en-US" sz="930" dirty="0"/>
          </a:p>
        </p:txBody>
      </p:sp>
      <p:sp>
        <p:nvSpPr>
          <p:cNvPr id="14" name="Shape 12"/>
          <p:cNvSpPr/>
          <p:nvPr/>
        </p:nvSpPr>
        <p:spPr>
          <a:xfrm>
            <a:off x="4313834" y="1298448"/>
            <a:ext cx="3564026" cy="1737360"/>
          </a:xfrm>
          <a:prstGeom prst="roundRect">
            <a:avLst>
              <a:gd name="adj" fmla="val 4737"/>
            </a:avLst>
          </a:prstGeom>
          <a:solidFill>
            <a:srgbClr val="FFFFFF"/>
          </a:solidFill>
          <a:ln w="12700">
            <a:solidFill>
              <a:srgbClr val="E1E1DD"/>
            </a:solidFill>
            <a:prstDash val="solid"/>
          </a:ln>
          <a:effectLst>
            <a:outerShdw blurRad="76200" dist="25400" dir="5400000" algn="bl" rotWithShape="0">
              <a:srgbClr val="8A8A85">
                <a:alpha val="18000"/>
              </a:srgbClr>
            </a:outerShdw>
          </a:effectLst>
        </p:spPr>
      </p:sp>
      <p:sp>
        <p:nvSpPr>
          <p:cNvPr id="15" name="Shape 13"/>
          <p:cNvSpPr/>
          <p:nvPr/>
        </p:nvSpPr>
        <p:spPr>
          <a:xfrm>
            <a:off x="4505858" y="1463040"/>
            <a:ext cx="201168" cy="201168"/>
          </a:xfrm>
          <a:prstGeom prst="ellipse">
            <a:avLst/>
          </a:prstGeom>
          <a:ln w="22225">
            <a:solidFill>
              <a:srgbClr val="16233F"/>
            </a:solidFill>
            <a:prstDash val="solid"/>
          </a:ln>
        </p:spPr>
      </p:sp>
      <p:sp>
        <p:nvSpPr>
          <p:cNvPr id="16" name="Shape 14"/>
          <p:cNvSpPr/>
          <p:nvPr/>
        </p:nvSpPr>
        <p:spPr>
          <a:xfrm>
            <a:off x="4574438" y="1540764"/>
            <a:ext cx="64008" cy="64008"/>
          </a:xfrm>
          <a:prstGeom prst="ellipse">
            <a:avLst/>
          </a:prstGeom>
          <a:solidFill>
            <a:srgbClr val="16233F"/>
          </a:solidFill>
        </p:spPr>
      </p:sp>
      <p:sp>
        <p:nvSpPr>
          <p:cNvPr id="17" name="Shape 15"/>
          <p:cNvSpPr/>
          <p:nvPr/>
        </p:nvSpPr>
        <p:spPr>
          <a:xfrm rot="10800000">
            <a:off x="4542434" y="1618488"/>
            <a:ext cx="128016" cy="128016"/>
          </a:xfrm>
          <a:prstGeom prst="triangle">
            <a:avLst/>
          </a:prstGeom>
          <a:solidFill>
            <a:srgbClr val="FFFFFF"/>
          </a:solidFill>
          <a:ln w="22225">
            <a:solidFill>
              <a:srgbClr val="16233F"/>
            </a:solidFill>
            <a:prstDash val="solid"/>
          </a:ln>
        </p:spPr>
      </p:sp>
      <p:sp>
        <p:nvSpPr>
          <p:cNvPr id="18" name="Text 16"/>
          <p:cNvSpPr/>
          <p:nvPr/>
        </p:nvSpPr>
        <p:spPr>
          <a:xfrm>
            <a:off x="4844186" y="1444752"/>
            <a:ext cx="2869082" cy="365760"/>
          </a:xfrm>
          <a:prstGeom prst="rect">
            <a:avLst/>
          </a:prstGeom>
          <a:noFill/>
        </p:spPr>
        <p:txBody>
          <a:bodyPr wrap="square" lIns="0" tIns="0" rIns="0" bIns="0" rtlCol="0" anchor="ctr"/>
          <a:lstStyle/>
          <a:p>
            <a:pPr marL="0" indent="0">
              <a:lnSpc>
                <a:spcPct val="105000"/>
              </a:lnSpc>
              <a:buNone/>
            </a:pPr>
            <a:r>
              <a:rPr lang="en-US" sz="1150" b="1" dirty="0">
                <a:solidFill>
                  <a:srgbClr val="16233F"/>
                </a:solidFill>
                <a:latin typeface="Calibri" panose="020F0502020204030204" pitchFamily="34" charset="0"/>
                <a:ea typeface="Calibri" panose="020F0502020204030204" pitchFamily="34" charset="-122"/>
                <a:cs typeface="Calibri" panose="020F0502020204030204" pitchFamily="34" charset="-120"/>
              </a:rPr>
              <a:t>Regional &amp; Spatial Patterns</a:t>
            </a:r>
            <a:endParaRPr lang="en-US" sz="1150" dirty="0"/>
          </a:p>
        </p:txBody>
      </p:sp>
      <p:sp>
        <p:nvSpPr>
          <p:cNvPr id="19" name="Shape 17"/>
          <p:cNvSpPr/>
          <p:nvPr/>
        </p:nvSpPr>
        <p:spPr>
          <a:xfrm>
            <a:off x="4533290" y="1828800"/>
            <a:ext cx="3125114" cy="0"/>
          </a:xfrm>
          <a:prstGeom prst="line">
            <a:avLst/>
          </a:prstGeom>
          <a:noFill/>
          <a:ln w="12700">
            <a:solidFill>
              <a:srgbClr val="E1E1DD"/>
            </a:solidFill>
            <a:prstDash val="solid"/>
          </a:ln>
        </p:spPr>
      </p:sp>
      <p:sp>
        <p:nvSpPr>
          <p:cNvPr id="20" name="Text 18"/>
          <p:cNvSpPr/>
          <p:nvPr/>
        </p:nvSpPr>
        <p:spPr>
          <a:xfrm>
            <a:off x="4533265" y="1920875"/>
            <a:ext cx="3124835" cy="1069975"/>
          </a:xfrm>
          <a:prstGeom prst="rect">
            <a:avLst/>
          </a:prstGeom>
          <a:noFill/>
        </p:spPr>
        <p:txBody>
          <a:bodyPr wrap="square" lIns="0" tIns="0" rIns="0" bIns="0" rtlCol="0" anchor="ctr"/>
          <a:lstStyle/>
          <a:p>
            <a:pPr marL="152400" indent="-152400">
              <a:lnSpc>
                <a:spcPct val="112000"/>
              </a:lnSpc>
              <a:buSzPct val="100000"/>
              <a:buChar char="•"/>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Higher inclusion concentrated in western and southern India.</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a:p>
            <a:pPr indent="0">
              <a:lnSpc>
                <a:spcPct val="112000"/>
              </a:lnSpc>
              <a:buSzPct val="100000"/>
              <a:buNone/>
            </a:pP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a:p>
            <a:pPr marL="152400" indent="-152400">
              <a:lnSpc>
                <a:spcPct val="112000"/>
              </a:lnSpc>
              <a:buSzPct val="100000"/>
              <a:buChar char="•"/>
            </a:pPr>
            <a:r>
              <a:rPr lang="en-US" alt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Southern region most internally homogeneous </a:t>
            </a: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
</a:t>
            </a:r>
            <a:endParaRPr lang="en-US" sz="930" dirty="0"/>
          </a:p>
          <a:p>
            <a:pPr marL="152400" indent="-152400">
              <a:lnSpc>
                <a:spcPct val="112000"/>
              </a:lnSpc>
              <a:buSzPct val="100000"/>
              <a:buChar char="•"/>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Central, Eastern and North-Eastern India remained lower.
</a:t>
            </a:r>
            <a:endParaRPr lang="en-US" sz="930" dirty="0"/>
          </a:p>
          <a:p>
            <a:pPr marL="152400" indent="-152400">
              <a:lnSpc>
                <a:spcPct val="112000"/>
              </a:lnSpc>
              <a:buSzPct val="100000"/>
              <a:buChar char="•"/>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Significant spatial clustering, not a random distribution.</a:t>
            </a:r>
            <a:endParaRPr lang="en-US" sz="930" dirty="0"/>
          </a:p>
        </p:txBody>
      </p:sp>
      <p:sp>
        <p:nvSpPr>
          <p:cNvPr id="21" name="Shape 19"/>
          <p:cNvSpPr/>
          <p:nvPr/>
        </p:nvSpPr>
        <p:spPr>
          <a:xfrm>
            <a:off x="8079029" y="1298448"/>
            <a:ext cx="3564026" cy="1737360"/>
          </a:xfrm>
          <a:prstGeom prst="roundRect">
            <a:avLst>
              <a:gd name="adj" fmla="val 4737"/>
            </a:avLst>
          </a:prstGeom>
          <a:solidFill>
            <a:srgbClr val="FFFFFF"/>
          </a:solidFill>
          <a:ln w="12700">
            <a:solidFill>
              <a:srgbClr val="E1E1DD"/>
            </a:solidFill>
            <a:prstDash val="solid"/>
          </a:ln>
          <a:effectLst>
            <a:outerShdw blurRad="76200" dist="25400" dir="5400000" algn="bl" rotWithShape="0">
              <a:srgbClr val="8A8A85">
                <a:alpha val="18000"/>
              </a:srgbClr>
            </a:outerShdw>
          </a:effectLst>
        </p:spPr>
      </p:sp>
      <p:sp>
        <p:nvSpPr>
          <p:cNvPr id="22" name="Shape 20"/>
          <p:cNvSpPr/>
          <p:nvPr/>
        </p:nvSpPr>
        <p:spPr>
          <a:xfrm>
            <a:off x="8252765" y="1453896"/>
            <a:ext cx="237744" cy="256032"/>
          </a:xfrm>
          <a:prstGeom prst="roundRect">
            <a:avLst>
              <a:gd name="adj" fmla="val 19231"/>
            </a:avLst>
          </a:prstGeom>
          <a:ln w="22225">
            <a:solidFill>
              <a:srgbClr val="16233F"/>
            </a:solidFill>
            <a:prstDash val="solid"/>
          </a:ln>
        </p:spPr>
      </p:sp>
      <p:sp>
        <p:nvSpPr>
          <p:cNvPr id="23" name="Text 21"/>
          <p:cNvSpPr/>
          <p:nvPr/>
        </p:nvSpPr>
        <p:spPr>
          <a:xfrm>
            <a:off x="8252765" y="1444752"/>
            <a:ext cx="237744" cy="256032"/>
          </a:xfrm>
          <a:prstGeom prst="rect">
            <a:avLst/>
          </a:prstGeom>
          <a:noFill/>
        </p:spPr>
        <p:txBody>
          <a:bodyPr wrap="square" lIns="0" tIns="0" rIns="0" bIns="0" rtlCol="0" anchor="ctr"/>
          <a:lstStyle/>
          <a:p>
            <a:pPr marL="0" indent="0" algn="ctr">
              <a:buNone/>
            </a:pPr>
            <a:r>
              <a:rPr lang="en-US" sz="1300" b="1" dirty="0">
                <a:solidFill>
                  <a:srgbClr val="16233F"/>
                </a:solidFill>
                <a:latin typeface="Calibri" panose="020F0502020204030204" pitchFamily="34" charset="0"/>
                <a:ea typeface="Calibri" panose="020F0502020204030204" pitchFamily="34" charset="-122"/>
                <a:cs typeface="Calibri" panose="020F0502020204030204" pitchFamily="34" charset="-120"/>
              </a:rPr>
              <a:t>✓</a:t>
            </a:r>
            <a:endParaRPr lang="en-US" sz="1300" dirty="0"/>
          </a:p>
        </p:txBody>
      </p:sp>
      <p:sp>
        <p:nvSpPr>
          <p:cNvPr id="24" name="Text 22"/>
          <p:cNvSpPr/>
          <p:nvPr/>
        </p:nvSpPr>
        <p:spPr>
          <a:xfrm>
            <a:off x="8609381" y="1444752"/>
            <a:ext cx="2869082" cy="365760"/>
          </a:xfrm>
          <a:prstGeom prst="rect">
            <a:avLst/>
          </a:prstGeom>
          <a:noFill/>
        </p:spPr>
        <p:txBody>
          <a:bodyPr wrap="square" lIns="0" tIns="0" rIns="0" bIns="0" rtlCol="0" anchor="ctr"/>
          <a:lstStyle/>
          <a:p>
            <a:pPr marL="0" indent="0">
              <a:lnSpc>
                <a:spcPct val="105000"/>
              </a:lnSpc>
              <a:buNone/>
            </a:pPr>
            <a:r>
              <a:rPr lang="en-US" sz="1150" b="1" dirty="0">
                <a:solidFill>
                  <a:srgbClr val="16233F"/>
                </a:solidFill>
                <a:latin typeface="Calibri" panose="020F0502020204030204" pitchFamily="34" charset="0"/>
                <a:ea typeface="Calibri" panose="020F0502020204030204" pitchFamily="34" charset="-122"/>
                <a:cs typeface="Calibri" panose="020F0502020204030204" pitchFamily="34" charset="-120"/>
              </a:rPr>
              <a:t>Robust Methodology</a:t>
            </a:r>
            <a:endParaRPr lang="en-US" sz="1150" dirty="0"/>
          </a:p>
        </p:txBody>
      </p:sp>
      <p:sp>
        <p:nvSpPr>
          <p:cNvPr id="25" name="Shape 23"/>
          <p:cNvSpPr/>
          <p:nvPr/>
        </p:nvSpPr>
        <p:spPr>
          <a:xfrm>
            <a:off x="8298485" y="1828800"/>
            <a:ext cx="3125114" cy="0"/>
          </a:xfrm>
          <a:prstGeom prst="line">
            <a:avLst/>
          </a:prstGeom>
          <a:noFill/>
          <a:ln w="12700">
            <a:solidFill>
              <a:srgbClr val="E1E1DD"/>
            </a:solidFill>
            <a:prstDash val="solid"/>
          </a:ln>
        </p:spPr>
      </p:sp>
      <p:sp>
        <p:nvSpPr>
          <p:cNvPr id="26" name="Text 24"/>
          <p:cNvSpPr/>
          <p:nvPr/>
        </p:nvSpPr>
        <p:spPr>
          <a:xfrm>
            <a:off x="8298485" y="1920240"/>
            <a:ext cx="3125114" cy="1005840"/>
          </a:xfrm>
          <a:prstGeom prst="rect">
            <a:avLst/>
          </a:prstGeom>
          <a:noFill/>
        </p:spPr>
        <p:txBody>
          <a:bodyPr wrap="square" lIns="0" tIns="0" rIns="0" bIns="0" rtlCol="0" anchor="ctr"/>
          <a:lstStyle/>
          <a:p>
            <a:pPr marL="152400" indent="-152400">
              <a:lnSpc>
                <a:spcPct val="122000"/>
              </a:lnSpc>
              <a:buSzPct val="100000"/>
              <a:buChar char="•"/>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The Two-Stage PCA index closely tracked the RBI FI-Index.
</a:t>
            </a:r>
            <a:endParaRPr lang="en-US" sz="930" dirty="0"/>
          </a:p>
          <a:p>
            <a:pPr marL="152400" indent="-152400">
              <a:lnSpc>
                <a:spcPct val="122000"/>
              </a:lnSpc>
              <a:buSzPct val="100000"/>
              <a:buChar char="•"/>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Results remained highly stable under sensitivity analysis.</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a:p>
            <a:pPr marL="152400" indent="-152400">
              <a:lnSpc>
                <a:spcPct val="122000"/>
              </a:lnSpc>
              <a:buSzPct val="100000"/>
              <a:buChar char="•"/>
            </a:pP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a:p>
            <a:pPr marL="152400" indent="-152400">
              <a:lnSpc>
                <a:spcPct val="122000"/>
              </a:lnSpc>
              <a:buSzPct val="100000"/>
              <a:buChar char="•"/>
            </a:pPr>
            <a:r>
              <a:rPr lang="en-US" alt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Strong agreement with Sarma methodology.</a:t>
            </a: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
</a:t>
            </a:r>
            <a:endParaRPr lang="en-US" sz="930" dirty="0"/>
          </a:p>
          <a:p>
            <a:pPr indent="0">
              <a:lnSpc>
                <a:spcPct val="122000"/>
              </a:lnSpc>
              <a:buSzPct val="100000"/>
              <a:buNone/>
            </a:pPr>
            <a:endParaRPr lang="en-US" sz="930" dirty="0"/>
          </a:p>
        </p:txBody>
      </p:sp>
      <p:sp>
        <p:nvSpPr>
          <p:cNvPr id="27" name="Shape 25"/>
          <p:cNvSpPr/>
          <p:nvPr/>
        </p:nvSpPr>
        <p:spPr>
          <a:xfrm>
            <a:off x="548640" y="3218688"/>
            <a:ext cx="3564026" cy="1737360"/>
          </a:xfrm>
          <a:prstGeom prst="roundRect">
            <a:avLst>
              <a:gd name="adj" fmla="val 4737"/>
            </a:avLst>
          </a:prstGeom>
          <a:solidFill>
            <a:srgbClr val="FFFFFF"/>
          </a:solidFill>
          <a:ln w="12700">
            <a:solidFill>
              <a:srgbClr val="E1E1DD"/>
            </a:solidFill>
            <a:prstDash val="solid"/>
          </a:ln>
          <a:effectLst>
            <a:outerShdw blurRad="76200" dist="25400" dir="5400000" algn="bl" rotWithShape="0">
              <a:srgbClr val="8A8A85">
                <a:alpha val="18000"/>
              </a:srgbClr>
            </a:outerShdw>
          </a:effectLst>
        </p:spPr>
      </p:sp>
      <p:sp>
        <p:nvSpPr>
          <p:cNvPr id="28" name="Shape 26"/>
          <p:cNvSpPr/>
          <p:nvPr/>
        </p:nvSpPr>
        <p:spPr>
          <a:xfrm>
            <a:off x="694944" y="3376422"/>
            <a:ext cx="292608" cy="68580"/>
          </a:xfrm>
          <a:prstGeom prst="roundRect">
            <a:avLst>
              <a:gd name="adj" fmla="val 26667"/>
            </a:avLst>
          </a:prstGeom>
          <a:ln w="20320">
            <a:solidFill>
              <a:srgbClr val="16233F"/>
            </a:solidFill>
            <a:prstDash val="solid"/>
          </a:ln>
        </p:spPr>
      </p:sp>
      <p:sp>
        <p:nvSpPr>
          <p:cNvPr id="29" name="Shape 27"/>
          <p:cNvSpPr/>
          <p:nvPr/>
        </p:nvSpPr>
        <p:spPr>
          <a:xfrm>
            <a:off x="694944" y="3477006"/>
            <a:ext cx="292608" cy="68580"/>
          </a:xfrm>
          <a:prstGeom prst="roundRect">
            <a:avLst>
              <a:gd name="adj" fmla="val 26667"/>
            </a:avLst>
          </a:prstGeom>
          <a:ln w="20320">
            <a:solidFill>
              <a:srgbClr val="16233F"/>
            </a:solidFill>
            <a:prstDash val="solid"/>
          </a:ln>
        </p:spPr>
      </p:sp>
      <p:sp>
        <p:nvSpPr>
          <p:cNvPr id="30" name="Shape 28"/>
          <p:cNvSpPr/>
          <p:nvPr/>
        </p:nvSpPr>
        <p:spPr>
          <a:xfrm>
            <a:off x="694944" y="3577590"/>
            <a:ext cx="292608" cy="68580"/>
          </a:xfrm>
          <a:prstGeom prst="roundRect">
            <a:avLst>
              <a:gd name="adj" fmla="val 26667"/>
            </a:avLst>
          </a:prstGeom>
          <a:ln w="20320">
            <a:solidFill>
              <a:srgbClr val="16233F"/>
            </a:solidFill>
            <a:prstDash val="solid"/>
          </a:ln>
        </p:spPr>
      </p:sp>
      <p:sp>
        <p:nvSpPr>
          <p:cNvPr id="31" name="Text 29"/>
          <p:cNvSpPr/>
          <p:nvPr/>
        </p:nvSpPr>
        <p:spPr>
          <a:xfrm>
            <a:off x="1078992" y="3364992"/>
            <a:ext cx="2869082" cy="365760"/>
          </a:xfrm>
          <a:prstGeom prst="rect">
            <a:avLst/>
          </a:prstGeom>
          <a:noFill/>
        </p:spPr>
        <p:txBody>
          <a:bodyPr wrap="square" lIns="0" tIns="0" rIns="0" bIns="0" rtlCol="0" anchor="ctr"/>
          <a:lstStyle/>
          <a:p>
            <a:pPr marL="0" indent="0">
              <a:lnSpc>
                <a:spcPct val="105000"/>
              </a:lnSpc>
              <a:buNone/>
            </a:pPr>
            <a:r>
              <a:rPr lang="en-US" sz="1150" b="1" dirty="0">
                <a:solidFill>
                  <a:srgbClr val="16233F"/>
                </a:solidFill>
                <a:latin typeface="Calibri" panose="020F0502020204030204" pitchFamily="34" charset="0"/>
                <a:ea typeface="Calibri" panose="020F0502020204030204" pitchFamily="34" charset="-122"/>
                <a:cs typeface="Calibri" panose="020F0502020204030204" pitchFamily="34" charset="-120"/>
              </a:rPr>
              <a:t>Beyond Composite Indices</a:t>
            </a:r>
            <a:endParaRPr lang="en-US" sz="1150" dirty="0"/>
          </a:p>
        </p:txBody>
      </p:sp>
      <p:sp>
        <p:nvSpPr>
          <p:cNvPr id="32" name="Shape 30"/>
          <p:cNvSpPr/>
          <p:nvPr/>
        </p:nvSpPr>
        <p:spPr>
          <a:xfrm>
            <a:off x="768096" y="3749040"/>
            <a:ext cx="3125114" cy="0"/>
          </a:xfrm>
          <a:prstGeom prst="line">
            <a:avLst/>
          </a:prstGeom>
          <a:noFill/>
          <a:ln w="12700">
            <a:solidFill>
              <a:srgbClr val="E1E1DD"/>
            </a:solidFill>
            <a:prstDash val="solid"/>
          </a:ln>
        </p:spPr>
      </p:sp>
      <p:sp>
        <p:nvSpPr>
          <p:cNvPr id="33" name="Text 31"/>
          <p:cNvSpPr/>
          <p:nvPr/>
        </p:nvSpPr>
        <p:spPr>
          <a:xfrm>
            <a:off x="768096" y="3840480"/>
            <a:ext cx="3125114" cy="1005840"/>
          </a:xfrm>
          <a:prstGeom prst="rect">
            <a:avLst/>
          </a:prstGeom>
          <a:noFill/>
        </p:spPr>
        <p:txBody>
          <a:bodyPr wrap="square" lIns="0" tIns="0" rIns="0" bIns="0" rtlCol="0" anchor="ctr"/>
          <a:lstStyle/>
          <a:p>
            <a:pPr marL="152400" indent="-152400">
              <a:lnSpc>
                <a:spcPct val="122000"/>
              </a:lnSpc>
              <a:buSzPct val="100000"/>
              <a:buChar char="•"/>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National inclusion shifted from Availability-led to Usage-led.
</a:t>
            </a:r>
            <a:endParaRPr lang="en-US" sz="930" dirty="0"/>
          </a:p>
          <a:p>
            <a:pPr marL="152400" indent="-152400">
              <a:lnSpc>
                <a:spcPct val="122000"/>
              </a:lnSpc>
              <a:buSzPct val="100000"/>
              <a:buChar char="•"/>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States reached similar levels via different dimension mixes.
</a:t>
            </a:r>
            <a:endParaRPr lang="en-US" sz="930" dirty="0"/>
          </a:p>
          <a:p>
            <a:pPr indent="0">
              <a:lnSpc>
                <a:spcPct val="122000"/>
              </a:lnSpc>
              <a:buSzPct val="100000"/>
              <a:buNone/>
            </a:pPr>
            <a:endParaRPr lang="en-US" sz="930" dirty="0"/>
          </a:p>
        </p:txBody>
      </p:sp>
      <p:sp>
        <p:nvSpPr>
          <p:cNvPr id="34" name="Shape 32"/>
          <p:cNvSpPr/>
          <p:nvPr/>
        </p:nvSpPr>
        <p:spPr>
          <a:xfrm>
            <a:off x="4313834" y="3218688"/>
            <a:ext cx="3564026" cy="1737360"/>
          </a:xfrm>
          <a:prstGeom prst="roundRect">
            <a:avLst>
              <a:gd name="adj" fmla="val 4737"/>
            </a:avLst>
          </a:prstGeom>
          <a:solidFill>
            <a:srgbClr val="FFFFFF"/>
          </a:solidFill>
          <a:ln w="12700">
            <a:solidFill>
              <a:srgbClr val="E1E1DD"/>
            </a:solidFill>
            <a:prstDash val="solid"/>
          </a:ln>
          <a:effectLst>
            <a:outerShdw blurRad="76200" dist="25400" dir="5400000" algn="bl" rotWithShape="0">
              <a:srgbClr val="8A8A85">
                <a:alpha val="18000"/>
              </a:srgbClr>
            </a:outerShdw>
          </a:effectLst>
        </p:spPr>
      </p:sp>
      <p:sp>
        <p:nvSpPr>
          <p:cNvPr id="35" name="Shape 33"/>
          <p:cNvSpPr/>
          <p:nvPr/>
        </p:nvSpPr>
        <p:spPr>
          <a:xfrm>
            <a:off x="4478426" y="3383280"/>
            <a:ext cx="128016" cy="219456"/>
          </a:xfrm>
          <a:prstGeom prst="line">
            <a:avLst/>
          </a:prstGeom>
          <a:noFill/>
          <a:ln w="17780">
            <a:solidFill>
              <a:srgbClr val="16233F"/>
            </a:solidFill>
            <a:prstDash val="solid"/>
          </a:ln>
        </p:spPr>
      </p:sp>
      <p:sp>
        <p:nvSpPr>
          <p:cNvPr id="36" name="Shape 34"/>
          <p:cNvSpPr/>
          <p:nvPr/>
        </p:nvSpPr>
        <p:spPr>
          <a:xfrm>
            <a:off x="4478426" y="3602736"/>
            <a:ext cx="256032" cy="914"/>
          </a:xfrm>
          <a:prstGeom prst="line">
            <a:avLst/>
          </a:prstGeom>
          <a:noFill/>
          <a:ln w="17780">
            <a:solidFill>
              <a:srgbClr val="16233F"/>
            </a:solidFill>
            <a:prstDash val="solid"/>
          </a:ln>
        </p:spPr>
      </p:sp>
      <p:sp>
        <p:nvSpPr>
          <p:cNvPr id="37" name="Shape 35"/>
          <p:cNvSpPr/>
          <p:nvPr/>
        </p:nvSpPr>
        <p:spPr>
          <a:xfrm>
            <a:off x="4606442" y="3383280"/>
            <a:ext cx="128016" cy="219456"/>
          </a:xfrm>
          <a:prstGeom prst="line">
            <a:avLst/>
          </a:prstGeom>
          <a:noFill/>
          <a:ln w="17780">
            <a:solidFill>
              <a:srgbClr val="16233F"/>
            </a:solidFill>
            <a:prstDash val="solid"/>
          </a:ln>
        </p:spPr>
      </p:sp>
      <p:sp>
        <p:nvSpPr>
          <p:cNvPr id="38" name="Shape 36"/>
          <p:cNvSpPr/>
          <p:nvPr/>
        </p:nvSpPr>
        <p:spPr>
          <a:xfrm>
            <a:off x="4574438" y="3351276"/>
            <a:ext cx="64008" cy="64008"/>
          </a:xfrm>
          <a:prstGeom prst="ellipse">
            <a:avLst/>
          </a:prstGeom>
          <a:solidFill>
            <a:srgbClr val="16233F"/>
          </a:solidFill>
        </p:spPr>
      </p:sp>
      <p:sp>
        <p:nvSpPr>
          <p:cNvPr id="39" name="Shape 37"/>
          <p:cNvSpPr/>
          <p:nvPr/>
        </p:nvSpPr>
        <p:spPr>
          <a:xfrm>
            <a:off x="4446422" y="3570732"/>
            <a:ext cx="64008" cy="64008"/>
          </a:xfrm>
          <a:prstGeom prst="ellipse">
            <a:avLst/>
          </a:prstGeom>
          <a:solidFill>
            <a:srgbClr val="16233F"/>
          </a:solidFill>
        </p:spPr>
      </p:sp>
      <p:sp>
        <p:nvSpPr>
          <p:cNvPr id="40" name="Shape 38"/>
          <p:cNvSpPr/>
          <p:nvPr/>
        </p:nvSpPr>
        <p:spPr>
          <a:xfrm>
            <a:off x="4702454" y="3570732"/>
            <a:ext cx="64008" cy="64008"/>
          </a:xfrm>
          <a:prstGeom prst="ellipse">
            <a:avLst/>
          </a:prstGeom>
          <a:solidFill>
            <a:srgbClr val="16233F"/>
          </a:solidFill>
        </p:spPr>
      </p:sp>
      <p:sp>
        <p:nvSpPr>
          <p:cNvPr id="41" name="Text 39"/>
          <p:cNvSpPr/>
          <p:nvPr/>
        </p:nvSpPr>
        <p:spPr>
          <a:xfrm>
            <a:off x="4844186" y="3364992"/>
            <a:ext cx="2869082" cy="365760"/>
          </a:xfrm>
          <a:prstGeom prst="rect">
            <a:avLst/>
          </a:prstGeom>
          <a:noFill/>
        </p:spPr>
        <p:txBody>
          <a:bodyPr wrap="square" lIns="0" tIns="0" rIns="0" bIns="0" rtlCol="0" anchor="ctr"/>
          <a:lstStyle/>
          <a:p>
            <a:pPr marL="0" indent="0">
              <a:lnSpc>
                <a:spcPct val="105000"/>
              </a:lnSpc>
              <a:buNone/>
            </a:pPr>
            <a:r>
              <a:rPr lang="en-US" sz="1150" b="1" dirty="0">
                <a:solidFill>
                  <a:srgbClr val="16233F"/>
                </a:solidFill>
                <a:latin typeface="Calibri" panose="020F0502020204030204" pitchFamily="34" charset="0"/>
                <a:ea typeface="Calibri" panose="020F0502020204030204" pitchFamily="34" charset="-122"/>
                <a:cs typeface="Calibri" panose="020F0502020204030204" pitchFamily="34" charset="-120"/>
              </a:rPr>
              <a:t>Financial Inclusion Development Typology (FIDT)</a:t>
            </a:r>
            <a:endParaRPr lang="en-US" sz="1150" dirty="0"/>
          </a:p>
        </p:txBody>
      </p:sp>
      <p:sp>
        <p:nvSpPr>
          <p:cNvPr id="42" name="Shape 40"/>
          <p:cNvSpPr/>
          <p:nvPr/>
        </p:nvSpPr>
        <p:spPr>
          <a:xfrm>
            <a:off x="4533290" y="3749040"/>
            <a:ext cx="3125114" cy="0"/>
          </a:xfrm>
          <a:prstGeom prst="line">
            <a:avLst/>
          </a:prstGeom>
          <a:noFill/>
          <a:ln w="12700">
            <a:solidFill>
              <a:srgbClr val="E1E1DD"/>
            </a:solidFill>
            <a:prstDash val="solid"/>
          </a:ln>
        </p:spPr>
      </p:sp>
      <p:sp>
        <p:nvSpPr>
          <p:cNvPr id="43" name="Text 41"/>
          <p:cNvSpPr/>
          <p:nvPr/>
        </p:nvSpPr>
        <p:spPr>
          <a:xfrm>
            <a:off x="4542155" y="3840480"/>
            <a:ext cx="3280410" cy="1115060"/>
          </a:xfrm>
          <a:prstGeom prst="rect">
            <a:avLst/>
          </a:prstGeom>
          <a:noFill/>
        </p:spPr>
        <p:txBody>
          <a:bodyPr wrap="square" lIns="0" tIns="0" rIns="0" bIns="0" rtlCol="0" anchor="ctr"/>
          <a:lstStyle/>
          <a:p>
            <a:pPr marL="152400" indent="-152400">
              <a:lnSpc>
                <a:spcPct val="72000"/>
              </a:lnSpc>
              <a:buSzPct val="100000"/>
              <a:buChar char="•"/>
            </a:pP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a:p>
            <a:pPr marL="152400" indent="-152400">
              <a:lnSpc>
                <a:spcPct val="72000"/>
              </a:lnSpc>
              <a:buSzPct val="100000"/>
              <a:buChar char="•"/>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Driver Strength further distinguishes pathway intensity.
</a:t>
            </a:r>
            <a:endPar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a:p>
            <a:pPr marL="152400" indent="-152400">
              <a:lnSpc>
                <a:spcPct val="72000"/>
              </a:lnSpc>
              <a:buSzPct val="100000"/>
              <a:buChar char="•"/>
            </a:pPr>
            <a:r>
              <a:rPr lang="en-US" altLang="en-US" sz="930" dirty="0">
                <a:sym typeface="+mn-ea"/>
              </a:rPr>
              <a:t>Availability dominates lower-performing states, Usage dominates higher-performing states, and Penetration occupies an intermediate position.</a:t>
            </a:r>
            <a:endParaRPr lang="en-US" altLang="en-US" sz="930" dirty="0">
              <a:sym typeface="+mn-ea"/>
            </a:endParaRPr>
          </a:p>
          <a:p>
            <a:pPr marL="152400" indent="-152400">
              <a:lnSpc>
                <a:spcPct val="72000"/>
              </a:lnSpc>
              <a:buSzPct val="100000"/>
              <a:buChar char="•"/>
            </a:pPr>
            <a:endParaRPr lang="en-US" sz="930" dirty="0"/>
          </a:p>
          <a:p>
            <a:pPr marL="152400" indent="-152400">
              <a:lnSpc>
                <a:spcPct val="72000"/>
              </a:lnSpc>
              <a:buSzPct val="100000"/>
              <a:buChar char="•"/>
            </a:pPr>
            <a:r>
              <a:rPr lang="en-US" altLang="en-US" sz="930" dirty="0"/>
              <a:t>Availability-driven states exhibit the strongest driver dominance</a:t>
            </a:r>
            <a:r>
              <a:rPr lang="en-US" altLang="en-US" sz="930" dirty="0">
                <a:sym typeface="+mn-ea"/>
              </a:rPr>
              <a:t>. Penetration-driven mostly Moderate/Weak.  Usage-driven states exhibit a more balanced distribution across Moderate and Strong Driver Strength</a:t>
            </a:r>
            <a:endParaRPr lang="en-US" altLang="en-US" sz="930" dirty="0">
              <a:sym typeface="+mn-ea"/>
            </a:endParaRPr>
          </a:p>
          <a:p>
            <a:pPr marL="152400" indent="-152400">
              <a:lnSpc>
                <a:spcPct val="72000"/>
              </a:lnSpc>
              <a:buSzPct val="100000"/>
              <a:buChar char="•"/>
            </a:pPr>
            <a:endParaRPr lang="en-US" altLang="en-US" sz="930" dirty="0">
              <a:sym typeface="+mn-ea"/>
            </a:endParaRPr>
          </a:p>
          <a:p>
            <a:pPr indent="0">
              <a:lnSpc>
                <a:spcPct val="72000"/>
              </a:lnSpc>
              <a:buSzPct val="100000"/>
              <a:buNone/>
            </a:pPr>
            <a:endParaRPr lang="en-US" sz="930" dirty="0"/>
          </a:p>
        </p:txBody>
      </p:sp>
      <p:sp>
        <p:nvSpPr>
          <p:cNvPr id="44" name="Shape 42"/>
          <p:cNvSpPr/>
          <p:nvPr/>
        </p:nvSpPr>
        <p:spPr>
          <a:xfrm>
            <a:off x="8079029" y="3218688"/>
            <a:ext cx="3564026" cy="1737360"/>
          </a:xfrm>
          <a:prstGeom prst="roundRect">
            <a:avLst>
              <a:gd name="adj" fmla="val 4737"/>
            </a:avLst>
          </a:prstGeom>
          <a:solidFill>
            <a:srgbClr val="FFFFFF"/>
          </a:solidFill>
          <a:ln w="12700">
            <a:solidFill>
              <a:srgbClr val="E1E1DD"/>
            </a:solidFill>
            <a:prstDash val="solid"/>
          </a:ln>
          <a:effectLst>
            <a:outerShdw blurRad="76200" dist="25400" dir="5400000" algn="bl" rotWithShape="0">
              <a:srgbClr val="8A8A85">
                <a:alpha val="18000"/>
              </a:srgbClr>
            </a:outerShdw>
          </a:effectLst>
        </p:spPr>
      </p:sp>
      <p:sp>
        <p:nvSpPr>
          <p:cNvPr id="45" name="Shape 43"/>
          <p:cNvSpPr/>
          <p:nvPr/>
        </p:nvSpPr>
        <p:spPr>
          <a:xfrm flipV="1">
            <a:off x="8225333" y="3392424"/>
            <a:ext cx="146304" cy="118872"/>
          </a:xfrm>
          <a:prstGeom prst="line">
            <a:avLst/>
          </a:prstGeom>
          <a:noFill/>
          <a:ln w="22225">
            <a:solidFill>
              <a:srgbClr val="16233F"/>
            </a:solidFill>
            <a:prstDash val="solid"/>
          </a:ln>
        </p:spPr>
      </p:sp>
      <p:sp>
        <p:nvSpPr>
          <p:cNvPr id="46" name="Shape 44"/>
          <p:cNvSpPr/>
          <p:nvPr/>
        </p:nvSpPr>
        <p:spPr>
          <a:xfrm>
            <a:off x="8371637" y="3392424"/>
            <a:ext cx="146304" cy="118872"/>
          </a:xfrm>
          <a:prstGeom prst="line">
            <a:avLst/>
          </a:prstGeom>
          <a:noFill/>
          <a:ln w="22225">
            <a:solidFill>
              <a:srgbClr val="16233F"/>
            </a:solidFill>
            <a:prstDash val="solid"/>
          </a:ln>
        </p:spPr>
      </p:sp>
      <p:sp>
        <p:nvSpPr>
          <p:cNvPr id="47" name="Shape 45"/>
          <p:cNvSpPr/>
          <p:nvPr/>
        </p:nvSpPr>
        <p:spPr>
          <a:xfrm>
            <a:off x="8335061" y="3566160"/>
            <a:ext cx="73152" cy="73152"/>
          </a:xfrm>
          <a:prstGeom prst="ellipse">
            <a:avLst/>
          </a:prstGeom>
          <a:solidFill>
            <a:srgbClr val="16233F"/>
          </a:solidFill>
        </p:spPr>
      </p:sp>
      <p:sp>
        <p:nvSpPr>
          <p:cNvPr id="48" name="Text 46"/>
          <p:cNvSpPr/>
          <p:nvPr/>
        </p:nvSpPr>
        <p:spPr>
          <a:xfrm>
            <a:off x="8609381" y="3364992"/>
            <a:ext cx="2869082" cy="365760"/>
          </a:xfrm>
          <a:prstGeom prst="rect">
            <a:avLst/>
          </a:prstGeom>
          <a:noFill/>
        </p:spPr>
        <p:txBody>
          <a:bodyPr wrap="square" lIns="0" tIns="0" rIns="0" bIns="0" rtlCol="0" anchor="ctr"/>
          <a:lstStyle/>
          <a:p>
            <a:pPr marL="0" indent="0">
              <a:lnSpc>
                <a:spcPct val="105000"/>
              </a:lnSpc>
              <a:buNone/>
            </a:pPr>
            <a:r>
              <a:rPr lang="en-US" sz="1150" b="1" dirty="0">
                <a:solidFill>
                  <a:srgbClr val="16233F"/>
                </a:solidFill>
                <a:latin typeface="Calibri" panose="020F0502020204030204" pitchFamily="34" charset="0"/>
                <a:ea typeface="Calibri" panose="020F0502020204030204" pitchFamily="34" charset="-122"/>
                <a:cs typeface="Calibri" panose="020F0502020204030204" pitchFamily="34" charset="-120"/>
              </a:rPr>
              <a:t>Limited Interstate Convergence</a:t>
            </a:r>
            <a:endParaRPr lang="en-US" sz="1150" dirty="0"/>
          </a:p>
        </p:txBody>
      </p:sp>
      <p:sp>
        <p:nvSpPr>
          <p:cNvPr id="49" name="Shape 47"/>
          <p:cNvSpPr/>
          <p:nvPr/>
        </p:nvSpPr>
        <p:spPr>
          <a:xfrm>
            <a:off x="8298485" y="3749040"/>
            <a:ext cx="3125114" cy="0"/>
          </a:xfrm>
          <a:prstGeom prst="line">
            <a:avLst/>
          </a:prstGeom>
          <a:noFill/>
          <a:ln w="12700">
            <a:solidFill>
              <a:srgbClr val="E1E1DD"/>
            </a:solidFill>
            <a:prstDash val="solid"/>
          </a:ln>
        </p:spPr>
      </p:sp>
      <p:sp>
        <p:nvSpPr>
          <p:cNvPr id="50" name="Text 48"/>
          <p:cNvSpPr/>
          <p:nvPr/>
        </p:nvSpPr>
        <p:spPr>
          <a:xfrm>
            <a:off x="8298485" y="3840480"/>
            <a:ext cx="3125114" cy="1005840"/>
          </a:xfrm>
          <a:prstGeom prst="rect">
            <a:avLst/>
          </a:prstGeom>
          <a:noFill/>
        </p:spPr>
        <p:txBody>
          <a:bodyPr wrap="square" lIns="0" tIns="0" rIns="0" bIns="0" rtlCol="0" anchor="ctr"/>
          <a:lstStyle/>
          <a:p>
            <a:pPr marL="152400" indent="-152400">
              <a:lnSpc>
                <a:spcPct val="122000"/>
              </a:lnSpc>
              <a:buSzPct val="100000"/>
              <a:buChar char="•"/>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Disparities persisted despite improvement across all states.
</a:t>
            </a:r>
            <a:endParaRPr lang="en-US" sz="930" dirty="0"/>
          </a:p>
          <a:p>
            <a:pPr marL="152400" indent="-152400">
              <a:lnSpc>
                <a:spcPct val="122000"/>
              </a:lnSpc>
              <a:buSzPct val="100000"/>
              <a:buChar char="•"/>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Rank mobility remained limited, with strong persistence.
</a:t>
            </a:r>
            <a:endParaRPr lang="en-US" sz="930" dirty="0"/>
          </a:p>
          <a:p>
            <a:pPr marL="152400" indent="-152400">
              <a:lnSpc>
                <a:spcPct val="122000"/>
              </a:lnSpc>
              <a:buSzPct val="100000"/>
              <a:buChar char="•"/>
            </a:pPr>
            <a:r>
              <a:rPr lang="en-US" sz="930" dirty="0">
                <a:solidFill>
                  <a:srgbClr val="2B2F36"/>
                </a:solidFill>
                <a:latin typeface="Calibri" panose="020F0502020204030204" pitchFamily="34" charset="0"/>
                <a:ea typeface="Calibri" panose="020F0502020204030204" pitchFamily="34" charset="-122"/>
                <a:cs typeface="Calibri" panose="020F0502020204030204" pitchFamily="34" charset="-120"/>
              </a:rPr>
              <a:t>Broad progress, without sustained convergence.</a:t>
            </a:r>
            <a:endParaRPr lang="en-US" sz="930" dirty="0"/>
          </a:p>
        </p:txBody>
      </p:sp>
      <p:sp>
        <p:nvSpPr>
          <p:cNvPr id="51" name="Shape 49"/>
          <p:cNvSpPr/>
          <p:nvPr/>
        </p:nvSpPr>
        <p:spPr>
          <a:xfrm>
            <a:off x="548640" y="5093208"/>
            <a:ext cx="11094415" cy="1325880"/>
          </a:xfrm>
          <a:prstGeom prst="roundRect">
            <a:avLst>
              <a:gd name="adj" fmla="val 6207"/>
            </a:avLst>
          </a:prstGeom>
          <a:solidFill>
            <a:srgbClr val="16233F"/>
          </a:solidFill>
        </p:spPr>
      </p:sp>
      <p:sp>
        <p:nvSpPr>
          <p:cNvPr id="52" name="Text 50"/>
          <p:cNvSpPr/>
          <p:nvPr/>
        </p:nvSpPr>
        <p:spPr>
          <a:xfrm>
            <a:off x="822960" y="5257800"/>
            <a:ext cx="10545775" cy="237744"/>
          </a:xfrm>
          <a:prstGeom prst="rect">
            <a:avLst/>
          </a:prstGeom>
          <a:noFill/>
        </p:spPr>
        <p:txBody>
          <a:bodyPr wrap="square" lIns="0" tIns="0" rIns="0" bIns="0" rtlCol="0" anchor="ctr"/>
          <a:lstStyle/>
          <a:p>
            <a:pPr marL="0" indent="0">
              <a:buNone/>
            </a:pPr>
            <a:r>
              <a:rPr lang="en-US" sz="1200" b="1" kern="0" spc="80" dirty="0">
                <a:solidFill>
                  <a:srgbClr val="FFFFFF"/>
                </a:solidFill>
                <a:latin typeface="Calibri" panose="020F0502020204030204" pitchFamily="34" charset="0"/>
                <a:ea typeface="Calibri" panose="020F0502020204030204" pitchFamily="34" charset="-122"/>
                <a:cs typeface="Calibri" panose="020F0502020204030204" pitchFamily="34" charset="-120"/>
              </a:rPr>
              <a:t>OVERALL CONTRIBUTION</a:t>
            </a:r>
            <a:endParaRPr lang="en-US" sz="1200" dirty="0"/>
          </a:p>
        </p:txBody>
      </p:sp>
      <p:sp>
        <p:nvSpPr>
          <p:cNvPr id="53" name="Shape 51"/>
          <p:cNvSpPr/>
          <p:nvPr/>
        </p:nvSpPr>
        <p:spPr>
          <a:xfrm>
            <a:off x="822960" y="5550408"/>
            <a:ext cx="457200" cy="0"/>
          </a:xfrm>
          <a:prstGeom prst="line">
            <a:avLst/>
          </a:prstGeom>
          <a:noFill/>
          <a:ln w="15875">
            <a:solidFill>
              <a:srgbClr val="AEB9CE"/>
            </a:solidFill>
            <a:prstDash val="solid"/>
          </a:ln>
        </p:spPr>
      </p:sp>
      <p:sp>
        <p:nvSpPr>
          <p:cNvPr id="54" name="Text 52"/>
          <p:cNvSpPr/>
          <p:nvPr/>
        </p:nvSpPr>
        <p:spPr>
          <a:xfrm>
            <a:off x="822960" y="5678424"/>
            <a:ext cx="10545775" cy="612648"/>
          </a:xfrm>
          <a:prstGeom prst="rect">
            <a:avLst/>
          </a:prstGeom>
          <a:noFill/>
        </p:spPr>
        <p:txBody>
          <a:bodyPr wrap="square" lIns="0" tIns="0" rIns="0" bIns="0" rtlCol="0" anchor="ctr"/>
          <a:lstStyle/>
          <a:p>
            <a:pPr marL="0" indent="0">
              <a:lnSpc>
                <a:spcPct val="132000"/>
              </a:lnSpc>
              <a:buNone/>
            </a:pPr>
            <a:r>
              <a:rPr lang="en-US" sz="1200" dirty="0">
                <a:solidFill>
                  <a:srgbClr val="E4E8F0"/>
                </a:solidFill>
                <a:latin typeface="Calibri" panose="020F0502020204030204" pitchFamily="34" charset="0"/>
                <a:ea typeface="Calibri" panose="020F0502020204030204" pitchFamily="34" charset="-122"/>
                <a:cs typeface="Calibri" panose="020F0502020204030204" pitchFamily="34" charset="-120"/>
              </a:rPr>
              <a:t>Financial inclusion has expanded across every Indian state, but progress has remained uneven. Persistent regional disparities, limited interstate mobility and diverse development pathways suggest that future policy should move beyond one-size-fits-all approaches toward differentiated, state-specific financial inclusion strategies.</a:t>
            </a:r>
            <a:endParaRPr lang="en-US" sz="1200" dirty="0">
              <a:solidFill>
                <a:srgbClr val="E4E8F0"/>
              </a:solidFill>
              <a:latin typeface="Calibri" panose="020F0502020204030204" pitchFamily="34" charset="0"/>
              <a:ea typeface="Calibri" panose="020F0502020204030204" pitchFamily="34" charset="-122"/>
              <a:cs typeface="Calibri" panose="020F0502020204030204" pitchFamily="34" charset="-120"/>
            </a:endParaRPr>
          </a:p>
        </p:txBody>
      </p:sp>
      <p:sp>
        <p:nvSpPr>
          <p:cNvPr id="55" name="Text 53"/>
          <p:cNvSpPr/>
          <p:nvPr/>
        </p:nvSpPr>
        <p:spPr>
          <a:xfrm>
            <a:off x="548640" y="6492240"/>
            <a:ext cx="7315200" cy="182880"/>
          </a:xfrm>
          <a:prstGeom prst="rect">
            <a:avLst/>
          </a:prstGeom>
          <a:noFill/>
        </p:spPr>
        <p:txBody>
          <a:bodyPr wrap="square" lIns="0" tIns="0" rIns="0" bIns="0" rtlCol="0" anchor="ctr"/>
          <a:lstStyle/>
          <a:p>
            <a:pPr marL="0" indent="0">
              <a:buNone/>
            </a:pPr>
            <a:r>
              <a:rPr lang="en-US" sz="83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8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548640" y="329184"/>
            <a:ext cx="7315200" cy="256032"/>
          </a:xfrm>
          <a:prstGeom prst="rect">
            <a:avLst/>
          </a:prstGeom>
          <a:noFill/>
        </p:spPr>
        <p:txBody>
          <a:bodyPr wrap="square" lIns="0" tIns="0" rIns="0" bIns="0" rtlCol="0" anchor="ctr"/>
          <a:lstStyle/>
          <a:p>
            <a:pPr marL="0" indent="0">
              <a:buNone/>
            </a:pPr>
            <a:r>
              <a:rPr lang="en-US" sz="1100" b="1" kern="0" spc="200" dirty="0">
                <a:solidFill>
                  <a:srgbClr val="5B6472"/>
                </a:solidFill>
                <a:latin typeface="Calibri" panose="020F0502020204030204" pitchFamily="34" charset="0"/>
                <a:ea typeface="Calibri" panose="020F0502020204030204" pitchFamily="34" charset="-122"/>
                <a:cs typeface="Calibri" panose="020F0502020204030204" pitchFamily="34" charset="-120"/>
              </a:rPr>
              <a:t>SLIDE 19  ·  POLICY IMPLICATIONS</a:t>
            </a:r>
            <a:endParaRPr lang="en-US" sz="1100" dirty="0"/>
          </a:p>
        </p:txBody>
      </p:sp>
      <p:sp>
        <p:nvSpPr>
          <p:cNvPr id="3" name="Shape 1"/>
          <p:cNvSpPr/>
          <p:nvPr/>
        </p:nvSpPr>
        <p:spPr>
          <a:xfrm>
            <a:off x="548640" y="621792"/>
            <a:ext cx="502920" cy="0"/>
          </a:xfrm>
          <a:prstGeom prst="line">
            <a:avLst/>
          </a:prstGeom>
          <a:noFill/>
          <a:ln w="28575">
            <a:solidFill>
              <a:srgbClr val="16233F"/>
            </a:solidFill>
            <a:prstDash val="solid"/>
          </a:ln>
        </p:spPr>
      </p:sp>
      <p:sp>
        <p:nvSpPr>
          <p:cNvPr id="4" name="Text 2"/>
          <p:cNvSpPr/>
          <p:nvPr/>
        </p:nvSpPr>
        <p:spPr>
          <a:xfrm>
            <a:off x="548640" y="676656"/>
            <a:ext cx="11094415" cy="402336"/>
          </a:xfrm>
          <a:prstGeom prst="rect">
            <a:avLst/>
          </a:prstGeom>
          <a:noFill/>
        </p:spPr>
        <p:txBody>
          <a:bodyPr wrap="square" lIns="0" tIns="0" rIns="0" bIns="0" rtlCol="0" anchor="ctr"/>
          <a:lstStyle/>
          <a:p>
            <a:pPr marL="0" indent="0">
              <a:buNone/>
            </a:pPr>
            <a:r>
              <a:rPr lang="en-US" sz="2400" b="1" dirty="0">
                <a:solidFill>
                  <a:srgbClr val="16233F"/>
                </a:solidFill>
                <a:latin typeface="Cambria" panose="02040503050406030204" pitchFamily="34" charset="0"/>
                <a:ea typeface="Cambria" panose="02040503050406030204" pitchFamily="34" charset="-122"/>
                <a:cs typeface="Cambria" panose="02040503050406030204" pitchFamily="34" charset="-120"/>
              </a:rPr>
              <a:t>Policy Implications &amp; Recommendations</a:t>
            </a:r>
            <a:endParaRPr lang="en-US" sz="2400" dirty="0"/>
          </a:p>
        </p:txBody>
      </p:sp>
      <p:sp>
        <p:nvSpPr>
          <p:cNvPr id="5" name="Text 3"/>
          <p:cNvSpPr/>
          <p:nvPr/>
        </p:nvSpPr>
        <p:spPr>
          <a:xfrm>
            <a:off x="548640" y="1097280"/>
            <a:ext cx="11094415" cy="219456"/>
          </a:xfrm>
          <a:prstGeom prst="rect">
            <a:avLst/>
          </a:prstGeom>
          <a:noFill/>
        </p:spPr>
        <p:txBody>
          <a:bodyPr wrap="square" lIns="0" tIns="0" rIns="0" bIns="0" rtlCol="0" anchor="ctr"/>
          <a:lstStyle/>
          <a:p>
            <a:pPr marL="0" indent="0">
              <a:buNone/>
            </a:pPr>
            <a:r>
              <a:rPr lang="en-US" sz="1100" i="1" dirty="0">
                <a:solidFill>
                  <a:srgbClr val="5B6472"/>
                </a:solidFill>
                <a:latin typeface="Calibri" panose="020F0502020204030204" pitchFamily="34" charset="0"/>
                <a:ea typeface="Calibri" panose="020F0502020204030204" pitchFamily="34" charset="-122"/>
                <a:cs typeface="Calibri" panose="020F0502020204030204" pitchFamily="34" charset="-120"/>
              </a:rPr>
              <a:t>The empirical findings support a differentiated, pathway-based approach to advancing financial inclusion across Indian states.</a:t>
            </a:r>
            <a:endParaRPr lang="en-US" sz="1100" dirty="0"/>
          </a:p>
        </p:txBody>
      </p:sp>
      <p:sp>
        <p:nvSpPr>
          <p:cNvPr id="49" name="Text 47"/>
          <p:cNvSpPr/>
          <p:nvPr/>
        </p:nvSpPr>
        <p:spPr>
          <a:xfrm>
            <a:off x="548640" y="6620256"/>
            <a:ext cx="7315200" cy="182880"/>
          </a:xfrm>
          <a:prstGeom prst="rect">
            <a:avLst/>
          </a:prstGeom>
          <a:noFill/>
        </p:spPr>
        <p:txBody>
          <a:bodyPr wrap="square" lIns="0" tIns="0" rIns="0" bIns="0" rtlCol="0" anchor="ctr"/>
          <a:lstStyle/>
          <a:p>
            <a:pPr marL="0" indent="0">
              <a:buNone/>
            </a:pPr>
            <a:r>
              <a:rPr lang="en-US" sz="850" dirty="0">
                <a:solidFill>
                  <a:srgbClr val="9BA3AE"/>
                </a:solidFill>
                <a:latin typeface="Calibri" panose="020F0502020204030204" pitchFamily="34" charset="0"/>
                <a:ea typeface="Calibri" panose="020F0502020204030204" pitchFamily="34" charset="-122"/>
                <a:cs typeface="Calibri" panose="020F0502020204030204" pitchFamily="34" charset="-120"/>
              </a:rPr>
              <a:t>Reserve Bank of India  ·  Department of Statistics and Information Management</a:t>
            </a:r>
            <a:endParaRPr lang="en-US" sz="850" dirty="0"/>
          </a:p>
        </p:txBody>
      </p:sp>
      <p:grpSp>
        <p:nvGrpSpPr>
          <p:cNvPr id="54" name="Group 53"/>
          <p:cNvGrpSpPr/>
          <p:nvPr/>
        </p:nvGrpSpPr>
        <p:grpSpPr>
          <a:xfrm>
            <a:off x="548640" y="1481455"/>
            <a:ext cx="11094085" cy="4953635"/>
            <a:chOff x="864" y="2045"/>
            <a:chExt cx="17471" cy="7632"/>
          </a:xfrm>
        </p:grpSpPr>
        <p:sp>
          <p:nvSpPr>
            <p:cNvPr id="6" name="Shape 4"/>
            <p:cNvSpPr/>
            <p:nvPr/>
          </p:nvSpPr>
          <p:spPr>
            <a:xfrm>
              <a:off x="864" y="2045"/>
              <a:ext cx="8534" cy="3600"/>
            </a:xfrm>
            <a:prstGeom prst="roundRect">
              <a:avLst>
                <a:gd name="adj" fmla="val 4000"/>
              </a:avLst>
            </a:prstGeom>
            <a:solidFill>
              <a:srgbClr val="FFFFFF"/>
            </a:solidFill>
            <a:ln w="12700">
              <a:solidFill>
                <a:srgbClr val="E1E1DD"/>
              </a:solidFill>
              <a:prstDash val="solid"/>
            </a:ln>
            <a:effectLst>
              <a:outerShdw blurRad="88900" dist="25400" dir="5400000" algn="bl" rotWithShape="0">
                <a:srgbClr val="8A8A85">
                  <a:alpha val="14000"/>
                </a:srgbClr>
              </a:outerShdw>
            </a:effectLst>
          </p:spPr>
        </p:sp>
        <p:sp>
          <p:nvSpPr>
            <p:cNvPr id="10" name="Text 8"/>
            <p:cNvSpPr/>
            <p:nvPr/>
          </p:nvSpPr>
          <p:spPr>
            <a:xfrm>
              <a:off x="1958" y="2326"/>
              <a:ext cx="6310" cy="461"/>
            </a:xfrm>
            <a:prstGeom prst="rect">
              <a:avLst/>
            </a:prstGeom>
            <a:noFill/>
          </p:spPr>
          <p:txBody>
            <a:bodyPr wrap="square" lIns="0" tIns="0" rIns="0" bIns="0" rtlCol="0" anchor="ctr"/>
            <a:lstStyle/>
            <a:p>
              <a:pPr marL="0" indent="0">
                <a:buNone/>
              </a:pPr>
              <a:r>
                <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rPr>
                <a:t>National Policy Priorities</a:t>
              </a:r>
              <a:endPar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nvSpPr>
          <p:spPr>
            <a:xfrm>
              <a:off x="1958" y="2823"/>
              <a:ext cx="1486" cy="317"/>
            </a:xfrm>
            <a:prstGeom prst="roundRect">
              <a:avLst>
                <a:gd name="adj" fmla="val 50000"/>
              </a:avLst>
            </a:prstGeom>
            <a:solidFill>
              <a:srgbClr val="4A7C74"/>
            </a:solidFill>
          </p:spPr>
        </p:sp>
        <p:sp>
          <p:nvSpPr>
            <p:cNvPr id="12" name="Text 10"/>
            <p:cNvSpPr/>
            <p:nvPr/>
          </p:nvSpPr>
          <p:spPr>
            <a:xfrm>
              <a:off x="1958" y="2823"/>
              <a:ext cx="1486" cy="317"/>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Access → Usage</a:t>
              </a:r>
              <a:endPar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1296" y="3283"/>
              <a:ext cx="7670" cy="0"/>
            </a:xfrm>
            <a:prstGeom prst="line">
              <a:avLst/>
            </a:prstGeom>
            <a:noFill/>
            <a:ln w="12700">
              <a:solidFill>
                <a:srgbClr val="E1E1DD"/>
              </a:solidFill>
              <a:prstDash val="solid"/>
            </a:ln>
          </p:spPr>
        </p:sp>
        <p:sp>
          <p:nvSpPr>
            <p:cNvPr id="14" name="Text 12"/>
            <p:cNvSpPr/>
            <p:nvPr/>
          </p:nvSpPr>
          <p:spPr>
            <a:xfrm>
              <a:off x="1296" y="3485"/>
              <a:ext cx="7670" cy="1958"/>
            </a:xfrm>
            <a:prstGeom prst="rect">
              <a:avLst/>
            </a:prstGeom>
            <a:noFill/>
          </p:spPr>
          <p:txBody>
            <a:bodyPr wrap="square" lIns="0" tIns="0" rIns="0" bIns="0" rtlCol="0" anchor="ctr"/>
            <a:lstStyle/>
            <a:p>
              <a:pPr marL="0" indent="0">
                <a:lnSpc>
                  <a:spcPct val="98000"/>
                </a:lnSpc>
                <a:buSzPct val="100000"/>
                <a:buNone/>
              </a:pP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Expand </a:t>
              </a:r>
              <a:r>
                <a:rPr lang="en-US" sz="1250" b="1" dirty="0">
                  <a:solidFill>
                    <a:srgbClr val="16233F"/>
                  </a:solidFill>
                  <a:latin typeface="Calibri" panose="020F0502020204030204" pitchFamily="34" charset="0"/>
                  <a:ea typeface="Calibri" panose="020F0502020204030204" pitchFamily="34" charset="-122"/>
                  <a:cs typeface="Calibri" panose="020F0502020204030204" pitchFamily="34" charset="-120"/>
                  <a:sym typeface="+mn-ea"/>
                </a:rPr>
                <a:t>Digital Payment</a:t>
              </a: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sym typeface="+mn-ea"/>
                </a:rPr>
                <a:t> usage, </a:t>
              </a:r>
              <a:r>
                <a:rPr lang="en-US" sz="1250" b="1" dirty="0">
                  <a:solidFill>
                    <a:srgbClr val="16233F"/>
                  </a:solidFill>
                  <a:latin typeface="Calibri" panose="020F0502020204030204" pitchFamily="34" charset="0"/>
                  <a:ea typeface="Calibri" panose="020F0502020204030204" pitchFamily="34" charset="-122"/>
                  <a:cs typeface="Calibri" panose="020F0502020204030204" pitchFamily="34" charset="-120"/>
                </a:rPr>
                <a:t>Savings, Credit, Insurance and Pension</a:t>
              </a: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 and nationwide.
</a:t>
              </a:r>
              <a:endParaRPr lang="en-US" sz="1250" dirty="0"/>
            </a:p>
            <a:p>
              <a:pPr marL="0" indent="0">
                <a:lnSpc>
                  <a:spcPct val="98000"/>
                </a:lnSpc>
                <a:buSzPct val="100000"/>
                <a:buNone/>
              </a:pP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Reserve </a:t>
              </a:r>
              <a:r>
                <a:rPr lang="en-US" sz="1250" b="1" dirty="0">
                  <a:solidFill>
                    <a:srgbClr val="16233F"/>
                  </a:solidFill>
                  <a:latin typeface="Calibri" panose="020F0502020204030204" pitchFamily="34" charset="0"/>
                  <a:ea typeface="Calibri" panose="020F0502020204030204" pitchFamily="34" charset="-122"/>
                  <a:cs typeface="Calibri" panose="020F0502020204030204" pitchFamily="34" charset="-120"/>
                </a:rPr>
                <a:t>infrastructure expansion</a:t>
              </a: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 for states where access constraints remain.
</a:t>
              </a:r>
              <a:endParaRPr lang="en-US" sz="1250" dirty="0"/>
            </a:p>
            <a:p>
              <a:pPr marL="0" indent="0">
                <a:lnSpc>
                  <a:spcPct val="98000"/>
                </a:lnSpc>
                <a:buSzPct val="100000"/>
                <a:buNone/>
              </a:pP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Shift focus from banking outreach toward </a:t>
              </a:r>
              <a:r>
                <a:rPr lang="en-US" sz="1250" b="1" dirty="0">
                  <a:solidFill>
                    <a:srgbClr val="16233F"/>
                  </a:solidFill>
                  <a:latin typeface="Calibri" panose="020F0502020204030204" pitchFamily="34" charset="0"/>
                  <a:ea typeface="Calibri" panose="020F0502020204030204" pitchFamily="34" charset="-122"/>
                  <a:cs typeface="Calibri" panose="020F0502020204030204" pitchFamily="34" charset="-120"/>
                </a:rPr>
                <a:t>financial deepening</a:t>
              </a: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a:t>
              </a:r>
              <a:endPar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Shape 13"/>
            <p:cNvSpPr/>
            <p:nvPr/>
          </p:nvSpPr>
          <p:spPr>
            <a:xfrm>
              <a:off x="9801" y="2045"/>
              <a:ext cx="8534" cy="3600"/>
            </a:xfrm>
            <a:prstGeom prst="roundRect">
              <a:avLst>
                <a:gd name="adj" fmla="val 4000"/>
              </a:avLst>
            </a:prstGeom>
            <a:solidFill>
              <a:srgbClr val="FFFFFF"/>
            </a:solidFill>
            <a:ln w="12700">
              <a:solidFill>
                <a:srgbClr val="E1E1DD"/>
              </a:solidFill>
              <a:prstDash val="solid"/>
            </a:ln>
            <a:effectLst>
              <a:outerShdw blurRad="88900" dist="25400" dir="5400000" algn="bl" rotWithShape="0">
                <a:srgbClr val="8A8A85">
                  <a:alpha val="14000"/>
                </a:srgbClr>
              </a:outerShdw>
            </a:effectLst>
          </p:spPr>
        </p:sp>
        <p:sp>
          <p:nvSpPr>
            <p:cNvPr id="19" name="Text 17"/>
            <p:cNvSpPr/>
            <p:nvPr/>
          </p:nvSpPr>
          <p:spPr>
            <a:xfrm>
              <a:off x="10841" y="2333"/>
              <a:ext cx="7238" cy="461"/>
            </a:xfrm>
            <a:prstGeom prst="rect">
              <a:avLst/>
            </a:prstGeom>
            <a:noFill/>
          </p:spPr>
          <p:txBody>
            <a:bodyPr wrap="square" lIns="0" tIns="0" rIns="0" bIns="0" rtlCol="0" anchor="ctr"/>
            <a:lstStyle/>
            <a:p>
              <a:pPr marL="0" indent="0">
                <a:buNone/>
              </a:pPr>
              <a:r>
                <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rPr>
                <a:t>Differentiated State Strategies</a:t>
              </a:r>
              <a:endPar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8"/>
            <p:cNvSpPr/>
            <p:nvPr/>
          </p:nvSpPr>
          <p:spPr>
            <a:xfrm>
              <a:off x="10841" y="2822"/>
              <a:ext cx="2405" cy="317"/>
            </a:xfrm>
            <a:prstGeom prst="roundRect">
              <a:avLst>
                <a:gd name="adj" fmla="val 50000"/>
              </a:avLst>
            </a:prstGeom>
            <a:solidFill>
              <a:srgbClr val="A98544"/>
            </a:solidFill>
          </p:spPr>
        </p:sp>
        <p:sp>
          <p:nvSpPr>
            <p:cNvPr id="21" name="Text 19"/>
            <p:cNvSpPr/>
            <p:nvPr/>
          </p:nvSpPr>
          <p:spPr>
            <a:xfrm>
              <a:off x="10841" y="2822"/>
              <a:ext cx="2405" cy="317"/>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Differentiated Strategies</a:t>
              </a:r>
              <a:endPar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Shape 20"/>
            <p:cNvSpPr/>
            <p:nvPr/>
          </p:nvSpPr>
          <p:spPr>
            <a:xfrm>
              <a:off x="10233" y="3283"/>
              <a:ext cx="7670" cy="0"/>
            </a:xfrm>
            <a:prstGeom prst="line">
              <a:avLst/>
            </a:prstGeom>
            <a:noFill/>
            <a:ln w="12700">
              <a:solidFill>
                <a:srgbClr val="E1E1DD"/>
              </a:solidFill>
              <a:prstDash val="solid"/>
            </a:ln>
          </p:spPr>
        </p:sp>
        <p:sp>
          <p:nvSpPr>
            <p:cNvPr id="23" name="Text 21"/>
            <p:cNvSpPr/>
            <p:nvPr/>
          </p:nvSpPr>
          <p:spPr>
            <a:xfrm>
              <a:off x="10233" y="3485"/>
              <a:ext cx="7670" cy="653"/>
            </a:xfrm>
            <a:prstGeom prst="rect">
              <a:avLst/>
            </a:prstGeom>
            <a:noFill/>
          </p:spPr>
          <p:txBody>
            <a:bodyPr wrap="square" lIns="0" tIns="0" rIns="0" bIns="0" rtlCol="0" anchor="t"/>
            <a:lstStyle/>
            <a:p>
              <a:pPr marL="0" indent="0">
                <a:lnSpc>
                  <a:spcPct val="118000"/>
                </a:lnSpc>
                <a:buNone/>
              </a:pPr>
              <a:r>
                <a:rPr lang="en-US" sz="1250" b="1" dirty="0">
                  <a:solidFill>
                    <a:srgbClr val="16233F"/>
                  </a:solidFill>
                  <a:latin typeface="Calibri" panose="020F0502020204030204" pitchFamily="34" charset="0"/>
                  <a:ea typeface="Calibri" panose="020F0502020204030204" pitchFamily="34" charset="-122"/>
                  <a:cs typeface="Calibri" panose="020F0502020204030204" pitchFamily="34" charset="-120"/>
                </a:rPr>
                <a:t>Leaders:  </a:t>
              </a: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Innovation, product diversification and service quality.</a:t>
              </a:r>
              <a:endPar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2"/>
            <p:cNvSpPr/>
            <p:nvPr/>
          </p:nvSpPr>
          <p:spPr>
            <a:xfrm>
              <a:off x="10233" y="4008"/>
              <a:ext cx="7670" cy="653"/>
            </a:xfrm>
            <a:prstGeom prst="rect">
              <a:avLst/>
            </a:prstGeom>
            <a:noFill/>
          </p:spPr>
          <p:txBody>
            <a:bodyPr wrap="square" lIns="0" tIns="0" rIns="0" bIns="0" rtlCol="0" anchor="t"/>
            <a:lstStyle/>
            <a:p>
              <a:pPr marL="0" indent="0">
                <a:lnSpc>
                  <a:spcPct val="118000"/>
                </a:lnSpc>
                <a:buNone/>
              </a:pPr>
              <a:r>
                <a:rPr lang="en-US" sz="1250" b="1" dirty="0">
                  <a:solidFill>
                    <a:srgbClr val="16233F"/>
                  </a:solidFill>
                  <a:latin typeface="Calibri" panose="020F0502020204030204" pitchFamily="34" charset="0"/>
                  <a:ea typeface="Calibri" panose="020F0502020204030204" pitchFamily="34" charset="-122"/>
                  <a:cs typeface="Calibri" panose="020F0502020204030204" pitchFamily="34" charset="-120"/>
                </a:rPr>
                <a:t>Emerging States:  </a:t>
              </a: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Convert access into sustained usage via productive credit, insurance and digital payments.</a:t>
              </a:r>
              <a:endPar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Text 23"/>
            <p:cNvSpPr/>
            <p:nvPr/>
          </p:nvSpPr>
          <p:spPr>
            <a:xfrm>
              <a:off x="10233" y="4769"/>
              <a:ext cx="7670" cy="653"/>
            </a:xfrm>
            <a:prstGeom prst="rect">
              <a:avLst/>
            </a:prstGeom>
            <a:noFill/>
          </p:spPr>
          <p:txBody>
            <a:bodyPr wrap="square" lIns="0" tIns="0" rIns="0" bIns="0" rtlCol="0" anchor="t"/>
            <a:lstStyle/>
            <a:p>
              <a:pPr marL="0" indent="0">
                <a:lnSpc>
                  <a:spcPct val="118000"/>
                </a:lnSpc>
                <a:buNone/>
              </a:pPr>
              <a:r>
                <a:rPr lang="en-US" sz="1250" b="1" dirty="0">
                  <a:solidFill>
                    <a:srgbClr val="16233F"/>
                  </a:solidFill>
                  <a:latin typeface="Calibri" panose="020F0502020204030204" pitchFamily="34" charset="0"/>
                  <a:ea typeface="Calibri" panose="020F0502020204030204" pitchFamily="34" charset="-122"/>
                  <a:cs typeface="Calibri" panose="020F0502020204030204" pitchFamily="34" charset="-120"/>
                </a:rPr>
                <a:t>Priority States:  </a:t>
              </a: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Expand outreach, Business Correspondent networks and digital infrastructure.</a:t>
              </a:r>
              <a:endPar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Shape 24"/>
            <p:cNvSpPr/>
            <p:nvPr/>
          </p:nvSpPr>
          <p:spPr>
            <a:xfrm>
              <a:off x="864" y="6077"/>
              <a:ext cx="8534" cy="3600"/>
            </a:xfrm>
            <a:prstGeom prst="roundRect">
              <a:avLst>
                <a:gd name="adj" fmla="val 4000"/>
              </a:avLst>
            </a:prstGeom>
            <a:solidFill>
              <a:srgbClr val="FFFFFF"/>
            </a:solidFill>
            <a:ln w="12700">
              <a:solidFill>
                <a:srgbClr val="E1E1DD"/>
              </a:solidFill>
              <a:prstDash val="solid"/>
            </a:ln>
            <a:effectLst>
              <a:outerShdw blurRad="88900" dist="25400" dir="5400000" algn="bl" rotWithShape="0">
                <a:srgbClr val="8A8A85">
                  <a:alpha val="14000"/>
                </a:srgbClr>
              </a:outerShdw>
            </a:effectLst>
          </p:spPr>
        </p:sp>
        <p:sp>
          <p:nvSpPr>
            <p:cNvPr id="32" name="Text 30"/>
            <p:cNvSpPr/>
            <p:nvPr/>
          </p:nvSpPr>
          <p:spPr>
            <a:xfrm>
              <a:off x="1958" y="6365"/>
              <a:ext cx="5999" cy="461"/>
            </a:xfrm>
            <a:prstGeom prst="rect">
              <a:avLst/>
            </a:prstGeom>
            <a:noFill/>
          </p:spPr>
          <p:txBody>
            <a:bodyPr wrap="square" lIns="0" tIns="0" rIns="0" bIns="0" rtlCol="0" anchor="ctr"/>
            <a:lstStyle/>
            <a:p>
              <a:pPr marL="0" indent="0">
                <a:buNone/>
              </a:pPr>
              <a:r>
                <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rPr>
                <a:t>Pathway-Based Policy Design</a:t>
              </a:r>
              <a:endPar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Shape 31"/>
            <p:cNvSpPr/>
            <p:nvPr/>
          </p:nvSpPr>
          <p:spPr>
            <a:xfrm>
              <a:off x="1958" y="6854"/>
              <a:ext cx="1486" cy="317"/>
            </a:xfrm>
            <a:prstGeom prst="roundRect">
              <a:avLst>
                <a:gd name="adj" fmla="val 50000"/>
              </a:avLst>
            </a:prstGeom>
            <a:solidFill>
              <a:srgbClr val="5B6EA8"/>
            </a:solidFill>
          </p:spPr>
        </p:sp>
        <p:sp>
          <p:nvSpPr>
            <p:cNvPr id="34" name="Text 32"/>
            <p:cNvSpPr/>
            <p:nvPr/>
          </p:nvSpPr>
          <p:spPr>
            <a:xfrm>
              <a:off x="1958" y="6854"/>
              <a:ext cx="1486" cy="317"/>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FIDT Framework</a:t>
              </a:r>
              <a:endPar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5" name="Shape 33"/>
            <p:cNvSpPr/>
            <p:nvPr/>
          </p:nvSpPr>
          <p:spPr>
            <a:xfrm>
              <a:off x="1296" y="7315"/>
              <a:ext cx="7670" cy="0"/>
            </a:xfrm>
            <a:prstGeom prst="line">
              <a:avLst/>
            </a:prstGeom>
            <a:noFill/>
            <a:ln w="12700">
              <a:solidFill>
                <a:srgbClr val="E1E1DD"/>
              </a:solidFill>
              <a:prstDash val="solid"/>
            </a:ln>
          </p:spPr>
        </p:sp>
        <p:sp>
          <p:nvSpPr>
            <p:cNvPr id="36" name="Text 34"/>
            <p:cNvSpPr/>
            <p:nvPr/>
          </p:nvSpPr>
          <p:spPr>
            <a:xfrm>
              <a:off x="1296" y="7517"/>
              <a:ext cx="7670" cy="1958"/>
            </a:xfrm>
            <a:prstGeom prst="rect">
              <a:avLst/>
            </a:prstGeom>
            <a:noFill/>
          </p:spPr>
          <p:txBody>
            <a:bodyPr wrap="square" lIns="0" tIns="0" rIns="0" bIns="0" rtlCol="0" anchor="ctr"/>
            <a:lstStyle/>
            <a:p>
              <a:pPr marL="0" indent="0">
                <a:lnSpc>
                  <a:spcPct val="108000"/>
                </a:lnSpc>
                <a:buSzPct val="100000"/>
                <a:buNone/>
              </a:pP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Tailor interventions to each state's dominant </a:t>
              </a:r>
              <a:r>
                <a:rPr lang="en-US" sz="1250" b="1" dirty="0">
                  <a:solidFill>
                    <a:srgbClr val="16233F"/>
                  </a:solidFill>
                  <a:latin typeface="Calibri" panose="020F0502020204030204" pitchFamily="34" charset="0"/>
                  <a:ea typeface="Calibri" panose="020F0502020204030204" pitchFamily="34" charset="-122"/>
                  <a:cs typeface="Calibri" panose="020F0502020204030204" pitchFamily="34" charset="-120"/>
                </a:rPr>
                <a:t>development pathway</a:t>
              </a: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
</a:t>
              </a:r>
              <a:endParaRPr lang="en-US" sz="1250" dirty="0"/>
            </a:p>
            <a:p>
              <a:pPr marL="0" indent="0">
                <a:lnSpc>
                  <a:spcPct val="108000"/>
                </a:lnSpc>
                <a:buSzPct val="100000"/>
                <a:buNone/>
              </a:pP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Use </a:t>
              </a:r>
              <a:r>
                <a:rPr lang="en-US" sz="1250" b="1" dirty="0">
                  <a:solidFill>
                    <a:srgbClr val="16233F"/>
                  </a:solidFill>
                  <a:latin typeface="Calibri" panose="020F0502020204030204" pitchFamily="34" charset="0"/>
                  <a:ea typeface="Calibri" panose="020F0502020204030204" pitchFamily="34" charset="-122"/>
                  <a:cs typeface="Calibri" panose="020F0502020204030204" pitchFamily="34" charset="-120"/>
                </a:rPr>
                <a:t>Driver Strength</a:t>
              </a: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 to </a:t>
              </a:r>
              <a:r>
                <a:rPr lang="en-US" alt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o decide whether a balanced or a targeted intervention makes more sense.</a:t>
              </a: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
</a:t>
              </a:r>
              <a:endParaRPr lang="en-US" sz="1250" dirty="0"/>
            </a:p>
            <a:p>
              <a:pPr marL="0" indent="0">
                <a:lnSpc>
                  <a:spcPct val="108000"/>
                </a:lnSpc>
                <a:buSzPct val="100000"/>
                <a:buNone/>
              </a:pP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Move towards </a:t>
              </a:r>
              <a:r>
                <a:rPr lang="en-US" sz="1250" b="1" dirty="0">
                  <a:solidFill>
                    <a:srgbClr val="16233F"/>
                  </a:solidFill>
                  <a:latin typeface="Calibri" panose="020F0502020204030204" pitchFamily="34" charset="0"/>
                  <a:ea typeface="Calibri" panose="020F0502020204030204" pitchFamily="34" charset="-122"/>
                  <a:cs typeface="Calibri" panose="020F0502020204030204" pitchFamily="34" charset="-120"/>
                </a:rPr>
                <a:t>pathway-based</a:t>
              </a: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 policy design.</a:t>
              </a:r>
              <a:endPar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sp>
          <p:nvSpPr>
            <p:cNvPr id="37" name="Shape 35"/>
            <p:cNvSpPr/>
            <p:nvPr/>
          </p:nvSpPr>
          <p:spPr>
            <a:xfrm>
              <a:off x="9801" y="6077"/>
              <a:ext cx="8534" cy="3600"/>
            </a:xfrm>
            <a:prstGeom prst="roundRect">
              <a:avLst>
                <a:gd name="adj" fmla="val 4000"/>
              </a:avLst>
            </a:prstGeom>
            <a:solidFill>
              <a:srgbClr val="FFFFFF"/>
            </a:solidFill>
            <a:ln w="12700">
              <a:solidFill>
                <a:srgbClr val="E1E1DD"/>
              </a:solidFill>
              <a:prstDash val="solid"/>
            </a:ln>
            <a:effectLst>
              <a:outerShdw blurRad="88900" dist="25400" dir="5400000" algn="bl" rotWithShape="0">
                <a:srgbClr val="8A8A85">
                  <a:alpha val="14000"/>
                </a:srgbClr>
              </a:outerShdw>
            </a:effectLst>
          </p:spPr>
        </p:sp>
        <p:sp>
          <p:nvSpPr>
            <p:cNvPr id="44" name="Text 42"/>
            <p:cNvSpPr/>
            <p:nvPr/>
          </p:nvSpPr>
          <p:spPr>
            <a:xfrm>
              <a:off x="10841" y="6394"/>
              <a:ext cx="6085" cy="461"/>
            </a:xfrm>
            <a:prstGeom prst="rect">
              <a:avLst/>
            </a:prstGeom>
            <a:noFill/>
          </p:spPr>
          <p:txBody>
            <a:bodyPr wrap="square" lIns="0" tIns="0" rIns="0" bIns="0" rtlCol="0" anchor="ctr"/>
            <a:lstStyle/>
            <a:p>
              <a:pPr marL="0" indent="0">
                <a:buNone/>
              </a:pPr>
              <a:r>
                <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rPr>
                <a:t>Institutional &amp; Regional Priorities</a:t>
              </a:r>
              <a:endParaRPr lang="en-US" sz="1600" b="1" dirty="0">
                <a:solidFill>
                  <a:srgbClr val="16233F"/>
                </a:solidFill>
                <a:latin typeface="Calibri" panose="020F0502020204030204" pitchFamily="34" charset="0"/>
                <a:ea typeface="Calibri" panose="020F0502020204030204" pitchFamily="34" charset="-122"/>
                <a:cs typeface="Calibri" panose="020F0502020204030204" pitchFamily="34" charset="-120"/>
              </a:endParaRPr>
            </a:p>
          </p:txBody>
        </p:sp>
        <p:sp>
          <p:nvSpPr>
            <p:cNvPr id="45" name="Shape 43"/>
            <p:cNvSpPr/>
            <p:nvPr/>
          </p:nvSpPr>
          <p:spPr>
            <a:xfrm>
              <a:off x="10841" y="6855"/>
              <a:ext cx="1820" cy="317"/>
            </a:xfrm>
            <a:prstGeom prst="roundRect">
              <a:avLst>
                <a:gd name="adj" fmla="val 50000"/>
              </a:avLst>
            </a:prstGeom>
            <a:solidFill>
              <a:srgbClr val="A9583F"/>
            </a:solidFill>
          </p:spPr>
        </p:sp>
        <p:sp>
          <p:nvSpPr>
            <p:cNvPr id="46" name="Text 44"/>
            <p:cNvSpPr/>
            <p:nvPr/>
          </p:nvSpPr>
          <p:spPr>
            <a:xfrm>
              <a:off x="10841" y="6855"/>
              <a:ext cx="1820" cy="317"/>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Regional Targeting</a:t>
              </a:r>
              <a:endPar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47" name="Shape 45"/>
            <p:cNvSpPr/>
            <p:nvPr/>
          </p:nvSpPr>
          <p:spPr>
            <a:xfrm>
              <a:off x="10233" y="7315"/>
              <a:ext cx="7670" cy="0"/>
            </a:xfrm>
            <a:prstGeom prst="line">
              <a:avLst/>
            </a:prstGeom>
            <a:noFill/>
            <a:ln w="12700">
              <a:solidFill>
                <a:srgbClr val="E1E1DD"/>
              </a:solidFill>
              <a:prstDash val="solid"/>
            </a:ln>
          </p:spPr>
        </p:sp>
        <p:sp>
          <p:nvSpPr>
            <p:cNvPr id="48" name="Text 46"/>
            <p:cNvSpPr/>
            <p:nvPr/>
          </p:nvSpPr>
          <p:spPr>
            <a:xfrm>
              <a:off x="10233" y="7517"/>
              <a:ext cx="7670" cy="1958"/>
            </a:xfrm>
            <a:prstGeom prst="rect">
              <a:avLst/>
            </a:prstGeom>
            <a:noFill/>
          </p:spPr>
          <p:txBody>
            <a:bodyPr wrap="square" lIns="0" tIns="0" rIns="0" bIns="0" rtlCol="0" anchor="ctr"/>
            <a:lstStyle/>
            <a:p>
              <a:pPr marL="0" indent="0">
                <a:lnSpc>
                  <a:spcPct val="108000"/>
                </a:lnSpc>
                <a:buSzPct val="100000"/>
                <a:buNone/>
              </a:pP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Strengthen support for </a:t>
              </a:r>
              <a:r>
                <a:rPr lang="en-US" sz="1250" b="1" dirty="0">
                  <a:solidFill>
                    <a:srgbClr val="16233F"/>
                  </a:solidFill>
                  <a:latin typeface="Calibri" panose="020F0502020204030204" pitchFamily="34" charset="0"/>
                  <a:ea typeface="Calibri" panose="020F0502020204030204" pitchFamily="34" charset="-122"/>
                  <a:cs typeface="Calibri" panose="020F0502020204030204" pitchFamily="34" charset="-120"/>
                </a:rPr>
                <a:t>persistently lagging</a:t>
              </a: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 states.
</a:t>
              </a:r>
              <a:endParaRPr lang="en-US" sz="1250" dirty="0"/>
            </a:p>
            <a:p>
              <a:pPr marL="0" indent="0">
                <a:lnSpc>
                  <a:spcPct val="108000"/>
                </a:lnSpc>
                <a:buSzPct val="100000"/>
                <a:buNone/>
              </a:pP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Encourage </a:t>
              </a:r>
              <a:r>
                <a:rPr lang="en-US" sz="1250" b="1" dirty="0">
                  <a:solidFill>
                    <a:srgbClr val="16233F"/>
                  </a:solidFill>
                  <a:latin typeface="Calibri" panose="020F0502020204030204" pitchFamily="34" charset="0"/>
                  <a:ea typeface="Calibri" panose="020F0502020204030204" pitchFamily="34" charset="-122"/>
                  <a:cs typeface="Calibri" panose="020F0502020204030204" pitchFamily="34" charset="-120"/>
                </a:rPr>
                <a:t>regional coordination</a:t>
              </a: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 among structurally similar states.
</a:t>
              </a:r>
              <a:endParaRPr lang="en-US" sz="1250" dirty="0"/>
            </a:p>
            <a:p>
              <a:pPr marL="0" indent="0">
                <a:lnSpc>
                  <a:spcPct val="108000"/>
                </a:lnSpc>
                <a:buSzPct val="100000"/>
                <a:buNone/>
              </a:pP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Publish an official state-level </a:t>
              </a:r>
              <a:r>
                <a:rPr lang="en-US" sz="1250" b="1" dirty="0">
                  <a:solidFill>
                    <a:srgbClr val="16233F"/>
                  </a:solidFill>
                  <a:latin typeface="Calibri" panose="020F0502020204030204" pitchFamily="34" charset="0"/>
                  <a:ea typeface="Calibri" panose="020F0502020204030204" pitchFamily="34" charset="-122"/>
                  <a:cs typeface="Calibri" panose="020F0502020204030204" pitchFamily="34" charset="-120"/>
                </a:rPr>
                <a:t>multidimensional FI Index</a:t>
              </a:r>
              <a:r>
                <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rPr>
                <a:t> (Penetration, Availability, Usage).</a:t>
              </a:r>
              <a:endParaRPr lang="en-US" sz="1250" dirty="0">
                <a:solidFill>
                  <a:srgbClr val="2B2F36"/>
                </a:solidFill>
                <a:latin typeface="Calibri" panose="020F0502020204030204" pitchFamily="34" charset="0"/>
                <a:ea typeface="Calibri" panose="020F0502020204030204" pitchFamily="34" charset="-122"/>
                <a:cs typeface="Calibri" panose="020F0502020204030204" pitchFamily="34" charset="-120"/>
              </a:endParaRPr>
            </a:p>
          </p:txBody>
        </p:sp>
        <p:pic>
          <p:nvPicPr>
            <p:cNvPr id="50" name="Image 4" descr="preencoded.png"/>
            <p:cNvPicPr>
              <a:picLocks noChangeAspect="1"/>
            </p:cNvPicPr>
            <p:nvPr/>
          </p:nvPicPr>
          <p:blipFill>
            <a:blip r:embed="rId1"/>
            <a:stretch>
              <a:fillRect/>
            </a:stretch>
          </p:blipFill>
          <p:spPr>
            <a:xfrm>
              <a:off x="10107" y="6354"/>
              <a:ext cx="500" cy="500"/>
            </a:xfrm>
            <a:prstGeom prst="rect">
              <a:avLst/>
            </a:prstGeom>
          </p:spPr>
        </p:pic>
        <p:pic>
          <p:nvPicPr>
            <p:cNvPr id="51" name="Image 2" descr="preencoded.png"/>
            <p:cNvPicPr>
              <a:picLocks noChangeAspect="1"/>
            </p:cNvPicPr>
            <p:nvPr/>
          </p:nvPicPr>
          <p:blipFill>
            <a:blip r:embed="rId2"/>
            <a:stretch>
              <a:fillRect/>
            </a:stretch>
          </p:blipFill>
          <p:spPr>
            <a:xfrm>
              <a:off x="10118" y="2332"/>
              <a:ext cx="490" cy="490"/>
            </a:xfrm>
            <a:prstGeom prst="rect">
              <a:avLst/>
            </a:prstGeom>
          </p:spPr>
        </p:pic>
        <p:pic>
          <p:nvPicPr>
            <p:cNvPr id="52" name="Image 2" descr="preencoded.png"/>
            <p:cNvPicPr>
              <a:picLocks noChangeAspect="1"/>
            </p:cNvPicPr>
            <p:nvPr/>
          </p:nvPicPr>
          <p:blipFill>
            <a:blip r:embed="rId3">
              <a:biLevel thresh="75000"/>
            </a:blip>
            <a:stretch>
              <a:fillRect/>
            </a:stretch>
          </p:blipFill>
          <p:spPr>
            <a:xfrm>
              <a:off x="1296" y="2326"/>
              <a:ext cx="495" cy="495"/>
            </a:xfrm>
            <a:prstGeom prst="rect">
              <a:avLst/>
            </a:prstGeom>
          </p:spPr>
        </p:pic>
        <p:pic>
          <p:nvPicPr>
            <p:cNvPr id="53" name="Image 1" descr="preencoded.png"/>
            <p:cNvPicPr>
              <a:picLocks noChangeAspect="1"/>
            </p:cNvPicPr>
            <p:nvPr/>
          </p:nvPicPr>
          <p:blipFill>
            <a:blip r:embed="rId4"/>
            <a:stretch>
              <a:fillRect/>
            </a:stretch>
          </p:blipFill>
          <p:spPr>
            <a:xfrm>
              <a:off x="1449" y="6394"/>
              <a:ext cx="401" cy="378"/>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0" y="502920"/>
            <a:ext cx="12161520" cy="274320"/>
          </a:xfrm>
          <a:prstGeom prst="rect">
            <a:avLst/>
          </a:prstGeom>
          <a:noFill/>
        </p:spPr>
        <p:txBody>
          <a:bodyPr wrap="square" lIns="0" tIns="0" rIns="0" bIns="0" rtlCol="0" anchor="ctr"/>
          <a:lstStyle/>
          <a:p>
            <a:pPr marL="0" indent="0" algn="ctr">
              <a:buNone/>
            </a:pPr>
            <a:endParaRPr lang="en-US" sz="1300" dirty="0"/>
          </a:p>
        </p:txBody>
      </p:sp>
      <p:sp>
        <p:nvSpPr>
          <p:cNvPr id="3" name="Text 1"/>
          <p:cNvSpPr/>
          <p:nvPr/>
        </p:nvSpPr>
        <p:spPr>
          <a:xfrm>
            <a:off x="622463" y="2388514"/>
            <a:ext cx="10698480" cy="822960"/>
          </a:xfrm>
          <a:prstGeom prst="rect">
            <a:avLst/>
          </a:prstGeom>
          <a:noFill/>
        </p:spPr>
        <p:txBody>
          <a:bodyPr wrap="square" lIns="0" tIns="0" rIns="0" bIns="0" rtlCol="0" anchor="ctr"/>
          <a:lstStyle/>
          <a:p>
            <a:pPr marL="0" indent="0" algn="ctr">
              <a:buNone/>
            </a:pPr>
            <a:r>
              <a:rPr lang="en-US" sz="7200" b="1" dirty="0">
                <a:solidFill>
                  <a:srgbClr val="17365D"/>
                </a:solidFill>
                <a:latin typeface="Cambria" panose="02040503050406030204" pitchFamily="34" charset="0"/>
                <a:ea typeface="Cambria" panose="02040503050406030204" pitchFamily="34" charset="-122"/>
                <a:cs typeface="Cambria" panose="02040503050406030204" pitchFamily="34" charset="-120"/>
              </a:rPr>
              <a:t>Thank You</a:t>
            </a:r>
            <a:endParaRPr lang="en-US" sz="7200" dirty="0"/>
          </a:p>
        </p:txBody>
      </p:sp>
      <p:sp>
        <p:nvSpPr>
          <p:cNvPr id="5" name="Text 3"/>
          <p:cNvSpPr/>
          <p:nvPr/>
        </p:nvSpPr>
        <p:spPr>
          <a:xfrm>
            <a:off x="1188720" y="2907792"/>
            <a:ext cx="9784080" cy="329184"/>
          </a:xfrm>
          <a:prstGeom prst="rect">
            <a:avLst/>
          </a:prstGeom>
          <a:noFill/>
        </p:spPr>
        <p:txBody>
          <a:bodyPr wrap="square" lIns="0" tIns="0" rIns="0" bIns="0" rtlCol="0" anchor="ctr"/>
          <a:lstStyle/>
          <a:p>
            <a:pPr marL="0" indent="0" algn="ctr">
              <a:buNone/>
            </a:pPr>
            <a:endParaRPr lang="en-US" sz="1600" dirty="0"/>
          </a:p>
        </p:txBody>
      </p:sp>
      <p:sp>
        <p:nvSpPr>
          <p:cNvPr id="7" name="Text 5"/>
          <p:cNvSpPr/>
          <p:nvPr/>
        </p:nvSpPr>
        <p:spPr>
          <a:xfrm>
            <a:off x="5600700" y="3968496"/>
            <a:ext cx="960120" cy="329184"/>
          </a:xfrm>
          <a:prstGeom prst="rect">
            <a:avLst/>
          </a:prstGeom>
          <a:noFill/>
        </p:spPr>
        <p:txBody>
          <a:bodyPr wrap="square" lIns="0" tIns="0" rIns="0" bIns="0" rtlCol="0" anchor="ctr"/>
          <a:lstStyle/>
          <a:p>
            <a:pPr marL="0" indent="0" algn="ctr">
              <a:buNone/>
            </a:pPr>
            <a:endParaRPr lang="en-US" sz="1700" dirty="0"/>
          </a:p>
        </p:txBody>
      </p:sp>
      <p:sp>
        <p:nvSpPr>
          <p:cNvPr id="9" name="Text 7"/>
          <p:cNvSpPr/>
          <p:nvPr/>
        </p:nvSpPr>
        <p:spPr>
          <a:xfrm>
            <a:off x="0" y="5423902"/>
            <a:ext cx="12161520" cy="292608"/>
          </a:xfrm>
          <a:prstGeom prst="rect">
            <a:avLst/>
          </a:prstGeom>
          <a:noFill/>
        </p:spPr>
        <p:txBody>
          <a:bodyPr wrap="square" lIns="0" tIns="0" rIns="0" bIns="0" rtlCol="0" anchor="ctr"/>
          <a:lstStyle/>
          <a:p>
            <a:pPr marL="0" indent="0" algn="ctr">
              <a:buNone/>
            </a:pP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23737</Words>
  <Application>WPS Presentation</Application>
  <PresentationFormat>On-screen Show (16:9)</PresentationFormat>
  <Paragraphs>1114</Paragraphs>
  <Slides>20</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SimSun</vt:lpstr>
      <vt:lpstr>Wingdings</vt:lpstr>
      <vt:lpstr>Cambria</vt:lpstr>
      <vt:lpstr>Cambria</vt:lpstr>
      <vt:lpstr>Cambria</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KIIT</cp:lastModifiedBy>
  <cp:revision>41</cp:revision>
  <dcterms:created xsi:type="dcterms:W3CDTF">2026-07-22T05:57:00Z</dcterms:created>
  <dcterms:modified xsi:type="dcterms:W3CDTF">2026-07-30T09:58:30Z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E19506F79D294FA1B23F15A6FF8B0151_12</vt:lpwstr>
  </property>
  <property fmtid="{D5CDD505-2E9C-101B-9397-08002B2CF9AE}" pid="3" name="KSOProductBuildVer">
    <vt:lpwstr>1033-12.1.0.28032</vt:lpwstr>
  </property>
</Properties>
</file>